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DE 45 MINUTOS
Apertura 5 · Medidas de seguridad 12 · Qué habla Dios 10 · Cómo se prepara un cristiano 8 · Ejemplos bíblicos 7 · Cierre 4.
Aquí no sobra un minuto: cada bloque que se estira se lo quita al siguiente. Tenga el reloj a la vista.
ANTES DE EMPEZAR
No salude. No agradezca. No presente el tema todavía. Entre en frío con la pregunta de la diapositiva siguiente: la atención se gana en los primeros diez segundos, y un saludo largo la gasta.
Si tiene que presentarse, hágalo después de la dinámica de la salida, en una sola frase: «Mi nombre es Carlos Contreras, y vengo a hablarles de dos mundos que casi nunca se juntan: los organismos de socorro y la Biblia.»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«Voy a empezar con una pregunta incómoda, y quiero que la contesten en silencio, para ustedes mismos.
Si en este momento, ahora mismo, esta sala se comenzara a mover… ¿usted sabe qué haría en los próximos diez segundos?
No lo que siente. Lo que haría.»
USTED HACE
Deje el silencio. No lo llene. La incomodidad es el punto de esta diapositiva: casi nadie tiene respuesta, y esa es la conferencia entera.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«Vamos a ver. Sin moverse de su asiento: señale con la mano la salida más cercana a usted.»
USTED HACE
Hágalo de verdad y espere. Va a haber manos apuntando a lugares distintos, y manos que no se levantan. No corrija a nadie: deje que lo vean.
USTED DICE
«Miren a su alrededor. No todos apuntamos al mismo lugar. Y algunos no apuntaron. Eso no es un problema de fe. Es un problema de preparación. Y la Biblia tiene mucho, muchísimo que decir sobre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«El tema de hoy es Organismos de Socorro y la Biblia. Y quiero desarmar, desde el primer minuto, la idea de que estos son dos mundos separados: que la Defensa Civil, la Cruz Roja y los bomberos van por un lado, y la Biblia va por otro. No es así.»
Lea el versículo completo, despacio. Luego:
«El atalaya no detiene la espada. No controla al enemigo. El atalaya tiene una sola responsabilidad: ver a tiempo y avisar a tiempo.
Eso es exactamente lo que hace un sistema de alerta temprana. Eso es lo que hace un boletín de meteorología. Eso es lo que hace un detector de humo a las tres de la mañana.
Dios inventó el sistema de alerta temprana. Y lo puso en manos de su pueblo.»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«Escuchen bien esta frase, porque de aquí no me voy a mover en noventa minutos:
Prepararse no es desconfiar de Dios. Prepararse es obedecer a Dios.»
USTED HACE
Dígala dos veces. La segunda, más lento. Es la tesis de toda la conferencia y todo lo demás cuelga de ella. No la explique todavía: la próxima diapositiva la sustenta.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«Nehemías lo dijo en seis palabras: “Oramos a nuestro Dios, y… pusimos guarda”.
La conjunción es Y. No es O. Nehemías no escogió entre orar y montar guardia: hizo las dos cosas la misma noche.»
USTED HACE
Señale la Y grande de la pantalla. Este versículo resuelve el falso dilema que trae en la cabeza la mitad del auditorio, y al que van a volver cuando usted hable de mochilas y extintores. Déjelo bien clavado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4, EN UN MINUTO
En la versión de 45 minutos este bloque no se desarrolla: se resume aquí y se sigue. No intente las seis. Nombre las seis de corrido y gaste el minuto en la cuarta.
USTED DICE
«Antes de entrar en lo práctico, una sola cosa sobre el porqué, porque es la pregunta que la gente hace de verdad cuando el techo se cae.
La Biblia dice seis cosas sobre los fenómenos de la naturaleza. Léanlas con calma en la hoja. Pero hay una que quiero dejarles hoy, la cuarta:
A Jesús le cuentan una tragedia, y Él mismo trae otra: la torre de Siloé, que cayó y mató a dieciocho personas. Y pregunta: ¿pensáis que eran más culpables que todos los hombres que habitan en Jerusalén? Y contesta Él mismo: Os digo: No.
Jesús rechaza expresamente la ecuación les pasó porque eran peores. La rechaza.
Así que cuando pase un desastre, no salga a explicar por qué Dios lo mandó. Salga con agua, con comida y con brazos. La teología del que sufre se hace cargando colchones, no dando explicaciones.»
ADVERTENCIA PASTORAL
Si sabe que hay personas de duelo en la sala, dígalo antes: «sé que aquí hay quien enterró a alguien después de una tormenta; lo que voy a decir lo digo con respeto, no desde la teoría».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12 minutos — cuatro por amenaza
EN ESTA VERSIÓN SOLO VAN TRES AMENAZAS: terremoto, ciclón e incendio. Maremotos y primeros auxilios quedan fuera del deck, pero están completos en la hoja del participante. Dígalo, para que nadie crea que se olvidaron:
«Maremotos y primeros auxilios no los vamos a ver hoy por tiempo, pero están en la hoja que les entregamos, con el mismo detalle.»
USTED DICE
«Empecemos por lo más urgente, y después vamos a la Biblia. Porque si la tierra tiembla mientras estamos hablando de teología, la teología no le va a servir de nada si usted no sabe qué hacer con su cuerpo en los próximos diez segundos.»
REGLA DEL BLOQUE
Cuatro minutos por amenaza. Enseñe pocas acciones, bien memorizadas. Una acción que la gente recuerda vale más que veinte que olvida. Este es el bloque que más tienta a extenderse: controle el reloj o se come el Bloque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«El salmista nombra el terremoto. No lo niega, no pretende que no existe. Dice: aunque la tierra sea removida, no temeremos. La fe bíblica no cierra los ojos ante el peligro: los abre y no se paraliza.
Y en una emergencia usted no se va a elevar a la altura de sus intenciones. Usted va a caer a la altura de su entrenamiento. Por eso vamos a practicar, no solo a escuchar.»
DINÁMICA (60 segundos — hágala)
«De pie. Todos. A la cuenta de tres: agáchese, cúbrase la cabeza con los brazos, y agárrese de la silla. Uno… dos… tres.»
Cuente diez segundos en voz alta. Que sientan lo largos que son.
«Eso fue lo que duró el terremoto que destruyó buena parte de Puerto Príncipe. Diez segundos. Siéntense.»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«Ahora lo que NO se hace, que es tan importante como lo anterior.
No corra mientras tiembla: la mayoría de las lesiones viene de caídas y de objetos que caen, no de derrumbes.
No se pare en el marco de la puerta: en construcción moderna no es más fuerte que el resto de la pared. Eso lo aprendimos de casas de adobe y se nos quedó pegado.
Nunca el ascensor. Ni durante, ni después.
Y el último me importa mucho: el llamado “triángulo de la vida”. Circula muchísimo por redes sociales, y los organismos de socorro internacionales NO lo recomiendan. Si usted lo ha compartido, deje de hacerlo.»
USTED HACE
Cierre con la frase de abajo: en la emergencia usted cae a la altura de su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«Paró el temblor. Los minutos que siguen deciden mucho.
Espere réplicas: van a venir, y son las que tumban lo que quedó debilitado.
No encienda fósforos, velas ni el interruptor de la luz hasta descartar fuga de gas. Si huele a gas: cierre la válvula, ventile y salga.
Salga con calzado cerrado: el piso queda lleno de vidrio.
Y use el celular para mensajes de texto, no para llamadas: la red se satura, y el texto pasa cuando la llamada no.»
Y CIERRE CON LA BANDA DE ABAJO
«Dos cosas que puede hacer esta semana, sin gastar casi nada. Anclar a la pared lo que puede caerle encima: estantes, armarios, el televisor, el calentador. Y un par de zapatos y una linterna debajo de la cama — la medida más barata y más subestimada que existe.
Porque el sismo no avisa. Todo lo que usted va a hacer en un terremoto lo decidió antes.»
SI SE LO PREGUNTAN
Si queda atrapado: no grite sin necesidad, porque agota y hace tragar polvo. Golpee una tubería a intervalos regulares y cúbrase la boca.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«El huracán es el único desastre que le avisa con días de anticipación. Días. El terremoto no avisa. El huracán sí. Y aun así seguimos perdiendo gente.
¿Por qué? Porque ver el mal no basta. El versículo dice que el avisado ve Y SE ESCONDE. Hay que hacer las dos.»
USTED HACE
Subraye con la voz las tres palabras resaltadas: “y se esconde”. La mortalidad por ciclón es, en su mayoría, mortalidad evitable — y eso es exactamente lo que está diciendo Proverbios.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«Hay una pregunta que se contesta en la calma, no con el viento encima: ¿mi casa es de permanencia o de evacuación?
Si usted vive en zona baja, cerca de una cañada, de un río o del mar, usted evacúa. Decídalo hoy. Averigüe hoy cuál es su refugio y cómo se llega caminando.»
Repase la lista de la derecha sin detenerse en cada punto; lo importante es el mensaje de abajo:
«Si le toca evacuar, evacúese temprano. Evacuar tarde es la decisión que mata: se hace de noche, con viento, con las vías ya inundadas. Y lleve la mascota, porque mucha gente se niega a salir por no dejarla.»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«Esta es la trampa que más gente ha matado en un ciclón.
De pronto todo se calma. El viento para, sale un pedazo de cielo, se oyen los pájaros. La gente sale a ver los daños, a buscar a un familiar, a mover el carro.
Ese es el ojo del huracán. Dura de minutos a una hora. Y después el viento vuelve, del lado contrario, con la misma fuerza o más.
No salga. No salga hasta que la autoridad lo diga.»
USTED HACE
Dígalo despacio y deje un silencio. Es la diapositiva más importante del bloque de ciclones.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«Y ahora la fase que más muertes causa, que no es el huracán: es el día después.
No cruce agua corriendo, ni a pie ni en vehículo. Treinta centímetros de agua en movimiento derriban a un adulto. Sesenta arrastran un vehículo. Si la vía está inundada, dé la vuelta. Es la muerte más evitable de todas, y la que más repetimos cada año.
Cables caídos: siempre energizados. Y cuidado con los charcos donde haya cables.
Hierva o trate el agua: la segunda ola del desastre es sanitaria — diarrea, leptospirosis.
Y la planta eléctrica: jamás dentro de la casa, del garaje, ni cerca de una ventana. El monóxido de carbono no huele, no se ve, y mata familias enteras dormidas.»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«Deténganse en este versículo, porque es de los más sorprendentes de la Biblia.
Dios le está dando a Israel un código de construcción. Baranda obligatoria en la azotea. ¿Por qué? Escuchen la razón: “para que no eches culpa de sangre sobre tu casa”.
Es decir: si alguien se cae porque tú no pusiste la baranda, eso es culpa tuya delante de Dios.
Léanlo otra vez. La negligencia en seguridad, en la Biblia, tiene categoría moral. No es un descuido administrativo. Es sangre.
Eso es lo que Dios piensa de la prevención.»
USTED HACE
Esta diapositiva sostiene todo el bloque técnico. No la pase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«El incendio casi nunca empieza donde uno cree. Empieza aquí:
Electricidad: tomacorrientes sobrecargados, extensiones encadenadas, cables debajo de alfombras. Un tomacorriente tibio o un olor a quemado es una advertencia, no un detalle.
La cocina: nunca deje aceite al fuego sin vigilancia. Y si el aceite se enciende, jamás le eche agua: apague la hornilla y tape el sartén.
El gas: si huele a gas, no encienda la luz, no use el celular, no genere chispa. Cierre la válvula, ventile y salga. Llame desde afuera.
Velas: nunca sin vigilancia, nunca al dormirse. En apagón prefiera linterna.
Y el detector de humo: pruébelo cada mes, cambie la batería cada año. Es el aparato con mejor relación costo-vida que existe en una casa. Si suena cuando usted cocina, reubíquelo — no le quite la batería. Un detector sin batería es un detector que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«Cuatro acciones, y se aprenden en treinta segundos.
Hale el pasador de seguridad. Apunte a la BASE de la llama, no a las llamas. Apriete la palanca. Y barra de lado a lado.
Apuntar a la base es donde falla todo el mundo: la gente le tira al fuego que ve, y el fuego que ve no es el que lo alimenta.»
LA REGLA DE DECISIÓN — es lo más importante de la diapositiva:
«Un extintor sirve para un fuego pequeño y contenido, en su inicio, con la salida a su espalda y con alguien que ya llamó a los bomberos.
Si el fuego está por encima de su cintura, si hay humo denso, si el fuego está entre usted y la salida, o si tiene dudas: no lo pelee. Salga y llame.
Un extintor común dura entre diez y veinte segundos. Usted tiene un solo intento.»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«Si no se puede apagar, hay que salir. Y salir bien.
Con humo: agáchese y gatee. El aire respirable y frío está cerca del piso. Arriba está el humo caliente — y el humo es lo que mata, no la llama.
Antes de abrir una puerta, tóquela con el DORSO de la mano. Con el dorso, porque si quema usted retira la mano por reflejo sin quemarse la palma. Si está caliente, no abra: busque otra ruta.
Nunca el ascensor.
Punto de encuentro afuera y conteo de personas. Y nadie vuelve a entrar. Por nada: ni por documentos, ni por mascotas, ni por recuerdos.
Y si su ropa se enciende: deténgase, tírese al piso y ruede.»
SI SE LO PREGUNTAN
Si queda atrapado en una habitación: selle las rendijas con ropa o toallas, hágase visible desde la ventana y llame indicando su ubicación exacta.
CIERRE DEL BLOQUE TÉCNICO — no se lo salte
Esta es la última diapositiva práctica del día, así que aquí va el aviso que en la versión larga va con los primeros auxilios:
«Y una cosa antes de pasar a la Biblia: nada de esto lo certifica esta conferencia. Yo se lo presento; la Cruz Roja, los bomberos y Defensa Civil se lo enseñan y se lo certifican. No quiero que usted salga sintiéndose entrenado: quiero que salga inscribiéndose en un entrenamiento.»
TRANSICIÓN
«Ya sabemos qué hacer con las manos. Ahora la pregunta grande: ¿y qué dice Dios de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 10 minutos
Este es el corazón teológico de la conferencia. Va completo, sin recortes: si le falta tiempo, quíteselo al Bloque 1, nunca a este.
USTED DICE
«Ya sabemos qué hacer con las manos. Ahora la pregunta grande, la que nos trajo aquí: ¿y qué dice Dios de todo esto?
Porque yo sé que alguien está pensando: pastor, ¿y todo esto no es falta de fe?»
EL RECORRIDO
Dios habla antes del desastre. Dios habla por medio de gente que avisa. Dios habla en medio de la emergencia. Y Dios habla después, mandando a socorrer.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«Repase la Escritura y verá un patrón que se repite: antes del desastre, Dios habla.
A Noé le avisó del diluvio con generaciones de anticipación.
A Egipto le avisó del granizo, con hora anunciada.
A Lot le avisó de Sodoma y lo sacó de la mano.
A José le avisó del hambre con siete años de anticipación.
Por medio de Agabo avisó de una hambruna que venía sobre el mundo.
Y a Pablo le mostró el naufragio antes de que zarparan.
Dios no es un Dios de sorpresas crueles. Dios avisa. El problema nunca ha sido el silencio de Dios: ha sido la sordera del hombre.»
USTED HACE
Vaya nombrando y señalando cada tarjeta. El efecto acumulativo es el argumento.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«Quiero detenerme en Egipto, porque el texto dice algo notable.
Dios anuncia el granizo con hora. Y el relato dice: “el que tuvo temor de la palabra de Jehová hizo huir sus criados y su ganado a casa; mas el que no puso en su corazón la palabra de Jehová, dejó sus criados y sus ganados en el campo”.
Misma alerta. Dos respuestas. Dos resultados.
Ahí está toda la gestión de riesgo en dos versículos. Y ahí está la respuesta a por qué, con boletines, con radio, con celulares y con alerta roja declarada, seguimos contando muertos.
El problema no es la alerta. Es la respuesta.»
USTED HACE
Señale las dos columnas. Que la gente vea el contraste antes de que usted lo explique.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«Dios no solo avisa: Dios levanta gente que avisa, y le da a ese oficio una dignidad enorme.
El atalaya de Ezequiel 33, puesto en la muralla para ver antes que nadie.
Las trompetas de plata de Números 10: un sistema de señales acordado, con un toque para convocar y otro para dar alarma.
Nehemías 4:20: “donde oyereis el sonido de la trompeta, reuníos allí con nosotros”. Eso es un punto de encuentro. Nehemías tenía punto de encuentro.
Y Amós 3:6: “¿se tocará la trompeta en la ciudad, y no se alborotará el pueblo?”. Amós da por sentado que la reacción normal ante una alarma es moverse, no quedarse discutiendo si es real.»
CIERRE DE LA DIAPOSITIVA
«Cuando la oficina de meteorología emite un boletín, cuando Defensa Civil declara alerta, cuando el bombero toca la sirena: están cumpliendo una función que la Biblia considera sagrada.
El atalaya no siempre lleva púlpito. A veces lleva casco.»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«Y después del desastre, Dios manda a socorrer.
Miren la palabra que usa Hechos 11: los discípulos, cada uno conforme a lo que tenía, determinaron enviar SOCORRO. Ahí está la palabra.
Y miren el método: aporte según capacidad, recolección organizada, envío por manos responsables. Es una operación de ayuda humanitaria con rendición de cuentas. En el siglo primero.»
AHORA DÍGALO CON TODAS SUS LETRAS
«La iglesia es un organismo de socorro. No metafóricamente.
Después del desastre, ¿qué queda en pie en el barrio? El templo. ¿Quién tiene la lista de los ancianos que viven solos? Nosotros. ¿Quién puede convocar a cien voluntarios en una hora, sin presupuesto y sin contrato? Nosotros.
Somos, en muchas comunidades, el primer respondiente después del vecino. La pregunta no es si vamos a responder. La pregunta es si vamos a responder preparados o improvisando.»
AGREGUE AQUÍ (en esta versión Antioquía no tiene diapositiva propia)
«Y fíjense de dónde sale esto: de una iglesia local. Llega Agabo a Antioquía, anuncia una gran hambre, y la iglesia decide, recoge y envía por manos responsables — Bernabé y Saulo. Con destino verificado y con cuentas claras.
Cuando esta iglesia organiza un centro de acopio, no está copiando a las ONG. Está copiando a Antioquía.»
TRANSICIÓN
«Entonces, si Dios avisa, si Dios manda a avisar y si Dios manda a socorrer, la pregunta se cae de madura: ¿cómo se prepara un cristiano?»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BLOQUE 3 · 8 minutos — tres diapositivas
USTED DICE
«Hay dos errores, y los dos son peligrosos.
El primero: el fatalismo espiritual. “Si Dios me va a guardar, ¿para qué me preparo?”. Suena espiritual. No lo es. Es la misma lógica que usó Satanás en la tentación: tírate del pináculo, que los ángeles te sostendrán. ¿Y qué contestó Jesús? “No tentarás al Señor tu Dios”.
Exponerse voluntariamente al peligro y llamarlo fe, Jesús lo llamó tentar a Dios.
El segundo: el pánico acumulador. El que ve noticias todo el día, llena la casa de provisiones y vive con el estómago apretado. Eso tampoco es fe. Eso es miedo con logística.
Entre esos dos extremos está el camino bíblico: prudencia serena.
Proverbios 21:31 lo dice perfecto: “el caballo se alista para el día de la batalla; mas Jehová es el que da la victoria”.
Alista el caballo. Confía en Jehová. Las dos cosas, en la misma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45 MINUTOS: nombre los siete de corrido y desarrolle SOLO los tres primeros. El cuarto —el plan de la familia— tiene diapositiva propia a continuación. Los niveles 5, 6 y 7 se nombran y se dejan en la hoja del participante.
USTED DICE
«Espiritual: ninguna mochila le sirve si su casa no está sobre la roca. Y fíjense que en esa parábola las dos casas reciben la misma tormenta. La diferencia no estuvo en el clima: estuvo en el cimiento.
Mental: infórmese de fuentes oficiales, no de cadenas de WhatsApp. Compartir un rumor en una emergencia es dar falso testimonio con consecuencias físicas. Y racione la noticia: Dios no nos dio espíritu de cobardía, sino de dominio propio.
Cuerpo y casa: mochila de setenta y dos horas, botiquín con los medicamentos crónicos de la familia — que es lo que más se olvida y lo que más falta hace.
Económica: José guardó la quinta parte en los años buenos. Un porcentaje, con disciplina, durante siete años.»
USTED HACE
Si trajo la mochila de emergencia, ábrala aquí y saque dos o tres cosas. Con el reloj apretado, dos objetos bastan: los medicamentos crónicos y la linterna.
Y NO SE SALTE EL NIVEL 7, QUE ES EL LLAMADO
«No basta con estar a salvo: Dios nos llamó a socorrer. Quiero que en cada célula, en cada ministerio, haya por lo menos una persona certificada en primeros auxilios. Porque el día del desastre, el que llega primero no es el experto que viene de lejos. El que llega primero es el que ya estaba ahí. Y ese, muchas veces, somos nosotros.»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«Cinco preguntas que toda familia debe poder responder sin pensar.
¿Cuál es nuestro punto de encuentro si no podemos volver a la casa?
¿Cuál es el segundo punto, fuera del barrio, si no se puede entrar a la zona?
¿Quién es nuestro contacto fuera de la ciudad, al que todos llamamos si no logramos comunicarnos entre nosotros?
¿Quién recoge a los niños, y la escuela sabe que esa persona está autorizada?
Y ¿quién responde por el familiar vulnerable: el anciano, el enfermo, la persona con discapacidad, la embarazada?»
EL REMATE
«Ese plan hay que escribirlo y practicarlo. Un plan que solo existe en su cabeza no es un plan: es una intención.
Háganlo esta semana, en la mesa, con los muchachos. Que sea corto. Que sea claro. Que todos lo sepan. Está en la hoja que les entregamos, en el reverso.»
TRANSICIÓN
«Ahora bien, hay una pregunta que no podemos esquivar, porque es la que la gente hace de verdad cuando el techo se cae: ¿por qué? ¿Es Dios el que manda el huracán?»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5 · 7 minutos
USTED DICE
«Déjenme cerrar mostrándoles gente. Porque la Biblia no nos dio una teoría del desastre: nos dio rostros.»
RITMO
Son tres ejemplos en siete minutos: Noé (prevención), José (planificación) y Pablo en el naufragio, que cierra con Hechos 27:31. Poco más de dos minutos cada uno. No se enamore de uno: el peso acumulado es el argumento.
Nehemías y Antioquía quedan fuera del deck en esta versión, pero Nehemías 4:9 ya salió en la apertura y la iglesia de Antioquía está en la diapositiva del socorro.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«“Por la fe Noé, cuando fue advertido por Dios acerca de cosas que aún no se veían, con temor preparó el arca en que su casa se salvase”.
Subrayen tres cosas de ese versículo: fue ADVERTIDO; las cosas AÚN NO SE VEÍAN; y él PREPARÓ.
La construcción del arca fue un acto de fe con planos, con medidas y con materiales. Dios le dio dimensiones exactas y un tipo de madera. La fe de Noé se midió en codos.
Y aquí está lo que más me impresiona: Noé se preparó años antes, mientras el cielo seguía azul y los vecinos se reían.
Eso es prevención: trabajar hoy por un riesgo que hoy no se ve.»
AGREGUE
El arca fue “en que su casa se salvase”: la preparación del creyente cubre a los suyos, no solo a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«José recibe el aviso de siete años de hambre, y no monta una campaña de oración solamente: diseña un plan de veinte años.
Nombra un responsable. Establece una reserva del veinte por ciento. Construye almacenes. Administra el inventario. Y en la crisis distribuye ordenadamente.
El texto dice que guardaron “como la arena del mar, mucho en extremo, hasta no poderse contar”.
Resultado: Egipto no pereció de hambre, y las naciones de alrededor tampoco, porque venían a comprar.
La previsión de un hombre justo alimentó a un continente.»
EL PUENTE A HOY
«Eso es lo que hace hoy un plan nacional de gestión de riesgo, una reserva estratégica, un fondo de contingencia. Y su modelo es José.
Y fíjense que José no lo guardó todo ni lo consumió todo: guardó un porcentaje, con disciplina, durante siete años seguidos. Eso es lo que hace falta en una casa y en una iglesia.»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Cuente la historia, no la lea. Vaya señalando cada línea.
«Uno: Pablo advierte el riesgo antes de zarpar. Y le ignoran. Al experto lo ignoran, porque el piloto y el dueño del barco tenían prisa. Eso pasa todos los días.
Dos: cuando revienta la tormenta, Pablo no dice “se lo dije”. Se pone de pie y dice: “tened buen ánimo”.
Tres: y da la razón de su calma. “Creo a Dios que será así como se me ha dicho”. Su serenidad tenía fundamento: no era negación.
Cuatro: detecta a los marineros que intentaban escapar en la lancha y avisa: “si éstos no permanecen en la nave, vosotros no podéis salvaros”.
Cinco: los hace comer para que tengan fuerzas. Cuida lo físico, no solo lo espiritual.
Seis: da gracias a Dios delante de todos, en medio del temporal.
Y el versículo 44: “y así aconteció que todos se salvaron saliendo a tierra”. Doscientas setenta y seis personas. Ni una perdida.
Un preso a bordo terminó dirigiendo el rescate, porque era el único que tenía a la vez palabra de Dios y cabeza fría.»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«Quiero que se lleven este versículo por encima de todos los demás de la noche.
Dios ya había prometido, por boca de un ángel, que no se perdería ni una sola vida. Ya estaba prometido.
Y aun así, cuando los marineros intentan huir en la lancha, Pablo dice: “si éstos no permanecen en la nave, vosotros no podéis salvaros”.
Escuchen bien: la promesa de Dios no anulaba la necesidad de la tripulación. Hacía falta que los hombres capacitados se quedaran en su puesto.
La promesa de Dios no sustituye a la tripulación.
Escriban eso. Porque cada vez que alguien diga que prepararse es falta de fe, la respuesta está en Hechos 27:31.»
USTED HACE
Deje silencio después de la frase final. Es el cierre argumental de toda la conferencia.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Cuatro frases, no más. No las desarrolle: ya las desarrolló toda la noche. Después pase directo al llamado.
«Cuatro cosas para llevarse:
Uno: Dios avisa. Siempre avisó. Antes de Noé, antes de José, antes del naufragio. El sistema de alerta temprana es idea suya.
Dos: prepararse es obediencia, no incredulidad. Oramos Y ponemos guarda.
Tres: la tragedia no es sentencia. Jesús mismo prohibió esa lectura en Lucas 13. Frente al que sufre no vamos con explicaciones: vamos con las manos.
Cuatro: la iglesia es un organismo de socorro. Y el que llega primero es el que ya estaba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«No quiero aplausos. Quiero decisiones. Tres, y son de esta semana.
Primero, el plan de mi casa. Esta semana, en la mesa, con la familia: punto de encuentro, contacto, mochila. Está en la hoja que les entregamos, en el reverso. Escríbanlo. No lo piensen: escríbanlo.
Segundo, capacitarme. Quiero que salgan de aquí nombres anotados para el curso de primeros auxilios y para la brigada de esta iglesia.»
USTED HACE
Pida que levanten la mano ahora mismo. Tenga a alguien anotando nombres de verdad, con papel, en la puerta. Si no sale una lista esta noche, no sale nunca.
USTED DICE
«Y tercero, mi vecino. Piense en una persona de su cuadra que no podría salir sola: el anciano, el enfermo, la señora con el niño pequeño, la persona con discapacidad.
Póngale nombre. Ahora mismo, en su mente, póngale nombre.
Y comprométase delante de Dios a que, si pasa algo, usted toca esa puerta antes de irse.
Eso es amar al prójimo con un plan.»
Y RECUERDE LA HOJA
«Todo lo que no nos dio tiempo de ver hoy — maremotos, primeros auxilios, los siete niveles completos — está en la hoja que les entregamos. No la pierdan.»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USTED DICE
«Termino donde empecé, con el atalaya de Ezequiel.
El atalaya no podía detener la espada. Usted no puede detener el huracán, ni el temblor, ni el fuego. Nadie se lo está pidiendo.
Pero el atalaya sí podía ver a tiempo y avisar a tiempo. Y de eso, dice Dios, sí somos responsables.
Hoy usted vio. Ya no puede decir que no sabía.
Ahora toque la trompeta en su casa.»
ORACIÓN DE CIERRE
«Señor, tú eres nuestro amparo y fortaleza, nuestro pronto auxilio en las tribulaciones. Gracias porque nunca nos has dejado sin aviso. Perdónanos por las veces que llamamos fe a lo que era descuido, y por las veces que llamamos prudencia a lo que era miedo. Danos manos preparadas y corazón sereno. Que cuando la tierra se mueva, tu pueblo no corra: sirva. Y haznos, en el barrio donde nos pusiste, la casa a la que la gente sabe que puede tocar. En el nombre de Jesús, amén.»
DESPUÉS
Quédese disponible. Alguien va a querer hablar.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7269480" y="-1188720"/>
            <a:ext cx="6217920" cy="6217920"/>
          </a:xfrm>
          <a:prstGeom prst="ellipse">
            <a:avLst/>
          </a:prstGeom>
          <a:solidFill>
            <a:srgbClr val="0E121A"/>
          </a:solidFill>
          <a:ln w="15875">
            <a:solidFill>
              <a:srgbClr val="2E3A4E"/>
            </a:solidFill>
            <a:prstDash val="solid"/>
          </a:ln>
        </p:spPr>
      </p:sp>
      <p:sp>
        <p:nvSpPr>
          <p:cNvPr id="3" name="Shape 1"/>
          <p:cNvSpPr/>
          <p:nvPr/>
        </p:nvSpPr>
        <p:spPr>
          <a:xfrm>
            <a:off x="8046720" y="-411480"/>
            <a:ext cx="4663440" cy="4663440"/>
          </a:xfrm>
          <a:prstGeom prst="ellipse">
            <a:avLst/>
          </a:prstGeom>
          <a:solidFill>
            <a:srgbClr val="0E121A"/>
          </a:solidFill>
          <a:ln w="15875">
            <a:solidFill>
              <a:srgbClr val="2E3A4E"/>
            </a:solidFill>
            <a:prstDash val="solid"/>
          </a:ln>
        </p:spPr>
      </p:sp>
      <p:sp>
        <p:nvSpPr>
          <p:cNvPr id="4" name="Shape 2"/>
          <p:cNvSpPr/>
          <p:nvPr/>
        </p:nvSpPr>
        <p:spPr>
          <a:xfrm>
            <a:off x="8732520" y="274320"/>
            <a:ext cx="3291840" cy="3291840"/>
          </a:xfrm>
          <a:prstGeom prst="ellipse">
            <a:avLst/>
          </a:prstGeom>
          <a:solidFill>
            <a:srgbClr val="0E121A"/>
          </a:solidFill>
          <a:ln w="15875">
            <a:solidFill>
              <a:srgbClr val="2E3A4E"/>
            </a:solidFill>
            <a:prstDash val="solid"/>
          </a:ln>
        </p:spPr>
      </p:sp>
      <p:sp>
        <p:nvSpPr>
          <p:cNvPr id="5" name="Shape 3"/>
          <p:cNvSpPr/>
          <p:nvPr/>
        </p:nvSpPr>
        <p:spPr>
          <a:xfrm>
            <a:off x="9372600" y="914400"/>
            <a:ext cx="2011680" cy="2011680"/>
          </a:xfrm>
          <a:prstGeom prst="ellipse">
            <a:avLst/>
          </a:prstGeom>
          <a:solidFill>
            <a:srgbClr val="0E121A"/>
          </a:solidFill>
          <a:ln w="15875">
            <a:solidFill>
              <a:srgbClr val="2E3A4E"/>
            </a:solidFill>
            <a:prstDash val="solid"/>
          </a:ln>
        </p:spPr>
      </p:sp>
      <p:sp>
        <p:nvSpPr>
          <p:cNvPr id="6" name="Shape 4"/>
          <p:cNvSpPr/>
          <p:nvPr/>
        </p:nvSpPr>
        <p:spPr>
          <a:xfrm>
            <a:off x="9875520" y="1417320"/>
            <a:ext cx="1005840" cy="1005840"/>
          </a:xfrm>
          <a:prstGeom prst="ellipse">
            <a:avLst/>
          </a:prstGeom>
          <a:solidFill>
            <a:srgbClr val="0E121A"/>
          </a:solidFill>
          <a:ln w="15875">
            <a:solidFill>
              <a:srgbClr val="2E3A4E"/>
            </a:solidFill>
            <a:prstDash val="solid"/>
          </a:ln>
        </p:spPr>
      </p:sp>
      <p:sp>
        <p:nvSpPr>
          <p:cNvPr id="7" name="Shape 5"/>
          <p:cNvSpPr/>
          <p:nvPr/>
        </p:nvSpPr>
        <p:spPr>
          <a:xfrm>
            <a:off x="10104120" y="1645920"/>
            <a:ext cx="548640" cy="548640"/>
          </a:xfrm>
          <a:prstGeom prst="ellipse">
            <a:avLst/>
          </a:prstGeom>
          <a:solidFill>
            <a:srgbClr val="F2A93B"/>
          </a:solidFill>
          <a:ln w="12700">
            <a:solidFill>
              <a:srgbClr val="F2A93B"/>
            </a:solidFill>
            <a:prstDash val="solid"/>
          </a:ln>
        </p:spPr>
      </p:sp>
      <p:sp>
        <p:nvSpPr>
          <p:cNvPr id="8" name="Text 6"/>
          <p:cNvSpPr txBox="1"/>
          <p:nvPr/>
        </p:nvSpPr>
        <p:spPr>
          <a:xfrm>
            <a:off x="822960" y="13716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CONFERENCIA</a:t>
            </a:r>
            <a:endParaRPr lang="en-US" sz="1200" dirty="0"/>
          </a:p>
        </p:txBody>
      </p:sp>
      <p:sp>
        <p:nvSpPr>
          <p:cNvPr id="9" name="Text 7"/>
          <p:cNvSpPr txBox="1"/>
          <p:nvPr/>
        </p:nvSpPr>
        <p:spPr>
          <a:xfrm>
            <a:off x="822960" y="1828800"/>
            <a:ext cx="7863840" cy="2743200"/>
          </a:xfrm>
          <a:prstGeom prst="rect">
            <a:avLst/>
          </a:prstGeom>
          <a:noFill/>
          <a:ln/>
        </p:spPr>
        <p:txBody>
          <a:bodyPr wrap="square" lIns="0" tIns="0" rIns="0" bIns="0" rtlCol="0" anchor="t"/>
          <a:lstStyle/>
          <a:p>
            <a:pPr indent="0" marL="0">
              <a:lnSpc>
                <a:spcPct val="102000"/>
              </a:lnSpc>
              <a:buNone/>
            </a:pPr>
            <a:r>
              <a:rPr lang="en-US" sz="5400" b="1" dirty="0">
                <a:solidFill>
                  <a:srgbClr val="F6F2E9"/>
                </a:solidFill>
                <a:latin typeface="Cambria" pitchFamily="34" charset="0"/>
                <a:ea typeface="Cambria" pitchFamily="34" charset="-122"/>
                <a:cs typeface="Cambria" pitchFamily="34" charset="-120"/>
              </a:rPr>
              <a:t>ORGANISMOS</a:t>
            </a:r>
            <a:endParaRPr lang="en-US" sz="5400" dirty="0"/>
          </a:p>
          <a:p>
            <a:pPr indent="0" marL="0">
              <a:lnSpc>
                <a:spcPct val="102000"/>
              </a:lnSpc>
              <a:buNone/>
            </a:pPr>
            <a:r>
              <a:rPr lang="en-US" sz="5400" b="1" dirty="0">
                <a:solidFill>
                  <a:srgbClr val="F6F2E9"/>
                </a:solidFill>
                <a:latin typeface="Cambria" pitchFamily="34" charset="0"/>
                <a:ea typeface="Cambria" pitchFamily="34" charset="-122"/>
                <a:cs typeface="Cambria" pitchFamily="34" charset="-120"/>
              </a:rPr>
              <a:t>DE SOCORRO</a:t>
            </a:r>
            <a:endParaRPr lang="en-US" sz="5400" dirty="0"/>
          </a:p>
          <a:p>
            <a:pPr indent="0" marL="0">
              <a:lnSpc>
                <a:spcPct val="102000"/>
              </a:lnSpc>
              <a:buNone/>
            </a:pPr>
            <a:r>
              <a:rPr lang="en-US" sz="5400" b="1" dirty="0">
                <a:solidFill>
                  <a:srgbClr val="F6F2E9"/>
                </a:solidFill>
                <a:latin typeface="Cambria" pitchFamily="34" charset="0"/>
                <a:ea typeface="Cambria" pitchFamily="34" charset="-122"/>
                <a:cs typeface="Cambria" pitchFamily="34" charset="-120"/>
              </a:rPr>
              <a:t>Y LA BIBLIA</a:t>
            </a:r>
            <a:endParaRPr lang="en-US" sz="5400" dirty="0"/>
          </a:p>
        </p:txBody>
      </p:sp>
      <p:sp>
        <p:nvSpPr>
          <p:cNvPr id="10" name="Text 8"/>
          <p:cNvSpPr txBox="1"/>
          <p:nvPr/>
        </p:nvSpPr>
        <p:spPr>
          <a:xfrm>
            <a:off x="822960" y="4709160"/>
            <a:ext cx="7863840"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Lo que Dios dice antes de que suene la alarma</a:t>
            </a:r>
            <a:endParaRPr lang="en-US" sz="2100" dirty="0"/>
          </a:p>
        </p:txBody>
      </p:sp>
      <p:sp>
        <p:nvSpPr>
          <p:cNvPr id="11" name="Text 9"/>
          <p:cNvSpPr txBox="1"/>
          <p:nvPr/>
        </p:nvSpPr>
        <p:spPr>
          <a:xfrm>
            <a:off x="822960" y="5715000"/>
            <a:ext cx="7863840" cy="365760"/>
          </a:xfrm>
          <a:prstGeom prst="rect">
            <a:avLst/>
          </a:prstGeom>
          <a:noFill/>
          <a:ln/>
        </p:spPr>
        <p:txBody>
          <a:bodyPr wrap="square" lIns="0" tIns="0" rIns="0" bIns="0" rtlCol="0" anchor="ctr"/>
          <a:lstStyle/>
          <a:p>
            <a:pPr indent="0" marL="0">
              <a:buNone/>
            </a:pPr>
            <a:r>
              <a:rPr lang="en-US" sz="1600" b="1" spc="140" kern="0" dirty="0">
                <a:solidFill>
                  <a:srgbClr val="99A3B6"/>
                </a:solidFill>
                <a:latin typeface="Calibri" pitchFamily="34" charset="0"/>
                <a:ea typeface="Calibri" pitchFamily="34" charset="-122"/>
                <a:cs typeface="Calibri" pitchFamily="34" charset="-120"/>
              </a:rPr>
              <a:t>Carlos Contreras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2743200" y="4846320"/>
            <a:ext cx="4754880" cy="4754880"/>
          </a:xfrm>
          <a:prstGeom prst="ellipse">
            <a:avLst/>
          </a:prstGeom>
          <a:solidFill>
            <a:srgbClr val="0E121A"/>
          </a:solidFill>
          <a:ln w="12700">
            <a:solidFill>
              <a:srgbClr val="2A3446"/>
            </a:solidFill>
            <a:prstDash val="solid"/>
          </a:ln>
        </p:spPr>
      </p:sp>
      <p:sp>
        <p:nvSpPr>
          <p:cNvPr id="3" name="Shape 1"/>
          <p:cNvSpPr/>
          <p:nvPr/>
        </p:nvSpPr>
        <p:spPr>
          <a:xfrm>
            <a:off x="-2103120" y="5486400"/>
            <a:ext cx="3474720" cy="3474720"/>
          </a:xfrm>
          <a:prstGeom prst="ellipse">
            <a:avLst/>
          </a:prstGeom>
          <a:solidFill>
            <a:srgbClr val="0E121A"/>
          </a:solidFill>
          <a:ln w="12700">
            <a:solidFill>
              <a:srgbClr val="2A3446"/>
            </a:solidFill>
            <a:prstDash val="solid"/>
          </a:ln>
        </p:spPr>
      </p:sp>
      <p:sp>
        <p:nvSpPr>
          <p:cNvPr id="4" name="Shape 2"/>
          <p:cNvSpPr/>
          <p:nvPr/>
        </p:nvSpPr>
        <p:spPr>
          <a:xfrm>
            <a:off x="-1463040" y="6126480"/>
            <a:ext cx="2194560" cy="2194560"/>
          </a:xfrm>
          <a:prstGeom prst="ellipse">
            <a:avLst/>
          </a:prstGeom>
          <a:solidFill>
            <a:srgbClr val="0E121A"/>
          </a:solidFill>
          <a:ln w="12700">
            <a:solidFill>
              <a:srgbClr val="2A3446"/>
            </a:solidFill>
            <a:prstDash val="solid"/>
          </a:ln>
        </p:spPr>
      </p:sp>
      <p:sp>
        <p:nvSpPr>
          <p:cNvPr id="5" name="Text 3"/>
          <p:cNvSpPr txBox="1"/>
          <p:nvPr/>
        </p:nvSpPr>
        <p:spPr>
          <a:xfrm>
            <a:off x="914400" y="2103120"/>
            <a:ext cx="10360152" cy="2651760"/>
          </a:xfrm>
          <a:prstGeom prst="rect">
            <a:avLst/>
          </a:prstGeom>
          <a:noFill/>
          <a:ln/>
        </p:spPr>
        <p:txBody>
          <a:bodyPr wrap="square" lIns="0" tIns="0" rIns="0" bIns="0" rtlCol="0" anchor="ctr"/>
          <a:lstStyle/>
          <a:p>
            <a:pPr algn="ctr" indent="0" marL="0">
              <a:lnSpc>
                <a:spcPct val="112000"/>
              </a:lnSpc>
              <a:buNone/>
            </a:pPr>
            <a:r>
              <a:rPr lang="en-US" sz="4400" b="1" dirty="0">
                <a:solidFill>
                  <a:srgbClr val="F6F2E9"/>
                </a:solidFill>
                <a:latin typeface="Cambria" pitchFamily="34" charset="0"/>
                <a:ea typeface="Cambria" pitchFamily="34" charset="-122"/>
                <a:cs typeface="Cambria" pitchFamily="34" charset="-120"/>
              </a:rPr>
              <a:t>¿Sabe usted qué haría</a:t>
            </a:r>
            <a:endParaRPr lang="en-US" sz="4400" dirty="0"/>
          </a:p>
          <a:p>
            <a:pPr algn="ctr" indent="0" marL="0">
              <a:lnSpc>
                <a:spcPct val="112000"/>
              </a:lnSpc>
              <a:buNone/>
            </a:pPr>
            <a:r>
              <a:rPr lang="en-US" sz="4400" b="1" dirty="0">
                <a:solidFill>
                  <a:srgbClr val="F6F2E9"/>
                </a:solidFill>
                <a:latin typeface="Cambria" pitchFamily="34" charset="0"/>
                <a:ea typeface="Cambria" pitchFamily="34" charset="-122"/>
                <a:cs typeface="Cambria" pitchFamily="34" charset="-120"/>
              </a:rPr>
              <a:t>en los próximos 10 segundos?</a:t>
            </a:r>
            <a:endParaRPr lang="en-US" sz="4400" dirty="0"/>
          </a:p>
        </p:txBody>
      </p:sp>
      <p:sp>
        <p:nvSpPr>
          <p:cNvPr id="6" name="Text 4"/>
          <p:cNvSpPr txBox="1"/>
          <p:nvPr/>
        </p:nvSpPr>
        <p:spPr>
          <a:xfrm>
            <a:off x="914400" y="4800600"/>
            <a:ext cx="10360152" cy="457200"/>
          </a:xfrm>
          <a:prstGeom prst="rect">
            <a:avLst/>
          </a:prstGeom>
          <a:noFill/>
          <a:ln/>
        </p:spPr>
        <p:txBody>
          <a:bodyPr wrap="square" lIns="0" tIns="0" rIns="0" bIns="0" rtlCol="0" anchor="ctr"/>
          <a:lstStyle/>
          <a:p>
            <a:pPr algn="ctr" indent="0" marL="0">
              <a:buNone/>
            </a:pPr>
            <a:r>
              <a:rPr lang="en-US" sz="2000" i="1" dirty="0">
                <a:solidFill>
                  <a:srgbClr val="F2A93B"/>
                </a:solidFill>
                <a:latin typeface="Cambria" pitchFamily="34" charset="0"/>
                <a:ea typeface="Cambria" pitchFamily="34" charset="-122"/>
                <a:cs typeface="Cambria" pitchFamily="34" charset="-120"/>
              </a:rPr>
              <a:t>No lo que siente. Lo que haría.</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7722"/>
        </a:solidFill>
      </p:bgPr>
    </p:bg>
    <p:spTree>
      <p:nvGrpSpPr>
        <p:cNvPr id="1" name=""/>
        <p:cNvGrpSpPr/>
        <p:nvPr/>
      </p:nvGrpSpPr>
      <p:grpSpPr>
        <a:xfrm>
          <a:off x="0" y="0"/>
          <a:ext cx="0" cy="0"/>
          <a:chOff x="0" y="0"/>
          <a:chExt cx="0" cy="0"/>
        </a:xfrm>
      </p:grpSpPr>
      <p:sp>
        <p:nvSpPr>
          <p:cNvPr id="2" name="Shape 0"/>
          <p:cNvSpPr/>
          <p:nvPr/>
        </p:nvSpPr>
        <p:spPr>
          <a:xfrm>
            <a:off x="9235440" y="4114800"/>
            <a:ext cx="4023360" cy="4023360"/>
          </a:xfrm>
          <a:prstGeom prst="ellipse">
            <a:avLst/>
          </a:prstGeom>
          <a:solidFill>
            <a:srgbClr val="E87722"/>
          </a:solidFill>
          <a:ln w="12700">
            <a:solidFill>
              <a:srgbClr val="FFFFFF"/>
            </a:solidFill>
            <a:prstDash val="solid"/>
          </a:ln>
        </p:spPr>
      </p:sp>
      <p:sp>
        <p:nvSpPr>
          <p:cNvPr id="3" name="Shape 1"/>
          <p:cNvSpPr/>
          <p:nvPr/>
        </p:nvSpPr>
        <p:spPr>
          <a:xfrm>
            <a:off x="9784080" y="4663440"/>
            <a:ext cx="2926080" cy="2926080"/>
          </a:xfrm>
          <a:prstGeom prst="ellipse">
            <a:avLst/>
          </a:prstGeom>
          <a:solidFill>
            <a:srgbClr val="E87722"/>
          </a:solidFill>
          <a:ln w="12700">
            <a:solidFill>
              <a:srgbClr val="FFFFFF"/>
            </a:solidFill>
            <a:prstDash val="solid"/>
          </a:ln>
        </p:spPr>
      </p:sp>
      <p:sp>
        <p:nvSpPr>
          <p:cNvPr id="4" name="Shape 2"/>
          <p:cNvSpPr/>
          <p:nvPr/>
        </p:nvSpPr>
        <p:spPr>
          <a:xfrm>
            <a:off x="10332720" y="5212080"/>
            <a:ext cx="1828800" cy="1828800"/>
          </a:xfrm>
          <a:prstGeom prst="ellipse">
            <a:avLst/>
          </a:prstGeom>
          <a:solidFill>
            <a:srgbClr val="E87722"/>
          </a:solidFill>
          <a:ln w="12700">
            <a:solidFill>
              <a:srgbClr val="FFFFFF"/>
            </a:solidFill>
            <a:prstDash val="solid"/>
          </a:ln>
        </p:spPr>
      </p:sp>
      <p:sp>
        <p:nvSpPr>
          <p:cNvPr id="5" name="Text 3"/>
          <p:cNvSpPr txBox="1"/>
          <p:nvPr/>
        </p:nvSpPr>
        <p:spPr>
          <a:xfrm>
            <a:off x="914400" y="2377440"/>
            <a:ext cx="10360152" cy="2194560"/>
          </a:xfrm>
          <a:prstGeom prst="rect">
            <a:avLst/>
          </a:prstGeom>
          <a:noFill/>
          <a:ln/>
        </p:spPr>
        <p:txBody>
          <a:bodyPr wrap="square" lIns="0" tIns="0" rIns="0" bIns="0" rtlCol="0" anchor="ctr"/>
          <a:lstStyle/>
          <a:p>
            <a:pPr algn="ctr" indent="0" marL="0">
              <a:lnSpc>
                <a:spcPct val="112000"/>
              </a:lnSpc>
              <a:buNone/>
            </a:pPr>
            <a:r>
              <a:rPr lang="en-US" sz="5200" b="1" dirty="0">
                <a:solidFill>
                  <a:srgbClr val="0E121A"/>
                </a:solidFill>
                <a:latin typeface="Cambria" pitchFamily="34" charset="0"/>
                <a:ea typeface="Cambria" pitchFamily="34" charset="-122"/>
                <a:cs typeface="Cambria" pitchFamily="34" charset="-120"/>
              </a:rPr>
              <a:t>SEÑALE LA SALIDA</a:t>
            </a:r>
            <a:endParaRPr lang="en-US" sz="5200" dirty="0"/>
          </a:p>
          <a:p>
            <a:pPr algn="ctr" indent="0" marL="0">
              <a:lnSpc>
                <a:spcPct val="112000"/>
              </a:lnSpc>
              <a:buNone/>
            </a:pPr>
            <a:r>
              <a:rPr lang="en-US" sz="5200" b="1" dirty="0">
                <a:solidFill>
                  <a:srgbClr val="0E121A"/>
                </a:solidFill>
                <a:latin typeface="Cambria" pitchFamily="34" charset="0"/>
                <a:ea typeface="Cambria" pitchFamily="34" charset="-122"/>
                <a:cs typeface="Cambria" pitchFamily="34" charset="-120"/>
              </a:rPr>
              <a:t>MÁS CERCANA</a:t>
            </a:r>
            <a:endParaRPr lang="en-US" sz="5200" dirty="0"/>
          </a:p>
        </p:txBody>
      </p:sp>
      <p:sp>
        <p:nvSpPr>
          <p:cNvPr id="6" name="Text 4"/>
          <p:cNvSpPr txBox="1"/>
          <p:nvPr/>
        </p:nvSpPr>
        <p:spPr>
          <a:xfrm>
            <a:off x="914400" y="4663440"/>
            <a:ext cx="10360152" cy="457200"/>
          </a:xfrm>
          <a:prstGeom prst="rect">
            <a:avLst/>
          </a:prstGeom>
          <a:noFill/>
          <a:ln/>
        </p:spPr>
        <p:txBody>
          <a:bodyPr wrap="square" lIns="0" tIns="0" rIns="0" bIns="0" rtlCol="0" anchor="ctr"/>
          <a:lstStyle/>
          <a:p>
            <a:pPr algn="ctr" indent="0" marL="0">
              <a:buNone/>
            </a:pPr>
            <a:r>
              <a:rPr lang="en-US" sz="1900" b="1" dirty="0">
                <a:solidFill>
                  <a:srgbClr val="0E121A"/>
                </a:solidFill>
                <a:latin typeface="Calibri" pitchFamily="34" charset="0"/>
                <a:ea typeface="Calibri" pitchFamily="34" charset="-122"/>
                <a:cs typeface="Calibri" pitchFamily="34" charset="-120"/>
              </a:rPr>
              <a:t>Ahora. Sin levantarse.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TEXTO ANCLA DE LA CONFERENCIA</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F2A93B"/>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743200"/>
          </a:xfrm>
          <a:prstGeom prst="rect">
            <a:avLst/>
          </a:prstGeom>
          <a:noFill/>
          <a:ln/>
        </p:spPr>
        <p:txBody>
          <a:bodyPr wrap="square" lIns="0" tIns="0" rIns="0" bIns="0" rtlCol="0" anchor="t"/>
          <a:lstStyle/>
          <a:p>
            <a:pPr indent="0" marL="0">
              <a:lnSpc>
                <a:spcPct val="120000"/>
              </a:lnSpc>
              <a:buNone/>
            </a:pPr>
            <a:r>
              <a:rPr lang="en-US" sz="2800" dirty="0">
                <a:solidFill>
                  <a:srgbClr val="F6F2E9"/>
                </a:solidFill>
                <a:latin typeface="Cambria" pitchFamily="34" charset="0"/>
                <a:ea typeface="Cambria" pitchFamily="34" charset="-122"/>
                <a:cs typeface="Cambria" pitchFamily="34" charset="-120"/>
              </a:rPr>
              <a:t>Pero si el atalaya viere venir la espada </a:t>
            </a:r>
            <a:pPr indent="0" marL="0">
              <a:lnSpc>
                <a:spcPct val="120000"/>
              </a:lnSpc>
              <a:buNone/>
            </a:pPr>
            <a:r>
              <a:rPr lang="en-US" sz="2800" b="1" dirty="0">
                <a:solidFill>
                  <a:srgbClr val="F2A93B"/>
                </a:solidFill>
                <a:latin typeface="Cambria" pitchFamily="34" charset="0"/>
                <a:ea typeface="Cambria" pitchFamily="34" charset="-122"/>
                <a:cs typeface="Cambria" pitchFamily="34" charset="-120"/>
              </a:rPr>
              <a:t>y no tocare la trompeta</a:t>
            </a:r>
            <a:pPr indent="0" marL="0">
              <a:lnSpc>
                <a:spcPct val="120000"/>
              </a:lnSpc>
              <a:buNone/>
            </a:pPr>
            <a:r>
              <a:rPr lang="en-US" sz="2800" dirty="0">
                <a:solidFill>
                  <a:srgbClr val="F6F2E9"/>
                </a:solidFill>
                <a:latin typeface="Cambria" pitchFamily="34" charset="0"/>
                <a:ea typeface="Cambria" pitchFamily="34" charset="-122"/>
                <a:cs typeface="Cambria" pitchFamily="34" charset="-120"/>
              </a:rPr>
              <a:t>, y el pueblo no se apercibiere, y viniendo la espada, hiriere de él a alguno… demandaré su sangre de mano del atalaya.</a:t>
            </a:r>
            <a:endParaRPr lang="en-US" sz="28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F2A93B"/>
                </a:solidFill>
                <a:latin typeface="Calibri" pitchFamily="34" charset="0"/>
                <a:ea typeface="Calibri" pitchFamily="34" charset="-122"/>
                <a:cs typeface="Calibri" pitchFamily="34" charset="-120"/>
              </a:rPr>
              <a:t>Ezequiel 33:6</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El atalaya no detiene la espada. Ve a tiempo y avisa a tiempo.</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920240" y="-1737360"/>
            <a:ext cx="4206240" cy="4206240"/>
          </a:xfrm>
          <a:prstGeom prst="ellipse">
            <a:avLst/>
          </a:prstGeom>
          <a:solidFill>
            <a:srgbClr val="161D29"/>
          </a:solidFill>
          <a:ln w="12700">
            <a:solidFill>
              <a:srgbClr val="2A3446"/>
            </a:solidFill>
            <a:prstDash val="solid"/>
          </a:ln>
        </p:spPr>
      </p:sp>
      <p:sp>
        <p:nvSpPr>
          <p:cNvPr id="3" name="Shape 1"/>
          <p:cNvSpPr/>
          <p:nvPr/>
        </p:nvSpPr>
        <p:spPr>
          <a:xfrm>
            <a:off x="-1371600" y="-1188720"/>
            <a:ext cx="3108960" cy="3108960"/>
          </a:xfrm>
          <a:prstGeom prst="ellipse">
            <a:avLst/>
          </a:prstGeom>
          <a:solidFill>
            <a:srgbClr val="161D29"/>
          </a:solidFill>
          <a:ln w="12700">
            <a:solidFill>
              <a:srgbClr val="2A3446"/>
            </a:solidFill>
            <a:prstDash val="solid"/>
          </a:ln>
        </p:spPr>
      </p:sp>
      <p:sp>
        <p:nvSpPr>
          <p:cNvPr id="4" name="Shape 2"/>
          <p:cNvSpPr/>
          <p:nvPr/>
        </p:nvSpPr>
        <p:spPr>
          <a:xfrm>
            <a:off x="-777240" y="-594360"/>
            <a:ext cx="1920240" cy="1920240"/>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LA TESIS</a:t>
            </a:r>
            <a:endParaRPr lang="en-US" sz="1200" dirty="0"/>
          </a:p>
        </p:txBody>
      </p:sp>
      <p:sp>
        <p:nvSpPr>
          <p:cNvPr id="6" name="Text 4"/>
          <p:cNvSpPr txBox="1"/>
          <p:nvPr/>
        </p:nvSpPr>
        <p:spPr>
          <a:xfrm>
            <a:off x="822960" y="1828800"/>
            <a:ext cx="10543032" cy="3291840"/>
          </a:xfrm>
          <a:prstGeom prst="rect">
            <a:avLst/>
          </a:prstGeom>
          <a:noFill/>
          <a:ln/>
        </p:spPr>
        <p:txBody>
          <a:bodyPr wrap="square" lIns="0" tIns="0" rIns="0" bIns="0" rtlCol="0" anchor="ctr"/>
          <a:lstStyle/>
          <a:p>
            <a:pPr indent="0" marL="0">
              <a:lnSpc>
                <a:spcPct val="110000"/>
              </a:lnSpc>
              <a:buNone/>
            </a:pPr>
            <a:r>
              <a:rPr lang="en-US" sz="4200" b="1" dirty="0">
                <a:solidFill>
                  <a:srgbClr val="99A3B6"/>
                </a:solidFill>
                <a:latin typeface="Cambria" pitchFamily="34" charset="0"/>
                <a:ea typeface="Cambria" pitchFamily="34" charset="-122"/>
                <a:cs typeface="Cambria" pitchFamily="34" charset="-120"/>
              </a:rPr>
              <a:t>PREPARARSE NO ES
DESCONFIAR DE DIOS.
</a:t>
            </a:r>
            <a:pPr indent="0" marL="0">
              <a:lnSpc>
                <a:spcPct val="110000"/>
              </a:lnSpc>
              <a:buNone/>
            </a:pPr>
            <a:r>
              <a:rPr lang="en-US" sz="4200" b="1" dirty="0">
                <a:solidFill>
                  <a:srgbClr val="F2A93B"/>
                </a:solidFill>
                <a:latin typeface="Cambria" pitchFamily="34" charset="0"/>
                <a:ea typeface="Cambria" pitchFamily="34" charset="-122"/>
                <a:cs typeface="Cambria" pitchFamily="34" charset="-120"/>
              </a:rPr>
              <a:t>PREPARARSE ES</a:t>
            </a:r>
            <a:endParaRPr lang="en-US" sz="4200" dirty="0"/>
          </a:p>
          <a:p>
            <a:pPr indent="0" marL="0">
              <a:lnSpc>
                <a:spcPct val="110000"/>
              </a:lnSpc>
              <a:buNone/>
            </a:pPr>
            <a:r>
              <a:rPr lang="en-US" sz="4200" b="1" dirty="0">
                <a:solidFill>
                  <a:srgbClr val="F2A93B"/>
                </a:solidFill>
                <a:latin typeface="Cambria" pitchFamily="34" charset="0"/>
                <a:ea typeface="Cambria" pitchFamily="34" charset="-122"/>
                <a:cs typeface="Cambria" pitchFamily="34" charset="-120"/>
              </a:rPr>
              <a:t>OBEDECER A DIOS.</a:t>
            </a:r>
            <a:endParaRPr lang="en-US" sz="4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NEHEMÍAS 4:9</a:t>
            </a:r>
            <a:endParaRPr lang="en-US" sz="1200" dirty="0"/>
          </a:p>
        </p:txBody>
      </p:sp>
      <p:sp>
        <p:nvSpPr>
          <p:cNvPr id="3" name="Text 1"/>
          <p:cNvSpPr txBox="1"/>
          <p:nvPr/>
        </p:nvSpPr>
        <p:spPr>
          <a:xfrm>
            <a:off x="822960" y="1828800"/>
            <a:ext cx="4937760" cy="1097280"/>
          </a:xfrm>
          <a:prstGeom prst="rect">
            <a:avLst/>
          </a:prstGeom>
          <a:noFill/>
          <a:ln/>
        </p:spPr>
        <p:txBody>
          <a:bodyPr wrap="square" lIns="0" tIns="0" rIns="0" bIns="0" rtlCol="0" anchor="ctr"/>
          <a:lstStyle/>
          <a:p>
            <a:pPr algn="r" indent="0" marL="0">
              <a:buNone/>
            </a:pPr>
            <a:r>
              <a:rPr lang="en-US" sz="3000" dirty="0">
                <a:solidFill>
                  <a:srgbClr val="F6F2E9"/>
                </a:solidFill>
                <a:latin typeface="Cambria" pitchFamily="34" charset="0"/>
                <a:ea typeface="Cambria" pitchFamily="34" charset="-122"/>
                <a:cs typeface="Cambria" pitchFamily="34" charset="-120"/>
              </a:rPr>
              <a:t>Oramos a nuestro Dios,</a:t>
            </a:r>
            <a:endParaRPr lang="en-US" sz="3000" dirty="0"/>
          </a:p>
        </p:txBody>
      </p:sp>
      <p:sp>
        <p:nvSpPr>
          <p:cNvPr id="4" name="Text 2"/>
          <p:cNvSpPr txBox="1"/>
          <p:nvPr/>
        </p:nvSpPr>
        <p:spPr>
          <a:xfrm>
            <a:off x="5943600" y="1417320"/>
            <a:ext cx="1005840" cy="1920240"/>
          </a:xfrm>
          <a:prstGeom prst="rect">
            <a:avLst/>
          </a:prstGeom>
          <a:noFill/>
          <a:ln/>
        </p:spPr>
        <p:txBody>
          <a:bodyPr wrap="square" lIns="0" tIns="0" rIns="0" bIns="0" rtlCol="0" anchor="ctr"/>
          <a:lstStyle/>
          <a:p>
            <a:pPr algn="ctr" indent="0" marL="0">
              <a:buNone/>
            </a:pPr>
            <a:r>
              <a:rPr lang="en-US" sz="11000" b="1" dirty="0">
                <a:solidFill>
                  <a:srgbClr val="F2A93B"/>
                </a:solidFill>
                <a:latin typeface="Cambria" pitchFamily="34" charset="0"/>
                <a:ea typeface="Cambria" pitchFamily="34" charset="-122"/>
                <a:cs typeface="Cambria" pitchFamily="34" charset="-120"/>
              </a:rPr>
              <a:t>Y</a:t>
            </a:r>
            <a:endParaRPr lang="en-US" sz="11000" dirty="0"/>
          </a:p>
        </p:txBody>
      </p:sp>
      <p:sp>
        <p:nvSpPr>
          <p:cNvPr id="5" name="Text 3"/>
          <p:cNvSpPr txBox="1"/>
          <p:nvPr/>
        </p:nvSpPr>
        <p:spPr>
          <a:xfrm>
            <a:off x="7132320" y="1828800"/>
            <a:ext cx="4233672" cy="1097280"/>
          </a:xfrm>
          <a:prstGeom prst="rect">
            <a:avLst/>
          </a:prstGeom>
          <a:noFill/>
          <a:ln/>
        </p:spPr>
        <p:txBody>
          <a:bodyPr wrap="square" lIns="0" tIns="0" rIns="0" bIns="0" rtlCol="0" anchor="ctr"/>
          <a:lstStyle/>
          <a:p>
            <a:pPr indent="0" marL="0">
              <a:lnSpc>
                <a:spcPct val="105000"/>
              </a:lnSpc>
              <a:buNone/>
            </a:pPr>
            <a:r>
              <a:rPr lang="en-US" sz="3000" dirty="0">
                <a:solidFill>
                  <a:srgbClr val="F6F2E9"/>
                </a:solidFill>
                <a:latin typeface="Cambria" pitchFamily="34" charset="0"/>
                <a:ea typeface="Cambria" pitchFamily="34" charset="-122"/>
                <a:cs typeface="Cambria" pitchFamily="34" charset="-120"/>
              </a:rPr>
              <a:t>pusimos guarda contra ellos</a:t>
            </a:r>
            <a:endParaRPr lang="en-US" sz="3000" dirty="0"/>
          </a:p>
          <a:p>
            <a:pPr indent="0" marL="0">
              <a:lnSpc>
                <a:spcPct val="105000"/>
              </a:lnSpc>
              <a:buNone/>
            </a:pPr>
            <a:r>
              <a:rPr lang="en-US" sz="3000" dirty="0">
                <a:solidFill>
                  <a:srgbClr val="F6F2E9"/>
                </a:solidFill>
                <a:latin typeface="Cambria" pitchFamily="34" charset="0"/>
                <a:ea typeface="Cambria" pitchFamily="34" charset="-122"/>
                <a:cs typeface="Cambria" pitchFamily="34" charset="-120"/>
              </a:rPr>
              <a:t>de día y de noche.</a:t>
            </a:r>
            <a:endParaRPr lang="en-US" sz="3000" dirty="0"/>
          </a:p>
        </p:txBody>
      </p:sp>
      <p:sp>
        <p:nvSpPr>
          <p:cNvPr id="6" name="Shape 4"/>
          <p:cNvSpPr/>
          <p:nvPr/>
        </p:nvSpPr>
        <p:spPr>
          <a:xfrm>
            <a:off x="822960" y="4434840"/>
            <a:ext cx="10543032" cy="1463040"/>
          </a:xfrm>
          <a:prstGeom prst="roundRect">
            <a:avLst>
              <a:gd name="adj" fmla="val 6250"/>
            </a:avLst>
          </a:prstGeom>
          <a:solidFill>
            <a:srgbClr val="1C2534"/>
          </a:solidFill>
          <a:ln w="12700">
            <a:solidFill>
              <a:srgbClr val="1C2534"/>
            </a:solidFill>
            <a:prstDash val="solid"/>
          </a:ln>
        </p:spPr>
      </p:sp>
      <p:sp>
        <p:nvSpPr>
          <p:cNvPr id="7" name="Text 5"/>
          <p:cNvSpPr txBox="1"/>
          <p:nvPr/>
        </p:nvSpPr>
        <p:spPr>
          <a:xfrm>
            <a:off x="1280160" y="4434840"/>
            <a:ext cx="9628632" cy="1463040"/>
          </a:xfrm>
          <a:prstGeom prst="rect">
            <a:avLst/>
          </a:prstGeom>
          <a:noFill/>
          <a:ln/>
        </p:spPr>
        <p:txBody>
          <a:bodyPr wrap="square" lIns="0" tIns="0" rIns="0" bIns="0" rtlCol="0" anchor="ctr"/>
          <a:lstStyle/>
          <a:p>
            <a:pPr indent="0" marL="0">
              <a:lnSpc>
                <a:spcPct val="125000"/>
              </a:lnSpc>
              <a:buNone/>
            </a:pPr>
            <a:r>
              <a:rPr lang="en-US" sz="1900" dirty="0">
                <a:solidFill>
                  <a:srgbClr val="F6F2E9"/>
                </a:solidFill>
                <a:latin typeface="Calibri" pitchFamily="34" charset="0"/>
                <a:ea typeface="Calibri" pitchFamily="34" charset="-122"/>
                <a:cs typeface="Calibri" pitchFamily="34" charset="-120"/>
              </a:rPr>
              <a:t>La conjunción es «Y», no «o». Nehemías no escogió entre orar y montar guardia: hizo las dos cosas la misma noche.</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UN MINUTO · LA BIBLIA Y LOS FENÓMENOS DE LA NATURALEZA</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Seis verdades, y una que pesa más</a:t>
            </a:r>
            <a:endParaRPr lang="en-US" sz="3800" dirty="0"/>
          </a:p>
        </p:txBody>
      </p:sp>
      <p:sp>
        <p:nvSpPr>
          <p:cNvPr id="4" name="Shape 2"/>
          <p:cNvSpPr/>
          <p:nvPr/>
        </p:nvSpPr>
        <p:spPr>
          <a:xfrm>
            <a:off x="822960" y="2103120"/>
            <a:ext cx="5248656" cy="1115568"/>
          </a:xfrm>
          <a:prstGeom prst="roundRect">
            <a:avLst>
              <a:gd name="adj" fmla="val 8197"/>
            </a:avLst>
          </a:prstGeom>
          <a:solidFill>
            <a:srgbClr val="232D3F"/>
          </a:solidFill>
          <a:ln w="12700">
            <a:solidFill>
              <a:srgbClr val="232D3F"/>
            </a:solidFill>
            <a:prstDash val="solid"/>
          </a:ln>
        </p:spPr>
      </p:sp>
      <p:sp>
        <p:nvSpPr>
          <p:cNvPr id="5" name="Shape 3"/>
          <p:cNvSpPr/>
          <p:nvPr/>
        </p:nvSpPr>
        <p:spPr>
          <a:xfrm>
            <a:off x="1078992" y="2432304"/>
            <a:ext cx="411480" cy="411480"/>
          </a:xfrm>
          <a:prstGeom prst="ellipse">
            <a:avLst/>
          </a:prstGeom>
          <a:solidFill>
            <a:srgbClr val="F2A93B"/>
          </a:solidFill>
          <a:ln w="12700">
            <a:solidFill>
              <a:srgbClr val="F2A93B"/>
            </a:solidFill>
            <a:prstDash val="solid"/>
          </a:ln>
        </p:spPr>
      </p:sp>
      <p:sp>
        <p:nvSpPr>
          <p:cNvPr id="6" name="Text 4"/>
          <p:cNvSpPr txBox="1"/>
          <p:nvPr/>
        </p:nvSpPr>
        <p:spPr>
          <a:xfrm>
            <a:off x="1078992" y="2432304"/>
            <a:ext cx="411480" cy="411480"/>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645920" y="2231136"/>
            <a:ext cx="4151376" cy="493776"/>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Dios le puso límites al mar</a:t>
            </a:r>
            <a:endParaRPr lang="en-US" sz="1600" dirty="0"/>
          </a:p>
        </p:txBody>
      </p:sp>
      <p:sp>
        <p:nvSpPr>
          <p:cNvPr id="8" name="Text 6"/>
          <p:cNvSpPr txBox="1"/>
          <p:nvPr/>
        </p:nvSpPr>
        <p:spPr>
          <a:xfrm>
            <a:off x="1645920" y="2761488"/>
            <a:ext cx="4151376" cy="274320"/>
          </a:xfrm>
          <a:prstGeom prst="rect">
            <a:avLst/>
          </a:prstGeom>
          <a:noFill/>
          <a:ln/>
        </p:spPr>
        <p:txBody>
          <a:bodyPr wrap="square" lIns="0" tIns="0" rIns="0" bIns="0" rtlCol="0" anchor="ctr"/>
          <a:lstStyle/>
          <a:p>
            <a:pPr indent="0" marL="0">
              <a:buNone/>
            </a:pPr>
            <a:r>
              <a:rPr lang="en-US" sz="1200" b="1" spc="100" kern="0" dirty="0">
                <a:solidFill>
                  <a:srgbClr val="F2A93B"/>
                </a:solidFill>
                <a:latin typeface="Calibri" pitchFamily="34" charset="0"/>
                <a:ea typeface="Calibri" pitchFamily="34" charset="-122"/>
                <a:cs typeface="Calibri" pitchFamily="34" charset="-120"/>
              </a:rPr>
              <a:t>Job 38:11</a:t>
            </a:r>
            <a:endParaRPr lang="en-US" sz="1200" dirty="0"/>
          </a:p>
        </p:txBody>
      </p:sp>
      <p:sp>
        <p:nvSpPr>
          <p:cNvPr id="9" name="Shape 7"/>
          <p:cNvSpPr/>
          <p:nvPr/>
        </p:nvSpPr>
        <p:spPr>
          <a:xfrm>
            <a:off x="6391656" y="2103120"/>
            <a:ext cx="5248656" cy="1115568"/>
          </a:xfrm>
          <a:prstGeom prst="roundRect">
            <a:avLst>
              <a:gd name="adj" fmla="val 8197"/>
            </a:avLst>
          </a:prstGeom>
          <a:solidFill>
            <a:srgbClr val="232D3F"/>
          </a:solidFill>
          <a:ln w="12700">
            <a:solidFill>
              <a:srgbClr val="232D3F"/>
            </a:solidFill>
            <a:prstDash val="solid"/>
          </a:ln>
        </p:spPr>
      </p:sp>
      <p:sp>
        <p:nvSpPr>
          <p:cNvPr id="10" name="Shape 8"/>
          <p:cNvSpPr/>
          <p:nvPr/>
        </p:nvSpPr>
        <p:spPr>
          <a:xfrm>
            <a:off x="6647688" y="2432304"/>
            <a:ext cx="411480" cy="411480"/>
          </a:xfrm>
          <a:prstGeom prst="ellipse">
            <a:avLst/>
          </a:prstGeom>
          <a:solidFill>
            <a:srgbClr val="F2A93B"/>
          </a:solidFill>
          <a:ln w="12700">
            <a:solidFill>
              <a:srgbClr val="F2A93B"/>
            </a:solidFill>
            <a:prstDash val="solid"/>
          </a:ln>
        </p:spPr>
      </p:sp>
      <p:sp>
        <p:nvSpPr>
          <p:cNvPr id="11" name="Text 9"/>
          <p:cNvSpPr txBox="1"/>
          <p:nvPr/>
        </p:nvSpPr>
        <p:spPr>
          <a:xfrm>
            <a:off x="6647688" y="2432304"/>
            <a:ext cx="411480" cy="411480"/>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7214616" y="2231136"/>
            <a:ext cx="4151376" cy="493776"/>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La creación gime con dolores de parto</a:t>
            </a:r>
            <a:endParaRPr lang="en-US" sz="1600" dirty="0"/>
          </a:p>
        </p:txBody>
      </p:sp>
      <p:sp>
        <p:nvSpPr>
          <p:cNvPr id="13" name="Text 11"/>
          <p:cNvSpPr txBox="1"/>
          <p:nvPr/>
        </p:nvSpPr>
        <p:spPr>
          <a:xfrm>
            <a:off x="7214616" y="2761488"/>
            <a:ext cx="4151376" cy="274320"/>
          </a:xfrm>
          <a:prstGeom prst="rect">
            <a:avLst/>
          </a:prstGeom>
          <a:noFill/>
          <a:ln/>
        </p:spPr>
        <p:txBody>
          <a:bodyPr wrap="square" lIns="0" tIns="0" rIns="0" bIns="0" rtlCol="0" anchor="ctr"/>
          <a:lstStyle/>
          <a:p>
            <a:pPr indent="0" marL="0">
              <a:buNone/>
            </a:pPr>
            <a:r>
              <a:rPr lang="en-US" sz="1200" b="1" spc="100" kern="0" dirty="0">
                <a:solidFill>
                  <a:srgbClr val="F2A93B"/>
                </a:solidFill>
                <a:latin typeface="Calibri" pitchFamily="34" charset="0"/>
                <a:ea typeface="Calibri" pitchFamily="34" charset="-122"/>
                <a:cs typeface="Calibri" pitchFamily="34" charset="-120"/>
              </a:rPr>
              <a:t>Romanos 8:22</a:t>
            </a:r>
            <a:endParaRPr lang="en-US" sz="1200" dirty="0"/>
          </a:p>
        </p:txBody>
      </p:sp>
      <p:sp>
        <p:nvSpPr>
          <p:cNvPr id="14" name="Shape 12"/>
          <p:cNvSpPr/>
          <p:nvPr/>
        </p:nvSpPr>
        <p:spPr>
          <a:xfrm>
            <a:off x="822960" y="3364992"/>
            <a:ext cx="5248656" cy="1115568"/>
          </a:xfrm>
          <a:prstGeom prst="roundRect">
            <a:avLst>
              <a:gd name="adj" fmla="val 8197"/>
            </a:avLst>
          </a:prstGeom>
          <a:solidFill>
            <a:srgbClr val="232D3F"/>
          </a:solidFill>
          <a:ln w="12700">
            <a:solidFill>
              <a:srgbClr val="232D3F"/>
            </a:solidFill>
            <a:prstDash val="solid"/>
          </a:ln>
        </p:spPr>
      </p:sp>
      <p:sp>
        <p:nvSpPr>
          <p:cNvPr id="15" name="Shape 13"/>
          <p:cNvSpPr/>
          <p:nvPr/>
        </p:nvSpPr>
        <p:spPr>
          <a:xfrm>
            <a:off x="1078992" y="3694176"/>
            <a:ext cx="411480" cy="411480"/>
          </a:xfrm>
          <a:prstGeom prst="ellipse">
            <a:avLst/>
          </a:prstGeom>
          <a:solidFill>
            <a:srgbClr val="F2A93B"/>
          </a:solidFill>
          <a:ln w="12700">
            <a:solidFill>
              <a:srgbClr val="F2A93B"/>
            </a:solidFill>
            <a:prstDash val="solid"/>
          </a:ln>
        </p:spPr>
      </p:sp>
      <p:sp>
        <p:nvSpPr>
          <p:cNvPr id="16" name="Text 14"/>
          <p:cNvSpPr txBox="1"/>
          <p:nvPr/>
        </p:nvSpPr>
        <p:spPr>
          <a:xfrm>
            <a:off x="1078992" y="3694176"/>
            <a:ext cx="411480" cy="411480"/>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645920" y="3493008"/>
            <a:ext cx="4151376" cy="493776"/>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Hay un orden natural que Dios sostiene</a:t>
            </a:r>
            <a:endParaRPr lang="en-US" sz="1600" dirty="0"/>
          </a:p>
        </p:txBody>
      </p:sp>
      <p:sp>
        <p:nvSpPr>
          <p:cNvPr id="18" name="Text 16"/>
          <p:cNvSpPr txBox="1"/>
          <p:nvPr/>
        </p:nvSpPr>
        <p:spPr>
          <a:xfrm>
            <a:off x="1645920" y="4023360"/>
            <a:ext cx="4151376" cy="274320"/>
          </a:xfrm>
          <a:prstGeom prst="rect">
            <a:avLst/>
          </a:prstGeom>
          <a:noFill/>
          <a:ln/>
        </p:spPr>
        <p:txBody>
          <a:bodyPr wrap="square" lIns="0" tIns="0" rIns="0" bIns="0" rtlCol="0" anchor="ctr"/>
          <a:lstStyle/>
          <a:p>
            <a:pPr indent="0" marL="0">
              <a:buNone/>
            </a:pPr>
            <a:r>
              <a:rPr lang="en-US" sz="1200" b="1" spc="100" kern="0" dirty="0">
                <a:solidFill>
                  <a:srgbClr val="F2A93B"/>
                </a:solidFill>
                <a:latin typeface="Calibri" pitchFamily="34" charset="0"/>
                <a:ea typeface="Calibri" pitchFamily="34" charset="-122"/>
                <a:cs typeface="Calibri" pitchFamily="34" charset="-120"/>
              </a:rPr>
              <a:t>Génesis 8:22</a:t>
            </a:r>
            <a:endParaRPr lang="en-US" sz="1200" dirty="0"/>
          </a:p>
        </p:txBody>
      </p:sp>
      <p:sp>
        <p:nvSpPr>
          <p:cNvPr id="19" name="Shape 17"/>
          <p:cNvSpPr/>
          <p:nvPr/>
        </p:nvSpPr>
        <p:spPr>
          <a:xfrm>
            <a:off x="6391656" y="3364992"/>
            <a:ext cx="5248656" cy="1115568"/>
          </a:xfrm>
          <a:prstGeom prst="roundRect">
            <a:avLst>
              <a:gd name="adj" fmla="val 8197"/>
            </a:avLst>
          </a:prstGeom>
          <a:solidFill>
            <a:srgbClr val="F2A93B"/>
          </a:solidFill>
          <a:ln w="12700">
            <a:solidFill>
              <a:srgbClr val="F2A93B"/>
            </a:solidFill>
            <a:prstDash val="solid"/>
          </a:ln>
        </p:spPr>
      </p:sp>
      <p:sp>
        <p:nvSpPr>
          <p:cNvPr id="20" name="Shape 18"/>
          <p:cNvSpPr/>
          <p:nvPr/>
        </p:nvSpPr>
        <p:spPr>
          <a:xfrm>
            <a:off x="6647688" y="3694176"/>
            <a:ext cx="411480" cy="411480"/>
          </a:xfrm>
          <a:prstGeom prst="ellipse">
            <a:avLst/>
          </a:prstGeom>
          <a:solidFill>
            <a:srgbClr val="0E121A"/>
          </a:solidFill>
          <a:ln w="12700">
            <a:solidFill>
              <a:srgbClr val="0E121A"/>
            </a:solidFill>
            <a:prstDash val="solid"/>
          </a:ln>
        </p:spPr>
      </p:sp>
      <p:sp>
        <p:nvSpPr>
          <p:cNvPr id="21" name="Text 19"/>
          <p:cNvSpPr txBox="1"/>
          <p:nvPr/>
        </p:nvSpPr>
        <p:spPr>
          <a:xfrm>
            <a:off x="6647688" y="3694176"/>
            <a:ext cx="411480" cy="411480"/>
          </a:xfrm>
          <a:prstGeom prst="rect">
            <a:avLst/>
          </a:prstGeom>
          <a:noFill/>
          <a:ln/>
        </p:spPr>
        <p:txBody>
          <a:bodyPr wrap="square" lIns="0" tIns="0" rIns="0" bIns="0" rtlCol="0" anchor="ctr"/>
          <a:lstStyle/>
          <a:p>
            <a:pPr algn="ctr" indent="0" marL="0">
              <a:buNone/>
            </a:pPr>
            <a:r>
              <a:rPr lang="en-US" sz="1400" b="1" dirty="0">
                <a:solidFill>
                  <a:srgbClr val="F2A93B"/>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7214616" y="3493008"/>
            <a:ext cx="4151376" cy="493776"/>
          </a:xfrm>
          <a:prstGeom prst="rect">
            <a:avLst/>
          </a:prstGeom>
          <a:noFill/>
          <a:ln/>
        </p:spPr>
        <p:txBody>
          <a:bodyPr wrap="square" lIns="0" tIns="0" rIns="0" bIns="0" rtlCol="0" anchor="t"/>
          <a:lstStyle/>
          <a:p>
            <a:pPr indent="0" marL="0">
              <a:buNone/>
            </a:pPr>
            <a:r>
              <a:rPr lang="en-US" sz="1600" b="1" dirty="0">
                <a:solidFill>
                  <a:srgbClr val="0E121A"/>
                </a:solidFill>
                <a:latin typeface="Calibri" pitchFamily="34" charset="0"/>
                <a:ea typeface="Calibri" pitchFamily="34" charset="-122"/>
                <a:cs typeface="Calibri" pitchFamily="34" charset="-120"/>
              </a:rPr>
              <a:t>La Biblia prohíbe culpar a la víctima</a:t>
            </a:r>
            <a:endParaRPr lang="en-US" sz="1600" dirty="0"/>
          </a:p>
        </p:txBody>
      </p:sp>
      <p:sp>
        <p:nvSpPr>
          <p:cNvPr id="23" name="Text 21"/>
          <p:cNvSpPr txBox="1"/>
          <p:nvPr/>
        </p:nvSpPr>
        <p:spPr>
          <a:xfrm>
            <a:off x="7214616" y="4023360"/>
            <a:ext cx="4151376" cy="274320"/>
          </a:xfrm>
          <a:prstGeom prst="rect">
            <a:avLst/>
          </a:prstGeom>
          <a:noFill/>
          <a:ln/>
        </p:spPr>
        <p:txBody>
          <a:bodyPr wrap="square" lIns="0" tIns="0" rIns="0" bIns="0" rtlCol="0" anchor="ctr"/>
          <a:lstStyle/>
          <a:p>
            <a:pPr indent="0" marL="0">
              <a:buNone/>
            </a:pPr>
            <a:r>
              <a:rPr lang="en-US" sz="1200" b="1" spc="100" kern="0" dirty="0">
                <a:solidFill>
                  <a:srgbClr val="4A3410"/>
                </a:solidFill>
                <a:latin typeface="Calibri" pitchFamily="34" charset="0"/>
                <a:ea typeface="Calibri" pitchFamily="34" charset="-122"/>
                <a:cs typeface="Calibri" pitchFamily="34" charset="-120"/>
              </a:rPr>
              <a:t>Lucas 13:1-5</a:t>
            </a:r>
            <a:endParaRPr lang="en-US" sz="1200" dirty="0"/>
          </a:p>
        </p:txBody>
      </p:sp>
      <p:sp>
        <p:nvSpPr>
          <p:cNvPr id="24" name="Shape 22"/>
          <p:cNvSpPr/>
          <p:nvPr/>
        </p:nvSpPr>
        <p:spPr>
          <a:xfrm>
            <a:off x="822960" y="4626864"/>
            <a:ext cx="5248656" cy="1115568"/>
          </a:xfrm>
          <a:prstGeom prst="roundRect">
            <a:avLst>
              <a:gd name="adj" fmla="val 8197"/>
            </a:avLst>
          </a:prstGeom>
          <a:solidFill>
            <a:srgbClr val="232D3F"/>
          </a:solidFill>
          <a:ln w="12700">
            <a:solidFill>
              <a:srgbClr val="232D3F"/>
            </a:solidFill>
            <a:prstDash val="solid"/>
          </a:ln>
        </p:spPr>
      </p:sp>
      <p:sp>
        <p:nvSpPr>
          <p:cNvPr id="25" name="Shape 23"/>
          <p:cNvSpPr/>
          <p:nvPr/>
        </p:nvSpPr>
        <p:spPr>
          <a:xfrm>
            <a:off x="1078992" y="4956048"/>
            <a:ext cx="411480" cy="411480"/>
          </a:xfrm>
          <a:prstGeom prst="ellipse">
            <a:avLst/>
          </a:prstGeom>
          <a:solidFill>
            <a:srgbClr val="F2A93B"/>
          </a:solidFill>
          <a:ln w="12700">
            <a:solidFill>
              <a:srgbClr val="F2A93B"/>
            </a:solidFill>
            <a:prstDash val="solid"/>
          </a:ln>
        </p:spPr>
      </p:sp>
      <p:sp>
        <p:nvSpPr>
          <p:cNvPr id="26" name="Text 24"/>
          <p:cNvSpPr txBox="1"/>
          <p:nvPr/>
        </p:nvSpPr>
        <p:spPr>
          <a:xfrm>
            <a:off x="1078992" y="4956048"/>
            <a:ext cx="411480" cy="411480"/>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645920" y="4754880"/>
            <a:ext cx="4151376" cy="493776"/>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Dios habla, pero no se reduce al fenómeno</a:t>
            </a:r>
            <a:endParaRPr lang="en-US" sz="1600" dirty="0"/>
          </a:p>
        </p:txBody>
      </p:sp>
      <p:sp>
        <p:nvSpPr>
          <p:cNvPr id="28" name="Text 26"/>
          <p:cNvSpPr txBox="1"/>
          <p:nvPr/>
        </p:nvSpPr>
        <p:spPr>
          <a:xfrm>
            <a:off x="1645920" y="5285232"/>
            <a:ext cx="4151376" cy="274320"/>
          </a:xfrm>
          <a:prstGeom prst="rect">
            <a:avLst/>
          </a:prstGeom>
          <a:noFill/>
          <a:ln/>
        </p:spPr>
        <p:txBody>
          <a:bodyPr wrap="square" lIns="0" tIns="0" rIns="0" bIns="0" rtlCol="0" anchor="ctr"/>
          <a:lstStyle/>
          <a:p>
            <a:pPr indent="0" marL="0">
              <a:buNone/>
            </a:pPr>
            <a:r>
              <a:rPr lang="en-US" sz="1200" b="1" spc="100" kern="0" dirty="0">
                <a:solidFill>
                  <a:srgbClr val="F2A93B"/>
                </a:solidFill>
                <a:latin typeface="Calibri" pitchFamily="34" charset="0"/>
                <a:ea typeface="Calibri" pitchFamily="34" charset="-122"/>
                <a:cs typeface="Calibri" pitchFamily="34" charset="-120"/>
              </a:rPr>
              <a:t>1 Reyes 19:11-12</a:t>
            </a:r>
            <a:endParaRPr lang="en-US" sz="1200" dirty="0"/>
          </a:p>
        </p:txBody>
      </p:sp>
      <p:sp>
        <p:nvSpPr>
          <p:cNvPr id="29" name="Shape 27"/>
          <p:cNvSpPr/>
          <p:nvPr/>
        </p:nvSpPr>
        <p:spPr>
          <a:xfrm>
            <a:off x="6391656" y="4626864"/>
            <a:ext cx="5248656" cy="1115568"/>
          </a:xfrm>
          <a:prstGeom prst="roundRect">
            <a:avLst>
              <a:gd name="adj" fmla="val 8197"/>
            </a:avLst>
          </a:prstGeom>
          <a:solidFill>
            <a:srgbClr val="232D3F"/>
          </a:solidFill>
          <a:ln w="12700">
            <a:solidFill>
              <a:srgbClr val="232D3F"/>
            </a:solidFill>
            <a:prstDash val="solid"/>
          </a:ln>
        </p:spPr>
      </p:sp>
      <p:sp>
        <p:nvSpPr>
          <p:cNvPr id="30" name="Shape 28"/>
          <p:cNvSpPr/>
          <p:nvPr/>
        </p:nvSpPr>
        <p:spPr>
          <a:xfrm>
            <a:off x="6647688" y="4956048"/>
            <a:ext cx="411480" cy="411480"/>
          </a:xfrm>
          <a:prstGeom prst="ellipse">
            <a:avLst/>
          </a:prstGeom>
          <a:solidFill>
            <a:srgbClr val="F2A93B"/>
          </a:solidFill>
          <a:ln w="12700">
            <a:solidFill>
              <a:srgbClr val="F2A93B"/>
            </a:solidFill>
            <a:prstDash val="solid"/>
          </a:ln>
        </p:spPr>
      </p:sp>
      <p:sp>
        <p:nvSpPr>
          <p:cNvPr id="31" name="Text 29"/>
          <p:cNvSpPr txBox="1"/>
          <p:nvPr/>
        </p:nvSpPr>
        <p:spPr>
          <a:xfrm>
            <a:off x="6647688" y="4956048"/>
            <a:ext cx="411480" cy="411480"/>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7214616" y="4754880"/>
            <a:ext cx="4151376" cy="493776"/>
          </a:xfrm>
          <a:prstGeom prst="rect">
            <a:avLst/>
          </a:prstGeom>
          <a:noFill/>
          <a:ln/>
        </p:spPr>
        <p:txBody>
          <a:bodyPr wrap="square" lIns="0" tIns="0" rIns="0" bIns="0" rtlCol="0" anchor="t"/>
          <a:lstStyle/>
          <a:p>
            <a:pPr indent="0" marL="0">
              <a:buNone/>
            </a:pPr>
            <a:r>
              <a:rPr lang="en-US" sz="1600" b="1" dirty="0">
                <a:solidFill>
                  <a:srgbClr val="F6F2E9"/>
                </a:solidFill>
                <a:latin typeface="Calibri" pitchFamily="34" charset="0"/>
                <a:ea typeface="Calibri" pitchFamily="34" charset="-122"/>
                <a:cs typeface="Calibri" pitchFamily="34" charset="-120"/>
              </a:rPr>
              <a:t>La historia no termina en catástrofe</a:t>
            </a:r>
            <a:endParaRPr lang="en-US" sz="1600" dirty="0"/>
          </a:p>
        </p:txBody>
      </p:sp>
      <p:sp>
        <p:nvSpPr>
          <p:cNvPr id="33" name="Text 31"/>
          <p:cNvSpPr txBox="1"/>
          <p:nvPr/>
        </p:nvSpPr>
        <p:spPr>
          <a:xfrm>
            <a:off x="7214616" y="5285232"/>
            <a:ext cx="4151376" cy="274320"/>
          </a:xfrm>
          <a:prstGeom prst="rect">
            <a:avLst/>
          </a:prstGeom>
          <a:noFill/>
          <a:ln/>
        </p:spPr>
        <p:txBody>
          <a:bodyPr wrap="square" lIns="0" tIns="0" rIns="0" bIns="0" rtlCol="0" anchor="ctr"/>
          <a:lstStyle/>
          <a:p>
            <a:pPr indent="0" marL="0">
              <a:buNone/>
            </a:pPr>
            <a:r>
              <a:rPr lang="en-US" sz="1200" b="1" spc="100" kern="0" dirty="0">
                <a:solidFill>
                  <a:srgbClr val="F2A93B"/>
                </a:solidFill>
                <a:latin typeface="Calibri" pitchFamily="34" charset="0"/>
                <a:ea typeface="Calibri" pitchFamily="34" charset="-122"/>
                <a:cs typeface="Calibri" pitchFamily="34" charset="-120"/>
              </a:rPr>
              <a:t>Apocalipsis 21:4</a:t>
            </a:r>
            <a:endParaRPr lang="en-US" sz="1200" dirty="0"/>
          </a:p>
        </p:txBody>
      </p:sp>
      <p:sp>
        <p:nvSpPr>
          <p:cNvPr id="34" name="Text 32"/>
          <p:cNvSpPr txBox="1"/>
          <p:nvPr/>
        </p:nvSpPr>
        <p:spPr>
          <a:xfrm>
            <a:off x="822960" y="5870448"/>
            <a:ext cx="10543032" cy="777240"/>
          </a:xfrm>
          <a:prstGeom prst="rect">
            <a:avLst/>
          </a:prstGeom>
          <a:noFill/>
          <a:ln/>
        </p:spPr>
        <p:txBody>
          <a:bodyPr wrap="square" lIns="0" tIns="0" rIns="0" bIns="0" rtlCol="0" anchor="ctr"/>
          <a:lstStyle/>
          <a:p>
            <a:pPr indent="0" marL="0">
              <a:buNone/>
            </a:pPr>
            <a:r>
              <a:rPr lang="en-US" sz="2100" b="1" dirty="0">
                <a:solidFill>
                  <a:srgbClr val="F2A93B"/>
                </a:solidFill>
                <a:latin typeface="Cambria" pitchFamily="34" charset="0"/>
                <a:ea typeface="Cambria" pitchFamily="34" charset="-122"/>
                <a:cs typeface="Cambria" pitchFamily="34" charset="-120"/>
              </a:rPr>
              <a:t>No explique por qué Dios lo mandó.</a:t>
            </a:r>
            <a:endParaRPr lang="en-US" sz="2100" dirty="0"/>
          </a:p>
          <a:p>
            <a:pPr indent="0" marL="0">
              <a:buNone/>
            </a:pPr>
            <a:r>
              <a:rPr lang="en-US" sz="2100" b="1" dirty="0">
                <a:solidFill>
                  <a:srgbClr val="F2A93B"/>
                </a:solidFill>
                <a:latin typeface="Cambria" pitchFamily="34" charset="0"/>
                <a:ea typeface="Cambria" pitchFamily="34" charset="-122"/>
                <a:cs typeface="Cambria" pitchFamily="34" charset="-120"/>
              </a:rPr>
              <a:t>Salga con agua, con comida y con brazos.</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8321040" y="3017520"/>
            <a:ext cx="4754880" cy="4754880"/>
          </a:xfrm>
          <a:prstGeom prst="ellipse">
            <a:avLst/>
          </a:prstGeom>
          <a:solidFill>
            <a:srgbClr val="0E121A"/>
          </a:solidFill>
          <a:ln w="15875">
            <a:solidFill>
              <a:srgbClr val="F2A93B"/>
            </a:solidFill>
            <a:prstDash val="solid"/>
          </a:ln>
        </p:spPr>
      </p:sp>
      <p:sp>
        <p:nvSpPr>
          <p:cNvPr id="3" name="Shape 1"/>
          <p:cNvSpPr/>
          <p:nvPr/>
        </p:nvSpPr>
        <p:spPr>
          <a:xfrm>
            <a:off x="8915400" y="3611880"/>
            <a:ext cx="3566160" cy="3566160"/>
          </a:xfrm>
          <a:prstGeom prst="ellipse">
            <a:avLst/>
          </a:prstGeom>
          <a:solidFill>
            <a:srgbClr val="0E121A"/>
          </a:solidFill>
          <a:ln w="15875">
            <a:solidFill>
              <a:srgbClr val="F2A93B"/>
            </a:solidFill>
            <a:prstDash val="solid"/>
          </a:ln>
        </p:spPr>
      </p:sp>
      <p:sp>
        <p:nvSpPr>
          <p:cNvPr id="4" name="Shape 2"/>
          <p:cNvSpPr/>
          <p:nvPr/>
        </p:nvSpPr>
        <p:spPr>
          <a:xfrm>
            <a:off x="9464040" y="4160520"/>
            <a:ext cx="2468880" cy="2468880"/>
          </a:xfrm>
          <a:prstGeom prst="ellipse">
            <a:avLst/>
          </a:prstGeom>
          <a:solidFill>
            <a:srgbClr val="0E121A"/>
          </a:solidFill>
          <a:ln w="15875">
            <a:solidFill>
              <a:srgbClr val="F2A93B"/>
            </a:solidFill>
            <a:prstDash val="solid"/>
          </a:ln>
        </p:spPr>
      </p:sp>
      <p:sp>
        <p:nvSpPr>
          <p:cNvPr id="5" name="Shape 3"/>
          <p:cNvSpPr/>
          <p:nvPr/>
        </p:nvSpPr>
        <p:spPr>
          <a:xfrm>
            <a:off x="9966960" y="4663440"/>
            <a:ext cx="1463040" cy="1463040"/>
          </a:xfrm>
          <a:prstGeom prst="ellipse">
            <a:avLst/>
          </a:prstGeom>
          <a:solidFill>
            <a:srgbClr val="0E121A"/>
          </a:solidFill>
          <a:ln w="15875">
            <a:solidFill>
              <a:srgbClr val="F2A93B"/>
            </a:solidFill>
            <a:prstDash val="solid"/>
          </a:ln>
        </p:spPr>
      </p:sp>
      <p:sp>
        <p:nvSpPr>
          <p:cNvPr id="6" name="Text 4"/>
          <p:cNvSpPr txBox="1"/>
          <p:nvPr/>
        </p:nvSpPr>
        <p:spPr>
          <a:xfrm>
            <a:off x="822960" y="1371600"/>
            <a:ext cx="201168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01</a:t>
            </a:r>
            <a:endParaRPr lang="en-US" sz="9600" dirty="0"/>
          </a:p>
        </p:txBody>
      </p:sp>
      <p:sp>
        <p:nvSpPr>
          <p:cNvPr id="7" name="Text 5"/>
          <p:cNvSpPr txBox="1"/>
          <p:nvPr/>
        </p:nvSpPr>
        <p:spPr>
          <a:xfrm>
            <a:off x="822960" y="2788920"/>
            <a:ext cx="8503920" cy="2011680"/>
          </a:xfrm>
          <a:prstGeom prst="rect">
            <a:avLst/>
          </a:prstGeom>
          <a:noFill/>
          <a:ln/>
        </p:spPr>
        <p:txBody>
          <a:bodyPr wrap="square" lIns="0" tIns="0" rIns="0" bIns="0" rtlCol="0" anchor="t"/>
          <a:lstStyle/>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Medidas de seguridad</a:t>
            </a:r>
            <a:endParaRPr lang="en-US" sz="4000" dirty="0"/>
          </a:p>
        </p:txBody>
      </p:sp>
      <p:sp>
        <p:nvSpPr>
          <p:cNvPr id="8" name="Text 6"/>
          <p:cNvSpPr txBox="1"/>
          <p:nvPr/>
        </p:nvSpPr>
        <p:spPr>
          <a:xfrm>
            <a:off x="822960" y="4983480"/>
            <a:ext cx="8503920" cy="457200"/>
          </a:xfrm>
          <a:prstGeom prst="rect">
            <a:avLst/>
          </a:prstGeom>
          <a:noFill/>
          <a:ln/>
        </p:spPr>
        <p:txBody>
          <a:bodyPr wrap="square" lIns="0" tIns="0" rIns="0" bIns="0" rtlCol="0" anchor="ctr"/>
          <a:lstStyle/>
          <a:p>
            <a:pPr indent="0" marL="0">
              <a:buNone/>
            </a:pPr>
            <a:r>
              <a:rPr lang="en-US" sz="1600" dirty="0">
                <a:solidFill>
                  <a:srgbClr val="99A3B6"/>
                </a:solidFill>
                <a:latin typeface="Calibri" pitchFamily="34" charset="0"/>
                <a:ea typeface="Calibri" pitchFamily="34" charset="-122"/>
                <a:cs typeface="Calibri" pitchFamily="34" charset="-120"/>
              </a:rPr>
              <a:t>Terremotos · Ciclones · Incendios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87722"/>
                </a:solidFill>
                <a:latin typeface="Calibri" pitchFamily="34" charset="0"/>
                <a:ea typeface="Calibri" pitchFamily="34" charset="-122"/>
                <a:cs typeface="Calibri" pitchFamily="34" charset="-120"/>
              </a:rPr>
              <a:t>TERREMOTO · DURANTE</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Las tres palabras que salvan vida</a:t>
            </a:r>
            <a:endParaRPr lang="en-US" sz="3800" dirty="0"/>
          </a:p>
        </p:txBody>
      </p:sp>
      <p:sp>
        <p:nvSpPr>
          <p:cNvPr id="4" name="Shape 2"/>
          <p:cNvSpPr/>
          <p:nvPr/>
        </p:nvSpPr>
        <p:spPr>
          <a:xfrm>
            <a:off x="822960" y="2240280"/>
            <a:ext cx="3364992" cy="2880360"/>
          </a:xfrm>
          <a:prstGeom prst="roundRect">
            <a:avLst>
              <a:gd name="adj" fmla="val 3175"/>
            </a:avLst>
          </a:prstGeom>
          <a:solidFill>
            <a:srgbClr val="232D3F"/>
          </a:solidFill>
          <a:ln w="12700">
            <a:solidFill>
              <a:srgbClr val="232D3F"/>
            </a:solidFill>
            <a:prstDash val="solid"/>
          </a:ln>
        </p:spPr>
      </p:sp>
      <p:sp>
        <p:nvSpPr>
          <p:cNvPr id="5" name="Shape 3"/>
          <p:cNvSpPr/>
          <p:nvPr/>
        </p:nvSpPr>
        <p:spPr>
          <a:xfrm>
            <a:off x="2203704" y="2606040"/>
            <a:ext cx="603504" cy="603504"/>
          </a:xfrm>
          <a:prstGeom prst="ellipse">
            <a:avLst/>
          </a:prstGeom>
          <a:solidFill>
            <a:srgbClr val="E87722"/>
          </a:solidFill>
          <a:ln w="12700">
            <a:solidFill>
              <a:srgbClr val="E87722"/>
            </a:solidFill>
            <a:prstDash val="solid"/>
          </a:ln>
        </p:spPr>
      </p:sp>
      <p:sp>
        <p:nvSpPr>
          <p:cNvPr id="6" name="Text 4"/>
          <p:cNvSpPr txBox="1"/>
          <p:nvPr/>
        </p:nvSpPr>
        <p:spPr>
          <a:xfrm>
            <a:off x="2203704" y="2606040"/>
            <a:ext cx="603504" cy="603504"/>
          </a:xfrm>
          <a:prstGeom prst="rect">
            <a:avLst/>
          </a:prstGeom>
          <a:noFill/>
          <a:ln/>
        </p:spPr>
        <p:txBody>
          <a:bodyPr wrap="square" lIns="0" tIns="0" rIns="0" bIns="0" rtlCol="0" anchor="ctr"/>
          <a:lstStyle/>
          <a:p>
            <a:pPr algn="ctr" indent="0" marL="0">
              <a:buNone/>
            </a:pPr>
            <a:r>
              <a:rPr lang="en-US" sz="2200" b="1" dirty="0">
                <a:solidFill>
                  <a:srgbClr val="0E121A"/>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960120" y="3429000"/>
            <a:ext cx="3090672" cy="548640"/>
          </a:xfrm>
          <a:prstGeom prst="rect">
            <a:avLst/>
          </a:prstGeom>
          <a:noFill/>
          <a:ln/>
        </p:spPr>
        <p:txBody>
          <a:bodyPr wrap="square" lIns="0" tIns="0" rIns="0" bIns="0" rtlCol="0" anchor="ctr"/>
          <a:lstStyle/>
          <a:p>
            <a:pPr algn="ctr" indent="0" marL="0">
              <a:buNone/>
            </a:pPr>
            <a:r>
              <a:rPr lang="en-US" sz="2500" b="1" dirty="0">
                <a:solidFill>
                  <a:srgbClr val="E87722"/>
                </a:solidFill>
                <a:latin typeface="Cambria" pitchFamily="34" charset="0"/>
                <a:ea typeface="Cambria" pitchFamily="34" charset="-122"/>
                <a:cs typeface="Cambria" pitchFamily="34" charset="-120"/>
              </a:rPr>
              <a:t>AGÁCHESE</a:t>
            </a:r>
            <a:endParaRPr lang="en-US" sz="2500" dirty="0"/>
          </a:p>
        </p:txBody>
      </p:sp>
      <p:sp>
        <p:nvSpPr>
          <p:cNvPr id="8" name="Text 6"/>
          <p:cNvSpPr txBox="1"/>
          <p:nvPr/>
        </p:nvSpPr>
        <p:spPr>
          <a:xfrm>
            <a:off x="1143000" y="4023360"/>
            <a:ext cx="2724912" cy="914400"/>
          </a:xfrm>
          <a:prstGeom prst="rect">
            <a:avLst/>
          </a:prstGeom>
          <a:noFill/>
          <a:ln/>
        </p:spPr>
        <p:txBody>
          <a:bodyPr wrap="square" lIns="0" tIns="0" rIns="0" bIns="0" rtlCol="0" anchor="t"/>
          <a:lstStyle/>
          <a:p>
            <a:pPr algn="ctr" indent="0" marL="0">
              <a:buNone/>
            </a:pPr>
            <a:r>
              <a:rPr lang="en-US" sz="1500" dirty="0">
                <a:solidFill>
                  <a:srgbClr val="99A3B6"/>
                </a:solidFill>
                <a:latin typeface="Calibri" pitchFamily="34" charset="0"/>
                <a:ea typeface="Calibri" pitchFamily="34" charset="-122"/>
                <a:cs typeface="Calibri" pitchFamily="34" charset="-120"/>
              </a:rPr>
              <a:t>Al piso, antes de que el sismo lo tumbe.</a:t>
            </a:r>
            <a:endParaRPr lang="en-US" sz="1500" dirty="0"/>
          </a:p>
        </p:txBody>
      </p:sp>
      <p:sp>
        <p:nvSpPr>
          <p:cNvPr id="9" name="Shape 7"/>
          <p:cNvSpPr/>
          <p:nvPr/>
        </p:nvSpPr>
        <p:spPr>
          <a:xfrm>
            <a:off x="4507992" y="2240280"/>
            <a:ext cx="3364992" cy="2880360"/>
          </a:xfrm>
          <a:prstGeom prst="roundRect">
            <a:avLst>
              <a:gd name="adj" fmla="val 3175"/>
            </a:avLst>
          </a:prstGeom>
          <a:solidFill>
            <a:srgbClr val="232D3F"/>
          </a:solidFill>
          <a:ln w="12700">
            <a:solidFill>
              <a:srgbClr val="232D3F"/>
            </a:solidFill>
            <a:prstDash val="solid"/>
          </a:ln>
        </p:spPr>
      </p:sp>
      <p:sp>
        <p:nvSpPr>
          <p:cNvPr id="10" name="Shape 8"/>
          <p:cNvSpPr/>
          <p:nvPr/>
        </p:nvSpPr>
        <p:spPr>
          <a:xfrm>
            <a:off x="5888736" y="2606040"/>
            <a:ext cx="603504" cy="603504"/>
          </a:xfrm>
          <a:prstGeom prst="ellipse">
            <a:avLst/>
          </a:prstGeom>
          <a:solidFill>
            <a:srgbClr val="E87722"/>
          </a:solidFill>
          <a:ln w="12700">
            <a:solidFill>
              <a:srgbClr val="E87722"/>
            </a:solidFill>
            <a:prstDash val="solid"/>
          </a:ln>
        </p:spPr>
      </p:sp>
      <p:sp>
        <p:nvSpPr>
          <p:cNvPr id="11" name="Text 9"/>
          <p:cNvSpPr txBox="1"/>
          <p:nvPr/>
        </p:nvSpPr>
        <p:spPr>
          <a:xfrm>
            <a:off x="5888736" y="2606040"/>
            <a:ext cx="603504" cy="603504"/>
          </a:xfrm>
          <a:prstGeom prst="rect">
            <a:avLst/>
          </a:prstGeom>
          <a:noFill/>
          <a:ln/>
        </p:spPr>
        <p:txBody>
          <a:bodyPr wrap="square" lIns="0" tIns="0" rIns="0" bIns="0" rtlCol="0" anchor="ctr"/>
          <a:lstStyle/>
          <a:p>
            <a:pPr algn="ctr" indent="0" marL="0">
              <a:buNone/>
            </a:pPr>
            <a:r>
              <a:rPr lang="en-US" sz="2200" b="1" dirty="0">
                <a:solidFill>
                  <a:srgbClr val="0E121A"/>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4645152" y="3429000"/>
            <a:ext cx="3090672" cy="548640"/>
          </a:xfrm>
          <a:prstGeom prst="rect">
            <a:avLst/>
          </a:prstGeom>
          <a:noFill/>
          <a:ln/>
        </p:spPr>
        <p:txBody>
          <a:bodyPr wrap="square" lIns="0" tIns="0" rIns="0" bIns="0" rtlCol="0" anchor="ctr"/>
          <a:lstStyle/>
          <a:p>
            <a:pPr algn="ctr" indent="0" marL="0">
              <a:buNone/>
            </a:pPr>
            <a:r>
              <a:rPr lang="en-US" sz="2500" b="1" dirty="0">
                <a:solidFill>
                  <a:srgbClr val="E87722"/>
                </a:solidFill>
                <a:latin typeface="Cambria" pitchFamily="34" charset="0"/>
                <a:ea typeface="Cambria" pitchFamily="34" charset="-122"/>
                <a:cs typeface="Cambria" pitchFamily="34" charset="-120"/>
              </a:rPr>
              <a:t>CÚBRASE</a:t>
            </a:r>
            <a:endParaRPr lang="en-US" sz="2500" dirty="0"/>
          </a:p>
        </p:txBody>
      </p:sp>
      <p:sp>
        <p:nvSpPr>
          <p:cNvPr id="13" name="Text 11"/>
          <p:cNvSpPr txBox="1"/>
          <p:nvPr/>
        </p:nvSpPr>
        <p:spPr>
          <a:xfrm>
            <a:off x="4828032" y="4023360"/>
            <a:ext cx="2724912" cy="914400"/>
          </a:xfrm>
          <a:prstGeom prst="rect">
            <a:avLst/>
          </a:prstGeom>
          <a:noFill/>
          <a:ln/>
        </p:spPr>
        <p:txBody>
          <a:bodyPr wrap="square" lIns="0" tIns="0" rIns="0" bIns="0" rtlCol="0" anchor="t"/>
          <a:lstStyle/>
          <a:p>
            <a:pPr algn="ctr" indent="0" marL="0">
              <a:buNone/>
            </a:pPr>
            <a:r>
              <a:rPr lang="en-US" sz="1500" dirty="0">
                <a:solidFill>
                  <a:srgbClr val="99A3B6"/>
                </a:solidFill>
                <a:latin typeface="Calibri" pitchFamily="34" charset="0"/>
                <a:ea typeface="Calibri" pitchFamily="34" charset="-122"/>
                <a:cs typeface="Calibri" pitchFamily="34" charset="-120"/>
              </a:rPr>
              <a:t>Cabeza y cuello. Bajo una mesa firme.</a:t>
            </a:r>
            <a:endParaRPr lang="en-US" sz="1500" dirty="0"/>
          </a:p>
        </p:txBody>
      </p:sp>
      <p:sp>
        <p:nvSpPr>
          <p:cNvPr id="14" name="Shape 12"/>
          <p:cNvSpPr/>
          <p:nvPr/>
        </p:nvSpPr>
        <p:spPr>
          <a:xfrm>
            <a:off x="8193024" y="2240280"/>
            <a:ext cx="3364992" cy="2880360"/>
          </a:xfrm>
          <a:prstGeom prst="roundRect">
            <a:avLst>
              <a:gd name="adj" fmla="val 3175"/>
            </a:avLst>
          </a:prstGeom>
          <a:solidFill>
            <a:srgbClr val="232D3F"/>
          </a:solidFill>
          <a:ln w="12700">
            <a:solidFill>
              <a:srgbClr val="232D3F"/>
            </a:solidFill>
            <a:prstDash val="solid"/>
          </a:ln>
        </p:spPr>
      </p:sp>
      <p:sp>
        <p:nvSpPr>
          <p:cNvPr id="15" name="Shape 13"/>
          <p:cNvSpPr/>
          <p:nvPr/>
        </p:nvSpPr>
        <p:spPr>
          <a:xfrm>
            <a:off x="9573768" y="2606040"/>
            <a:ext cx="603504" cy="603504"/>
          </a:xfrm>
          <a:prstGeom prst="ellipse">
            <a:avLst/>
          </a:prstGeom>
          <a:solidFill>
            <a:srgbClr val="E87722"/>
          </a:solidFill>
          <a:ln w="12700">
            <a:solidFill>
              <a:srgbClr val="E87722"/>
            </a:solidFill>
            <a:prstDash val="solid"/>
          </a:ln>
        </p:spPr>
      </p:sp>
      <p:sp>
        <p:nvSpPr>
          <p:cNvPr id="16" name="Text 14"/>
          <p:cNvSpPr txBox="1"/>
          <p:nvPr/>
        </p:nvSpPr>
        <p:spPr>
          <a:xfrm>
            <a:off x="9573768" y="2606040"/>
            <a:ext cx="603504" cy="603504"/>
          </a:xfrm>
          <a:prstGeom prst="rect">
            <a:avLst/>
          </a:prstGeom>
          <a:noFill/>
          <a:ln/>
        </p:spPr>
        <p:txBody>
          <a:bodyPr wrap="square" lIns="0" tIns="0" rIns="0" bIns="0" rtlCol="0" anchor="ctr"/>
          <a:lstStyle/>
          <a:p>
            <a:pPr algn="ctr" indent="0" marL="0">
              <a:buNone/>
            </a:pPr>
            <a:r>
              <a:rPr lang="en-US" sz="2200" b="1" dirty="0">
                <a:solidFill>
                  <a:srgbClr val="0E121A"/>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8330184" y="3429000"/>
            <a:ext cx="3090672" cy="548640"/>
          </a:xfrm>
          <a:prstGeom prst="rect">
            <a:avLst/>
          </a:prstGeom>
          <a:noFill/>
          <a:ln/>
        </p:spPr>
        <p:txBody>
          <a:bodyPr wrap="square" lIns="0" tIns="0" rIns="0" bIns="0" rtlCol="0" anchor="ctr"/>
          <a:lstStyle/>
          <a:p>
            <a:pPr algn="ctr" indent="0" marL="0">
              <a:buNone/>
            </a:pPr>
            <a:r>
              <a:rPr lang="en-US" sz="2500" b="1" dirty="0">
                <a:solidFill>
                  <a:srgbClr val="E87722"/>
                </a:solidFill>
                <a:latin typeface="Cambria" pitchFamily="34" charset="0"/>
                <a:ea typeface="Cambria" pitchFamily="34" charset="-122"/>
                <a:cs typeface="Cambria" pitchFamily="34" charset="-120"/>
              </a:rPr>
              <a:t>AGÁRRESE</a:t>
            </a:r>
            <a:endParaRPr lang="en-US" sz="2500" dirty="0"/>
          </a:p>
        </p:txBody>
      </p:sp>
      <p:sp>
        <p:nvSpPr>
          <p:cNvPr id="18" name="Text 16"/>
          <p:cNvSpPr txBox="1"/>
          <p:nvPr/>
        </p:nvSpPr>
        <p:spPr>
          <a:xfrm>
            <a:off x="8513064" y="4023360"/>
            <a:ext cx="2724912" cy="914400"/>
          </a:xfrm>
          <a:prstGeom prst="rect">
            <a:avLst/>
          </a:prstGeom>
          <a:noFill/>
          <a:ln/>
        </p:spPr>
        <p:txBody>
          <a:bodyPr wrap="square" lIns="0" tIns="0" rIns="0" bIns="0" rtlCol="0" anchor="t"/>
          <a:lstStyle/>
          <a:p>
            <a:pPr algn="ctr" indent="0" marL="0">
              <a:buNone/>
            </a:pPr>
            <a:r>
              <a:rPr lang="en-US" sz="1500" dirty="0">
                <a:solidFill>
                  <a:srgbClr val="99A3B6"/>
                </a:solidFill>
                <a:latin typeface="Calibri" pitchFamily="34" charset="0"/>
                <a:ea typeface="Calibri" pitchFamily="34" charset="-122"/>
                <a:cs typeface="Calibri" pitchFamily="34" charset="-120"/>
              </a:rPr>
              <a:t>De la mesa, y muévase con ella.</a:t>
            </a:r>
            <a:endParaRPr lang="en-US" sz="1500" dirty="0"/>
          </a:p>
        </p:txBody>
      </p:sp>
      <p:sp>
        <p:nvSpPr>
          <p:cNvPr id="19" name="Text 17"/>
          <p:cNvSpPr txBox="1"/>
          <p:nvPr/>
        </p:nvSpPr>
        <p:spPr>
          <a:xfrm>
            <a:off x="822960" y="5394960"/>
            <a:ext cx="10543032" cy="777240"/>
          </a:xfrm>
          <a:prstGeom prst="rect">
            <a:avLst/>
          </a:prstGeom>
          <a:noFill/>
          <a:ln/>
        </p:spPr>
        <p:txBody>
          <a:bodyPr wrap="square" lIns="0" tIns="0" rIns="0" bIns="0" rtlCol="0" anchor="ctr"/>
          <a:lstStyle/>
          <a:p>
            <a:pPr indent="0" marL="0">
              <a:buNone/>
            </a:pPr>
            <a:r>
              <a:rPr lang="en-US" sz="2100" b="1" dirty="0">
                <a:solidFill>
                  <a:srgbClr val="E87722"/>
                </a:solidFill>
                <a:latin typeface="Cambria" pitchFamily="34" charset="0"/>
                <a:ea typeface="Cambria" pitchFamily="34" charset="-122"/>
                <a:cs typeface="Cambria" pitchFamily="34" charset="-120"/>
              </a:rPr>
              <a:t>Practique los 10 segundos ahora mismo.</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87722"/>
                </a:solidFill>
                <a:latin typeface="Calibri" pitchFamily="34" charset="0"/>
                <a:ea typeface="Calibri" pitchFamily="34" charset="-122"/>
                <a:cs typeface="Calibri" pitchFamily="34" charset="-120"/>
              </a:rPr>
              <a:t>TERREMOTO · ERRORES FRECUENTES</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Lo que NO se hace</a:t>
            </a:r>
            <a:endParaRPr lang="en-US" sz="3800" dirty="0"/>
          </a:p>
        </p:txBody>
      </p:sp>
      <p:sp>
        <p:nvSpPr>
          <p:cNvPr id="4" name="Shape 2"/>
          <p:cNvSpPr/>
          <p:nvPr/>
        </p:nvSpPr>
        <p:spPr>
          <a:xfrm>
            <a:off x="822960" y="2103120"/>
            <a:ext cx="5248656" cy="1417320"/>
          </a:xfrm>
          <a:prstGeom prst="roundRect">
            <a:avLst>
              <a:gd name="adj" fmla="val 6452"/>
            </a:avLst>
          </a:prstGeom>
          <a:solidFill>
            <a:srgbClr val="232D3F"/>
          </a:solidFill>
          <a:ln w="12700">
            <a:solidFill>
              <a:srgbClr val="232D3F"/>
            </a:solidFill>
            <a:prstDash val="solid"/>
          </a:ln>
        </p:spPr>
      </p:sp>
      <p:sp>
        <p:nvSpPr>
          <p:cNvPr id="5" name="Shape 3"/>
          <p:cNvSpPr/>
          <p:nvPr/>
        </p:nvSpPr>
        <p:spPr>
          <a:xfrm>
            <a:off x="1133856" y="2542032"/>
            <a:ext cx="530352" cy="530352"/>
          </a:xfrm>
          <a:prstGeom prst="ellipse">
            <a:avLst/>
          </a:prstGeom>
          <a:solidFill>
            <a:srgbClr val="E05555"/>
          </a:solidFill>
          <a:ln w="12700">
            <a:solidFill>
              <a:srgbClr val="E05555"/>
            </a:solidFill>
            <a:prstDash val="solid"/>
          </a:ln>
        </p:spPr>
      </p:sp>
      <p:sp>
        <p:nvSpPr>
          <p:cNvPr id="6" name="Text 4"/>
          <p:cNvSpPr txBox="1"/>
          <p:nvPr/>
        </p:nvSpPr>
        <p:spPr>
          <a:xfrm>
            <a:off x="1133856" y="2542032"/>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7" name="Text 5"/>
          <p:cNvSpPr txBox="1"/>
          <p:nvPr/>
        </p:nvSpPr>
        <p:spPr>
          <a:xfrm>
            <a:off x="1828800" y="2286000"/>
            <a:ext cx="3968496" cy="502920"/>
          </a:xfrm>
          <a:prstGeom prst="rect">
            <a:avLst/>
          </a:prstGeom>
          <a:noFill/>
          <a:ln/>
        </p:spPr>
        <p:txBody>
          <a:bodyPr wrap="square" lIns="0" tIns="0" rIns="0" bIns="0" rtlCol="0" anchor="t"/>
          <a:lstStyle/>
          <a:p>
            <a:pPr indent="0" marL="0">
              <a:buNone/>
            </a:pPr>
            <a:r>
              <a:rPr lang="en-US" sz="1800" b="1" dirty="0">
                <a:solidFill>
                  <a:srgbClr val="F6F2E9"/>
                </a:solidFill>
                <a:latin typeface="Calibri" pitchFamily="34" charset="0"/>
                <a:ea typeface="Calibri" pitchFamily="34" charset="-122"/>
                <a:cs typeface="Calibri" pitchFamily="34" charset="-120"/>
              </a:rPr>
              <a:t>No corra mientras tiembla</a:t>
            </a:r>
            <a:endParaRPr lang="en-US" sz="1800" dirty="0"/>
          </a:p>
        </p:txBody>
      </p:sp>
      <p:sp>
        <p:nvSpPr>
          <p:cNvPr id="8" name="Text 6"/>
          <p:cNvSpPr txBox="1"/>
          <p:nvPr/>
        </p:nvSpPr>
        <p:spPr>
          <a:xfrm>
            <a:off x="1828800" y="2816352"/>
            <a:ext cx="3968496" cy="56692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Casi todas las lesiones vienen de caídas y objetos que caen.</a:t>
            </a:r>
            <a:endParaRPr lang="en-US" sz="1400" dirty="0"/>
          </a:p>
        </p:txBody>
      </p:sp>
      <p:sp>
        <p:nvSpPr>
          <p:cNvPr id="9" name="Shape 7"/>
          <p:cNvSpPr/>
          <p:nvPr/>
        </p:nvSpPr>
        <p:spPr>
          <a:xfrm>
            <a:off x="6391656" y="2103120"/>
            <a:ext cx="5248656" cy="1417320"/>
          </a:xfrm>
          <a:prstGeom prst="roundRect">
            <a:avLst>
              <a:gd name="adj" fmla="val 6452"/>
            </a:avLst>
          </a:prstGeom>
          <a:solidFill>
            <a:srgbClr val="232D3F"/>
          </a:solidFill>
          <a:ln w="12700">
            <a:solidFill>
              <a:srgbClr val="232D3F"/>
            </a:solidFill>
            <a:prstDash val="solid"/>
          </a:ln>
        </p:spPr>
      </p:sp>
      <p:sp>
        <p:nvSpPr>
          <p:cNvPr id="10" name="Shape 8"/>
          <p:cNvSpPr/>
          <p:nvPr/>
        </p:nvSpPr>
        <p:spPr>
          <a:xfrm>
            <a:off x="6702552" y="2542032"/>
            <a:ext cx="530352" cy="530352"/>
          </a:xfrm>
          <a:prstGeom prst="ellipse">
            <a:avLst/>
          </a:prstGeom>
          <a:solidFill>
            <a:srgbClr val="E05555"/>
          </a:solidFill>
          <a:ln w="12700">
            <a:solidFill>
              <a:srgbClr val="E05555"/>
            </a:solidFill>
            <a:prstDash val="solid"/>
          </a:ln>
        </p:spPr>
      </p:sp>
      <p:sp>
        <p:nvSpPr>
          <p:cNvPr id="11" name="Text 9"/>
          <p:cNvSpPr txBox="1"/>
          <p:nvPr/>
        </p:nvSpPr>
        <p:spPr>
          <a:xfrm>
            <a:off x="6702552" y="2542032"/>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2" name="Text 10"/>
          <p:cNvSpPr txBox="1"/>
          <p:nvPr/>
        </p:nvSpPr>
        <p:spPr>
          <a:xfrm>
            <a:off x="7397496" y="2286000"/>
            <a:ext cx="3968496" cy="502920"/>
          </a:xfrm>
          <a:prstGeom prst="rect">
            <a:avLst/>
          </a:prstGeom>
          <a:noFill/>
          <a:ln/>
        </p:spPr>
        <p:txBody>
          <a:bodyPr wrap="square" lIns="0" tIns="0" rIns="0" bIns="0" rtlCol="0" anchor="t"/>
          <a:lstStyle/>
          <a:p>
            <a:pPr indent="0" marL="0">
              <a:buNone/>
            </a:pPr>
            <a:r>
              <a:rPr lang="en-US" sz="1800" b="1" dirty="0">
                <a:solidFill>
                  <a:srgbClr val="F6F2E9"/>
                </a:solidFill>
                <a:latin typeface="Calibri" pitchFamily="34" charset="0"/>
                <a:ea typeface="Calibri" pitchFamily="34" charset="-122"/>
                <a:cs typeface="Calibri" pitchFamily="34" charset="-120"/>
              </a:rPr>
              <a:t>No use el marco de la puerta</a:t>
            </a:r>
            <a:endParaRPr lang="en-US" sz="1800" dirty="0"/>
          </a:p>
        </p:txBody>
      </p:sp>
      <p:sp>
        <p:nvSpPr>
          <p:cNvPr id="13" name="Text 11"/>
          <p:cNvSpPr txBox="1"/>
          <p:nvPr/>
        </p:nvSpPr>
        <p:spPr>
          <a:xfrm>
            <a:off x="7397496" y="2816352"/>
            <a:ext cx="3968496" cy="56692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En construcción moderna no es más fuerte que el resto.</a:t>
            </a:r>
            <a:endParaRPr lang="en-US" sz="1400" dirty="0"/>
          </a:p>
        </p:txBody>
      </p:sp>
      <p:sp>
        <p:nvSpPr>
          <p:cNvPr id="14" name="Shape 12"/>
          <p:cNvSpPr/>
          <p:nvPr/>
        </p:nvSpPr>
        <p:spPr>
          <a:xfrm>
            <a:off x="822960" y="3794760"/>
            <a:ext cx="5248656" cy="1417320"/>
          </a:xfrm>
          <a:prstGeom prst="roundRect">
            <a:avLst>
              <a:gd name="adj" fmla="val 6452"/>
            </a:avLst>
          </a:prstGeom>
          <a:solidFill>
            <a:srgbClr val="232D3F"/>
          </a:solidFill>
          <a:ln w="12700">
            <a:solidFill>
              <a:srgbClr val="232D3F"/>
            </a:solidFill>
            <a:prstDash val="solid"/>
          </a:ln>
        </p:spPr>
      </p:sp>
      <p:sp>
        <p:nvSpPr>
          <p:cNvPr id="15" name="Shape 13"/>
          <p:cNvSpPr/>
          <p:nvPr/>
        </p:nvSpPr>
        <p:spPr>
          <a:xfrm>
            <a:off x="1133856" y="4233672"/>
            <a:ext cx="530352" cy="530352"/>
          </a:xfrm>
          <a:prstGeom prst="ellipse">
            <a:avLst/>
          </a:prstGeom>
          <a:solidFill>
            <a:srgbClr val="E05555"/>
          </a:solidFill>
          <a:ln w="12700">
            <a:solidFill>
              <a:srgbClr val="E05555"/>
            </a:solidFill>
            <a:prstDash val="solid"/>
          </a:ln>
        </p:spPr>
      </p:sp>
      <p:sp>
        <p:nvSpPr>
          <p:cNvPr id="16" name="Text 14"/>
          <p:cNvSpPr txBox="1"/>
          <p:nvPr/>
        </p:nvSpPr>
        <p:spPr>
          <a:xfrm>
            <a:off x="1133856" y="4233672"/>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7" name="Text 15"/>
          <p:cNvSpPr txBox="1"/>
          <p:nvPr/>
        </p:nvSpPr>
        <p:spPr>
          <a:xfrm>
            <a:off x="1828800" y="3977640"/>
            <a:ext cx="3968496" cy="502920"/>
          </a:xfrm>
          <a:prstGeom prst="rect">
            <a:avLst/>
          </a:prstGeom>
          <a:noFill/>
          <a:ln/>
        </p:spPr>
        <p:txBody>
          <a:bodyPr wrap="square" lIns="0" tIns="0" rIns="0" bIns="0" rtlCol="0" anchor="t"/>
          <a:lstStyle/>
          <a:p>
            <a:pPr indent="0" marL="0">
              <a:buNone/>
            </a:pPr>
            <a:r>
              <a:rPr lang="en-US" sz="1800" b="1" dirty="0">
                <a:solidFill>
                  <a:srgbClr val="F6F2E9"/>
                </a:solidFill>
                <a:latin typeface="Calibri" pitchFamily="34" charset="0"/>
                <a:ea typeface="Calibri" pitchFamily="34" charset="-122"/>
                <a:cs typeface="Calibri" pitchFamily="34" charset="-120"/>
              </a:rPr>
              <a:t>Nunca el ascensor</a:t>
            </a:r>
            <a:endParaRPr lang="en-US" sz="1800" dirty="0"/>
          </a:p>
        </p:txBody>
      </p:sp>
      <p:sp>
        <p:nvSpPr>
          <p:cNvPr id="18" name="Text 16"/>
          <p:cNvSpPr txBox="1"/>
          <p:nvPr/>
        </p:nvSpPr>
        <p:spPr>
          <a:xfrm>
            <a:off x="1828800" y="4507992"/>
            <a:ext cx="3968496" cy="56692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Ni durante, ni después.</a:t>
            </a:r>
            <a:endParaRPr lang="en-US" sz="1400" dirty="0"/>
          </a:p>
        </p:txBody>
      </p:sp>
      <p:sp>
        <p:nvSpPr>
          <p:cNvPr id="19" name="Shape 17"/>
          <p:cNvSpPr/>
          <p:nvPr/>
        </p:nvSpPr>
        <p:spPr>
          <a:xfrm>
            <a:off x="6391656" y="3794760"/>
            <a:ext cx="5248656" cy="1417320"/>
          </a:xfrm>
          <a:prstGeom prst="roundRect">
            <a:avLst>
              <a:gd name="adj" fmla="val 6452"/>
            </a:avLst>
          </a:prstGeom>
          <a:solidFill>
            <a:srgbClr val="232D3F"/>
          </a:solidFill>
          <a:ln w="12700">
            <a:solidFill>
              <a:srgbClr val="232D3F"/>
            </a:solidFill>
            <a:prstDash val="solid"/>
          </a:ln>
        </p:spPr>
      </p:sp>
      <p:sp>
        <p:nvSpPr>
          <p:cNvPr id="20" name="Shape 18"/>
          <p:cNvSpPr/>
          <p:nvPr/>
        </p:nvSpPr>
        <p:spPr>
          <a:xfrm>
            <a:off x="6702552" y="4233672"/>
            <a:ext cx="530352" cy="530352"/>
          </a:xfrm>
          <a:prstGeom prst="ellipse">
            <a:avLst/>
          </a:prstGeom>
          <a:solidFill>
            <a:srgbClr val="E05555"/>
          </a:solidFill>
          <a:ln w="12700">
            <a:solidFill>
              <a:srgbClr val="E05555"/>
            </a:solidFill>
            <a:prstDash val="solid"/>
          </a:ln>
        </p:spPr>
      </p:sp>
      <p:sp>
        <p:nvSpPr>
          <p:cNvPr id="21" name="Text 19"/>
          <p:cNvSpPr txBox="1"/>
          <p:nvPr/>
        </p:nvSpPr>
        <p:spPr>
          <a:xfrm>
            <a:off x="6702552" y="4233672"/>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2" name="Text 20"/>
          <p:cNvSpPr txBox="1"/>
          <p:nvPr/>
        </p:nvSpPr>
        <p:spPr>
          <a:xfrm>
            <a:off x="7397496" y="3977640"/>
            <a:ext cx="3968496" cy="502920"/>
          </a:xfrm>
          <a:prstGeom prst="rect">
            <a:avLst/>
          </a:prstGeom>
          <a:noFill/>
          <a:ln/>
        </p:spPr>
        <p:txBody>
          <a:bodyPr wrap="square" lIns="0" tIns="0" rIns="0" bIns="0" rtlCol="0" anchor="t"/>
          <a:lstStyle/>
          <a:p>
            <a:pPr indent="0" marL="0">
              <a:buNone/>
            </a:pPr>
            <a:r>
              <a:rPr lang="en-US" sz="1800" b="1" dirty="0">
                <a:solidFill>
                  <a:srgbClr val="F6F2E9"/>
                </a:solidFill>
                <a:latin typeface="Calibri" pitchFamily="34" charset="0"/>
                <a:ea typeface="Calibri" pitchFamily="34" charset="-122"/>
                <a:cs typeface="Calibri" pitchFamily="34" charset="-120"/>
              </a:rPr>
              <a:t>No al «triángulo de la vida»</a:t>
            </a:r>
            <a:endParaRPr lang="en-US" sz="1800" dirty="0"/>
          </a:p>
        </p:txBody>
      </p:sp>
      <p:sp>
        <p:nvSpPr>
          <p:cNvPr id="23" name="Text 21"/>
          <p:cNvSpPr txBox="1"/>
          <p:nvPr/>
        </p:nvSpPr>
        <p:spPr>
          <a:xfrm>
            <a:off x="7397496" y="4507992"/>
            <a:ext cx="3968496" cy="56692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Los organismos de socorro no lo recomiendan.</a:t>
            </a:r>
            <a:endParaRPr lang="en-US" sz="1400" dirty="0"/>
          </a:p>
        </p:txBody>
      </p:sp>
      <p:sp>
        <p:nvSpPr>
          <p:cNvPr id="24" name="Text 22"/>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000" b="1" dirty="0">
                <a:solidFill>
                  <a:srgbClr val="E87722"/>
                </a:solidFill>
                <a:latin typeface="Cambria" pitchFamily="34" charset="0"/>
                <a:ea typeface="Cambria" pitchFamily="34" charset="-122"/>
                <a:cs typeface="Cambria" pitchFamily="34" charset="-120"/>
              </a:rPr>
              <a:t>En la emergencia usted cae a la altura de su entrenamiento.</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9966960" y="4572000"/>
            <a:ext cx="3474720" cy="3474720"/>
          </a:xfrm>
          <a:prstGeom prst="ellipse">
            <a:avLst/>
          </a:prstGeom>
          <a:solidFill>
            <a:srgbClr val="161D29"/>
          </a:solidFill>
          <a:ln w="12700">
            <a:solidFill>
              <a:srgbClr val="2A3446"/>
            </a:solidFill>
            <a:prstDash val="solid"/>
          </a:ln>
        </p:spPr>
      </p:sp>
      <p:sp>
        <p:nvSpPr>
          <p:cNvPr id="3" name="Shape 1"/>
          <p:cNvSpPr/>
          <p:nvPr/>
        </p:nvSpPr>
        <p:spPr>
          <a:xfrm>
            <a:off x="10469880" y="5074920"/>
            <a:ext cx="2468880" cy="2468880"/>
          </a:xfrm>
          <a:prstGeom prst="ellipse">
            <a:avLst/>
          </a:prstGeom>
          <a:solidFill>
            <a:srgbClr val="161D29"/>
          </a:solidFill>
          <a:ln w="12700">
            <a:solidFill>
              <a:srgbClr val="2A3446"/>
            </a:solidFill>
            <a:prstDash val="solid"/>
          </a:ln>
        </p:spPr>
      </p:sp>
      <p:sp>
        <p:nvSpPr>
          <p:cNvPr id="4" name="Shape 2"/>
          <p:cNvSpPr/>
          <p:nvPr/>
        </p:nvSpPr>
        <p:spPr>
          <a:xfrm>
            <a:off x="10972800" y="5577840"/>
            <a:ext cx="1463040" cy="1463040"/>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87722"/>
                </a:solidFill>
                <a:latin typeface="Calibri" pitchFamily="34" charset="0"/>
                <a:ea typeface="Calibri" pitchFamily="34" charset="-122"/>
                <a:cs typeface="Calibri" pitchFamily="34" charset="-120"/>
              </a:rPr>
              <a:t>TERREMOTO · DESPUÉS Y PREVENCIÓN</a:t>
            </a:r>
            <a:endParaRPr lang="en-US" sz="1200" dirty="0"/>
          </a:p>
        </p:txBody>
      </p:sp>
      <p:sp>
        <p:nvSpPr>
          <p:cNvPr id="6" name="Text 4"/>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Los minutos que siguen</a:t>
            </a:r>
            <a:endParaRPr lang="en-US" sz="3800" dirty="0"/>
          </a:p>
        </p:txBody>
      </p:sp>
      <p:sp>
        <p:nvSpPr>
          <p:cNvPr id="7" name="Shape 5"/>
          <p:cNvSpPr/>
          <p:nvPr/>
        </p:nvSpPr>
        <p:spPr>
          <a:xfrm>
            <a:off x="822960" y="2057400"/>
            <a:ext cx="420624" cy="420624"/>
          </a:xfrm>
          <a:prstGeom prst="ellipse">
            <a:avLst/>
          </a:prstGeom>
          <a:solidFill>
            <a:srgbClr val="E87722"/>
          </a:solidFill>
          <a:ln w="12700">
            <a:solidFill>
              <a:srgbClr val="E87722"/>
            </a:solidFill>
            <a:prstDash val="solid"/>
          </a:ln>
        </p:spPr>
      </p:sp>
      <p:sp>
        <p:nvSpPr>
          <p:cNvPr id="8" name="Text 6"/>
          <p:cNvSpPr txBox="1"/>
          <p:nvPr/>
        </p:nvSpPr>
        <p:spPr>
          <a:xfrm>
            <a:off x="822960" y="205740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536192" y="201168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Espere réplicas</a:t>
            </a:r>
            <a:endParaRPr lang="en-US" sz="1900" dirty="0"/>
          </a:p>
        </p:txBody>
      </p:sp>
      <p:sp>
        <p:nvSpPr>
          <p:cNvPr id="10" name="Text 8"/>
          <p:cNvSpPr txBox="1"/>
          <p:nvPr/>
        </p:nvSpPr>
        <p:spPr>
          <a:xfrm>
            <a:off x="1536192" y="236829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Van a venir. Aléjese de paredes agrietadas y techos dañados.</a:t>
            </a:r>
            <a:endParaRPr lang="en-US" sz="1400" dirty="0"/>
          </a:p>
        </p:txBody>
      </p:sp>
      <p:sp>
        <p:nvSpPr>
          <p:cNvPr id="11" name="Shape 9"/>
          <p:cNvSpPr/>
          <p:nvPr/>
        </p:nvSpPr>
        <p:spPr>
          <a:xfrm>
            <a:off x="822960" y="2862072"/>
            <a:ext cx="420624" cy="420624"/>
          </a:xfrm>
          <a:prstGeom prst="ellipse">
            <a:avLst/>
          </a:prstGeom>
          <a:solidFill>
            <a:srgbClr val="E87722"/>
          </a:solidFill>
          <a:ln w="12700">
            <a:solidFill>
              <a:srgbClr val="E87722"/>
            </a:solidFill>
            <a:prstDash val="solid"/>
          </a:ln>
        </p:spPr>
      </p:sp>
      <p:sp>
        <p:nvSpPr>
          <p:cNvPr id="12" name="Text 10"/>
          <p:cNvSpPr txBox="1"/>
          <p:nvPr/>
        </p:nvSpPr>
        <p:spPr>
          <a:xfrm>
            <a:off x="822960" y="2862072"/>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536192" y="2816352"/>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Gas antes que fuego</a:t>
            </a:r>
            <a:endParaRPr lang="en-US" sz="1900" dirty="0"/>
          </a:p>
        </p:txBody>
      </p:sp>
      <p:sp>
        <p:nvSpPr>
          <p:cNvPr id="14" name="Text 12"/>
          <p:cNvSpPr txBox="1"/>
          <p:nvPr/>
        </p:nvSpPr>
        <p:spPr>
          <a:xfrm>
            <a:off x="1536192" y="3172968"/>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No encienda fósforos, velas ni interruptores hasta descartar fuga.</a:t>
            </a:r>
            <a:endParaRPr lang="en-US" sz="1400" dirty="0"/>
          </a:p>
        </p:txBody>
      </p:sp>
      <p:sp>
        <p:nvSpPr>
          <p:cNvPr id="15" name="Shape 13"/>
          <p:cNvSpPr/>
          <p:nvPr/>
        </p:nvSpPr>
        <p:spPr>
          <a:xfrm>
            <a:off x="822960" y="3666744"/>
            <a:ext cx="420624" cy="420624"/>
          </a:xfrm>
          <a:prstGeom prst="ellipse">
            <a:avLst/>
          </a:prstGeom>
          <a:solidFill>
            <a:srgbClr val="E87722"/>
          </a:solidFill>
          <a:ln w="12700">
            <a:solidFill>
              <a:srgbClr val="E87722"/>
            </a:solidFill>
            <a:prstDash val="solid"/>
          </a:ln>
        </p:spPr>
      </p:sp>
      <p:sp>
        <p:nvSpPr>
          <p:cNvPr id="16" name="Text 14"/>
          <p:cNvSpPr txBox="1"/>
          <p:nvPr/>
        </p:nvSpPr>
        <p:spPr>
          <a:xfrm>
            <a:off x="822960" y="3666744"/>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36192" y="3621024"/>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Calzado cerrado</a:t>
            </a:r>
            <a:endParaRPr lang="en-US" sz="1900" dirty="0"/>
          </a:p>
        </p:txBody>
      </p:sp>
      <p:sp>
        <p:nvSpPr>
          <p:cNvPr id="18" name="Text 16"/>
          <p:cNvSpPr txBox="1"/>
          <p:nvPr/>
        </p:nvSpPr>
        <p:spPr>
          <a:xfrm>
            <a:off x="1536192" y="3977640"/>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piso queda lleno de vidrio.</a:t>
            </a:r>
            <a:endParaRPr lang="en-US" sz="1400" dirty="0"/>
          </a:p>
        </p:txBody>
      </p:sp>
      <p:sp>
        <p:nvSpPr>
          <p:cNvPr id="19" name="Shape 17"/>
          <p:cNvSpPr/>
          <p:nvPr/>
        </p:nvSpPr>
        <p:spPr>
          <a:xfrm>
            <a:off x="822960" y="4471416"/>
            <a:ext cx="420624" cy="420624"/>
          </a:xfrm>
          <a:prstGeom prst="ellipse">
            <a:avLst/>
          </a:prstGeom>
          <a:solidFill>
            <a:srgbClr val="E87722"/>
          </a:solidFill>
          <a:ln w="12700">
            <a:solidFill>
              <a:srgbClr val="E87722"/>
            </a:solidFill>
            <a:prstDash val="solid"/>
          </a:ln>
        </p:spPr>
      </p:sp>
      <p:sp>
        <p:nvSpPr>
          <p:cNvPr id="20" name="Text 18"/>
          <p:cNvSpPr txBox="1"/>
          <p:nvPr/>
        </p:nvSpPr>
        <p:spPr>
          <a:xfrm>
            <a:off x="822960" y="447141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536192" y="4425696"/>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Mensajes, no llamadas</a:t>
            </a:r>
            <a:endParaRPr lang="en-US" sz="1900" dirty="0"/>
          </a:p>
        </p:txBody>
      </p:sp>
      <p:sp>
        <p:nvSpPr>
          <p:cNvPr id="22" name="Text 20"/>
          <p:cNvSpPr txBox="1"/>
          <p:nvPr/>
        </p:nvSpPr>
        <p:spPr>
          <a:xfrm>
            <a:off x="1536192" y="4782312"/>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La red se satura. El texto pasa cuando la llamada no.</a:t>
            </a:r>
            <a:endParaRPr lang="en-US" sz="1400" dirty="0"/>
          </a:p>
        </p:txBody>
      </p:sp>
      <p:sp>
        <p:nvSpPr>
          <p:cNvPr id="23" name="Shape 21"/>
          <p:cNvSpPr/>
          <p:nvPr/>
        </p:nvSpPr>
        <p:spPr>
          <a:xfrm>
            <a:off x="822960" y="5394960"/>
            <a:ext cx="10543032" cy="960120"/>
          </a:xfrm>
          <a:prstGeom prst="roundRect">
            <a:avLst>
              <a:gd name="adj" fmla="val 9524"/>
            </a:avLst>
          </a:prstGeom>
          <a:solidFill>
            <a:srgbClr val="E87722"/>
          </a:solidFill>
          <a:ln w="12700">
            <a:solidFill>
              <a:srgbClr val="E87722"/>
            </a:solidFill>
            <a:prstDash val="solid"/>
          </a:ln>
        </p:spPr>
      </p:sp>
      <p:sp>
        <p:nvSpPr>
          <p:cNvPr id="24" name="Text 22"/>
          <p:cNvSpPr txBox="1"/>
          <p:nvPr/>
        </p:nvSpPr>
        <p:spPr>
          <a:xfrm>
            <a:off x="822960" y="5394960"/>
            <a:ext cx="10543032" cy="960120"/>
          </a:xfrm>
          <a:prstGeom prst="rect">
            <a:avLst/>
          </a:prstGeom>
          <a:noFill/>
          <a:ln/>
        </p:spPr>
        <p:txBody>
          <a:bodyPr wrap="square" lIns="0" tIns="0" rIns="0" bIns="0" rtlCol="0" anchor="ctr"/>
          <a:lstStyle/>
          <a:p>
            <a:pPr algn="ctr" indent="0" marL="0">
              <a:buNone/>
            </a:pPr>
            <a:r>
              <a:rPr lang="en-US" sz="1700" b="1" dirty="0">
                <a:solidFill>
                  <a:srgbClr val="0E121A"/>
                </a:solidFill>
                <a:latin typeface="Calibri" pitchFamily="34" charset="0"/>
                <a:ea typeface="Calibri" pitchFamily="34" charset="-122"/>
                <a:cs typeface="Calibri" pitchFamily="34" charset="-120"/>
              </a:rPr>
              <a:t>Y HOY EN SU CASA:   ancle los muebles altos   ·   zapatos y linterna bajo la cama</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5AA0D0"/>
                </a:solidFill>
                <a:latin typeface="Calibri" pitchFamily="34" charset="0"/>
                <a:ea typeface="Calibri" pitchFamily="34" charset="-122"/>
                <a:cs typeface="Calibri" pitchFamily="34" charset="-120"/>
              </a:rPr>
              <a:t>CICLÓN · FUNDAMENTO</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5AA0D0"/>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194560"/>
          </a:xfrm>
          <a:prstGeom prst="rect">
            <a:avLst/>
          </a:prstGeom>
          <a:noFill/>
          <a:ln/>
        </p:spPr>
        <p:txBody>
          <a:bodyPr wrap="square" lIns="0" tIns="0" rIns="0" bIns="0" rtlCol="0" anchor="t"/>
          <a:lstStyle/>
          <a:p>
            <a:pPr indent="0" marL="0">
              <a:lnSpc>
                <a:spcPct val="120000"/>
              </a:lnSpc>
              <a:buNone/>
            </a:pPr>
            <a:r>
              <a:rPr lang="en-US" sz="3100" dirty="0">
                <a:solidFill>
                  <a:srgbClr val="F6F2E9"/>
                </a:solidFill>
                <a:latin typeface="Cambria" pitchFamily="34" charset="0"/>
                <a:ea typeface="Cambria" pitchFamily="34" charset="-122"/>
                <a:cs typeface="Cambria" pitchFamily="34" charset="-120"/>
              </a:rPr>
              <a:t>El avisado ve el mal </a:t>
            </a:r>
            <a:pPr indent="0" marL="0">
              <a:lnSpc>
                <a:spcPct val="120000"/>
              </a:lnSpc>
              <a:buNone/>
            </a:pPr>
            <a:r>
              <a:rPr lang="en-US" sz="3100" b="1" dirty="0">
                <a:solidFill>
                  <a:srgbClr val="5AA0D0"/>
                </a:solidFill>
                <a:latin typeface="Cambria" pitchFamily="34" charset="0"/>
                <a:ea typeface="Cambria" pitchFamily="34" charset="-122"/>
                <a:cs typeface="Cambria" pitchFamily="34" charset="-120"/>
              </a:rPr>
              <a:t>y se esconde</a:t>
            </a:r>
            <a:pPr indent="0" marL="0">
              <a:lnSpc>
                <a:spcPct val="120000"/>
              </a:lnSpc>
              <a:buNone/>
            </a:pPr>
            <a:r>
              <a:rPr lang="en-US" sz="3100" dirty="0">
                <a:solidFill>
                  <a:srgbClr val="F6F2E9"/>
                </a:solidFill>
                <a:latin typeface="Cambria" pitchFamily="34" charset="0"/>
                <a:ea typeface="Cambria" pitchFamily="34" charset="-122"/>
                <a:cs typeface="Cambria" pitchFamily="34" charset="-120"/>
              </a:rPr>
              <a:t>; mas los simples pasan y reciben el daño.</a:t>
            </a:r>
            <a:endParaRPr lang="en-US" sz="31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5AA0D0"/>
                </a:solidFill>
                <a:latin typeface="Calibri" pitchFamily="34" charset="0"/>
                <a:ea typeface="Calibri" pitchFamily="34" charset="-122"/>
                <a:cs typeface="Calibri" pitchFamily="34" charset="-120"/>
              </a:rPr>
              <a:t>Proverbios 22:3</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200" b="1" dirty="0">
                <a:solidFill>
                  <a:srgbClr val="5AA0D0"/>
                </a:solidFill>
                <a:latin typeface="Cambria" pitchFamily="34" charset="0"/>
                <a:ea typeface="Cambria" pitchFamily="34" charset="-122"/>
                <a:cs typeface="Cambria" pitchFamily="34" charset="-120"/>
              </a:rPr>
              <a:t>El huracán avisa con días. Ver no basta: hay que esconderse.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5AA0D0"/>
                </a:solidFill>
                <a:latin typeface="Calibri" pitchFamily="34" charset="0"/>
                <a:ea typeface="Calibri" pitchFamily="34" charset="-122"/>
                <a:cs typeface="Calibri" pitchFamily="34" charset="-120"/>
              </a:rPr>
              <a:t>CICLÓN · ANTES</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La pregunta que se contesta en la calma</a:t>
            </a:r>
            <a:endParaRPr lang="en-US" sz="3800" dirty="0"/>
          </a:p>
        </p:txBody>
      </p:sp>
      <p:sp>
        <p:nvSpPr>
          <p:cNvPr id="4" name="Shape 2"/>
          <p:cNvSpPr/>
          <p:nvPr/>
        </p:nvSpPr>
        <p:spPr>
          <a:xfrm>
            <a:off x="822960" y="2103120"/>
            <a:ext cx="10543032" cy="960120"/>
          </a:xfrm>
          <a:prstGeom prst="roundRect">
            <a:avLst>
              <a:gd name="adj" fmla="val 9524"/>
            </a:avLst>
          </a:prstGeom>
          <a:solidFill>
            <a:srgbClr val="232D3F"/>
          </a:solidFill>
          <a:ln w="12700">
            <a:solidFill>
              <a:srgbClr val="232D3F"/>
            </a:solidFill>
            <a:prstDash val="solid"/>
          </a:ln>
        </p:spPr>
      </p:sp>
      <p:sp>
        <p:nvSpPr>
          <p:cNvPr id="5" name="Text 3"/>
          <p:cNvSpPr txBox="1"/>
          <p:nvPr/>
        </p:nvSpPr>
        <p:spPr>
          <a:xfrm>
            <a:off x="1234440" y="2103120"/>
            <a:ext cx="9720072" cy="960120"/>
          </a:xfrm>
          <a:prstGeom prst="rect">
            <a:avLst/>
          </a:prstGeom>
          <a:noFill/>
          <a:ln/>
        </p:spPr>
        <p:txBody>
          <a:bodyPr wrap="square" lIns="0" tIns="0" rIns="0" bIns="0" rtlCol="0" anchor="ctr"/>
          <a:lstStyle/>
          <a:p>
            <a:pPr indent="0" marL="0">
              <a:buNone/>
            </a:pPr>
            <a:r>
              <a:rPr lang="en-US" sz="2500" b="1" dirty="0">
                <a:solidFill>
                  <a:srgbClr val="5AA0D0"/>
                </a:solidFill>
                <a:latin typeface="Cambria" pitchFamily="34" charset="0"/>
                <a:ea typeface="Cambria" pitchFamily="34" charset="-122"/>
                <a:cs typeface="Cambria" pitchFamily="34" charset="-120"/>
              </a:rPr>
              <a:t>¿Mi casa es de PERMANENCIA o de EVACUACIÓN?</a:t>
            </a:r>
            <a:endParaRPr lang="en-US" sz="2500" dirty="0"/>
          </a:p>
        </p:txBody>
      </p:sp>
      <p:sp>
        <p:nvSpPr>
          <p:cNvPr id="6" name="Shape 4"/>
          <p:cNvSpPr/>
          <p:nvPr/>
        </p:nvSpPr>
        <p:spPr>
          <a:xfrm>
            <a:off x="822960" y="3483864"/>
            <a:ext cx="201168" cy="201168"/>
          </a:xfrm>
          <a:prstGeom prst="ellipse">
            <a:avLst/>
          </a:prstGeom>
          <a:solidFill>
            <a:srgbClr val="5AA0D0"/>
          </a:solidFill>
          <a:ln w="12700">
            <a:solidFill>
              <a:srgbClr val="5AA0D0"/>
            </a:solidFill>
            <a:prstDash val="solid"/>
          </a:ln>
        </p:spPr>
      </p:sp>
      <p:sp>
        <p:nvSpPr>
          <p:cNvPr id="7" name="Text 5"/>
          <p:cNvSpPr txBox="1"/>
          <p:nvPr/>
        </p:nvSpPr>
        <p:spPr>
          <a:xfrm>
            <a:off x="1207008" y="3401568"/>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Agua almacenada y envases llenos</a:t>
            </a:r>
            <a:endParaRPr lang="en-US" sz="1700" dirty="0"/>
          </a:p>
        </p:txBody>
      </p:sp>
      <p:sp>
        <p:nvSpPr>
          <p:cNvPr id="8" name="Shape 6"/>
          <p:cNvSpPr/>
          <p:nvPr/>
        </p:nvSpPr>
        <p:spPr>
          <a:xfrm>
            <a:off x="6391656" y="3483864"/>
            <a:ext cx="201168" cy="201168"/>
          </a:xfrm>
          <a:prstGeom prst="ellipse">
            <a:avLst/>
          </a:prstGeom>
          <a:solidFill>
            <a:srgbClr val="5AA0D0"/>
          </a:solidFill>
          <a:ln w="12700">
            <a:solidFill>
              <a:srgbClr val="5AA0D0"/>
            </a:solidFill>
            <a:prstDash val="solid"/>
          </a:ln>
        </p:spPr>
      </p:sp>
      <p:sp>
        <p:nvSpPr>
          <p:cNvPr id="9" name="Text 7"/>
          <p:cNvSpPr txBox="1"/>
          <p:nvPr/>
        </p:nvSpPr>
        <p:spPr>
          <a:xfrm>
            <a:off x="6775704" y="3401568"/>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Medicamentos crónicos para dos semanas</a:t>
            </a:r>
            <a:endParaRPr lang="en-US" sz="1700" dirty="0"/>
          </a:p>
        </p:txBody>
      </p:sp>
      <p:sp>
        <p:nvSpPr>
          <p:cNvPr id="10" name="Shape 8"/>
          <p:cNvSpPr/>
          <p:nvPr/>
        </p:nvSpPr>
        <p:spPr>
          <a:xfrm>
            <a:off x="822960" y="4142232"/>
            <a:ext cx="201168" cy="201168"/>
          </a:xfrm>
          <a:prstGeom prst="ellipse">
            <a:avLst/>
          </a:prstGeom>
          <a:solidFill>
            <a:srgbClr val="5AA0D0"/>
          </a:solidFill>
          <a:ln w="12700">
            <a:solidFill>
              <a:srgbClr val="5AA0D0"/>
            </a:solidFill>
            <a:prstDash val="solid"/>
          </a:ln>
        </p:spPr>
      </p:sp>
      <p:sp>
        <p:nvSpPr>
          <p:cNvPr id="11" name="Text 9"/>
          <p:cNvSpPr txBox="1"/>
          <p:nvPr/>
        </p:nvSpPr>
        <p:spPr>
          <a:xfrm>
            <a:off x="1207008" y="4059936"/>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Documentos en bolsa plástica sellada</a:t>
            </a:r>
            <a:endParaRPr lang="en-US" sz="1700" dirty="0"/>
          </a:p>
        </p:txBody>
      </p:sp>
      <p:sp>
        <p:nvSpPr>
          <p:cNvPr id="12" name="Shape 10"/>
          <p:cNvSpPr/>
          <p:nvPr/>
        </p:nvSpPr>
        <p:spPr>
          <a:xfrm>
            <a:off x="6391656" y="4142232"/>
            <a:ext cx="201168" cy="201168"/>
          </a:xfrm>
          <a:prstGeom prst="ellipse">
            <a:avLst/>
          </a:prstGeom>
          <a:solidFill>
            <a:srgbClr val="5AA0D0"/>
          </a:solidFill>
          <a:ln w="12700">
            <a:solidFill>
              <a:srgbClr val="5AA0D0"/>
            </a:solidFill>
            <a:prstDash val="solid"/>
          </a:ln>
        </p:spPr>
      </p:sp>
      <p:sp>
        <p:nvSpPr>
          <p:cNvPr id="13" name="Text 11"/>
          <p:cNvSpPr txBox="1"/>
          <p:nvPr/>
        </p:nvSpPr>
        <p:spPr>
          <a:xfrm>
            <a:off x="6775704" y="4059936"/>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Efectivo en billetes pequeños</a:t>
            </a:r>
            <a:endParaRPr lang="en-US" sz="1700" dirty="0"/>
          </a:p>
        </p:txBody>
      </p:sp>
      <p:sp>
        <p:nvSpPr>
          <p:cNvPr id="14" name="Shape 12"/>
          <p:cNvSpPr/>
          <p:nvPr/>
        </p:nvSpPr>
        <p:spPr>
          <a:xfrm>
            <a:off x="822960" y="4800600"/>
            <a:ext cx="201168" cy="201168"/>
          </a:xfrm>
          <a:prstGeom prst="ellipse">
            <a:avLst/>
          </a:prstGeom>
          <a:solidFill>
            <a:srgbClr val="5AA0D0"/>
          </a:solidFill>
          <a:ln w="12700">
            <a:solidFill>
              <a:srgbClr val="5AA0D0"/>
            </a:solidFill>
            <a:prstDash val="solid"/>
          </a:ln>
        </p:spPr>
      </p:sp>
      <p:sp>
        <p:nvSpPr>
          <p:cNvPr id="15" name="Text 13"/>
          <p:cNvSpPr txBox="1"/>
          <p:nvPr/>
        </p:nvSpPr>
        <p:spPr>
          <a:xfrm>
            <a:off x="1207008" y="4718304"/>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Radio de baterías y banco de energía</a:t>
            </a:r>
            <a:endParaRPr lang="en-US" sz="1700" dirty="0"/>
          </a:p>
        </p:txBody>
      </p:sp>
      <p:sp>
        <p:nvSpPr>
          <p:cNvPr id="16" name="Shape 14"/>
          <p:cNvSpPr/>
          <p:nvPr/>
        </p:nvSpPr>
        <p:spPr>
          <a:xfrm>
            <a:off x="6391656" y="4800600"/>
            <a:ext cx="201168" cy="201168"/>
          </a:xfrm>
          <a:prstGeom prst="ellipse">
            <a:avLst/>
          </a:prstGeom>
          <a:solidFill>
            <a:srgbClr val="5AA0D0"/>
          </a:solidFill>
          <a:ln w="12700">
            <a:solidFill>
              <a:srgbClr val="5AA0D0"/>
            </a:solidFill>
            <a:prstDash val="solid"/>
          </a:ln>
        </p:spPr>
      </p:sp>
      <p:sp>
        <p:nvSpPr>
          <p:cNvPr id="17" name="Text 15"/>
          <p:cNvSpPr txBox="1"/>
          <p:nvPr/>
        </p:nvSpPr>
        <p:spPr>
          <a:xfrm>
            <a:off x="6775704" y="4718304"/>
            <a:ext cx="4864608" cy="38404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Techo, zinc y árboles revisados</a:t>
            </a:r>
            <a:endParaRPr lang="en-US" sz="1700" dirty="0"/>
          </a:p>
        </p:txBody>
      </p:sp>
      <p:sp>
        <p:nvSpPr>
          <p:cNvPr id="18" name="Text 16"/>
          <p:cNvSpPr txBox="1"/>
          <p:nvPr/>
        </p:nvSpPr>
        <p:spPr>
          <a:xfrm>
            <a:off x="822960" y="5532120"/>
            <a:ext cx="10543032" cy="777240"/>
          </a:xfrm>
          <a:prstGeom prst="rect">
            <a:avLst/>
          </a:prstGeom>
          <a:noFill/>
          <a:ln/>
        </p:spPr>
        <p:txBody>
          <a:bodyPr wrap="square" lIns="0" tIns="0" rIns="0" bIns="0" rtlCol="0" anchor="ctr"/>
          <a:lstStyle/>
          <a:p>
            <a:pPr indent="0" marL="0">
              <a:buNone/>
            </a:pPr>
            <a:r>
              <a:rPr lang="en-US" sz="2000" b="1" dirty="0">
                <a:solidFill>
                  <a:srgbClr val="5AA0D0"/>
                </a:solidFill>
                <a:latin typeface="Cambria" pitchFamily="34" charset="0"/>
                <a:ea typeface="Cambria" pitchFamily="34" charset="-122"/>
                <a:cs typeface="Cambria" pitchFamily="34" charset="-120"/>
              </a:rPr>
              <a:t>Si le toca evacuar, evacúese temprano. Evacuar tarde es la decisión que mata.</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AA0D0"/>
        </a:solidFill>
      </p:bgPr>
    </p:bg>
    <p:spTree>
      <p:nvGrpSpPr>
        <p:cNvPr id="1" name=""/>
        <p:cNvGrpSpPr/>
        <p:nvPr/>
      </p:nvGrpSpPr>
      <p:grpSpPr>
        <a:xfrm>
          <a:off x="0" y="0"/>
          <a:ext cx="0" cy="0"/>
          <a:chOff x="0" y="0"/>
          <a:chExt cx="0" cy="0"/>
        </a:xfrm>
      </p:grpSpPr>
      <p:sp>
        <p:nvSpPr>
          <p:cNvPr id="2" name="Shape 0"/>
          <p:cNvSpPr/>
          <p:nvPr/>
        </p:nvSpPr>
        <p:spPr>
          <a:xfrm>
            <a:off x="3163824" y="502920"/>
            <a:ext cx="5852160" cy="5852160"/>
          </a:xfrm>
          <a:prstGeom prst="ellipse">
            <a:avLst/>
          </a:prstGeom>
          <a:solidFill>
            <a:srgbClr val="5AA0D0"/>
          </a:solidFill>
          <a:ln w="19050">
            <a:solidFill>
              <a:srgbClr val="0E3A57"/>
            </a:solidFill>
            <a:prstDash val="solid"/>
          </a:ln>
        </p:spPr>
      </p:sp>
      <p:sp>
        <p:nvSpPr>
          <p:cNvPr id="3" name="Shape 1"/>
          <p:cNvSpPr/>
          <p:nvPr/>
        </p:nvSpPr>
        <p:spPr>
          <a:xfrm>
            <a:off x="3895344" y="1234440"/>
            <a:ext cx="4389120" cy="4389120"/>
          </a:xfrm>
          <a:prstGeom prst="ellipse">
            <a:avLst/>
          </a:prstGeom>
          <a:solidFill>
            <a:srgbClr val="5AA0D0"/>
          </a:solidFill>
          <a:ln w="19050">
            <a:solidFill>
              <a:srgbClr val="0E3A57"/>
            </a:solidFill>
            <a:prstDash val="solid"/>
          </a:ln>
        </p:spPr>
      </p:sp>
      <p:sp>
        <p:nvSpPr>
          <p:cNvPr id="4" name="Shape 2"/>
          <p:cNvSpPr/>
          <p:nvPr/>
        </p:nvSpPr>
        <p:spPr>
          <a:xfrm>
            <a:off x="4581144" y="1920240"/>
            <a:ext cx="3017520" cy="3017520"/>
          </a:xfrm>
          <a:prstGeom prst="ellipse">
            <a:avLst/>
          </a:prstGeom>
          <a:solidFill>
            <a:srgbClr val="5AA0D0"/>
          </a:solidFill>
          <a:ln w="19050">
            <a:solidFill>
              <a:srgbClr val="0E3A57"/>
            </a:solidFill>
            <a:prstDash val="solid"/>
          </a:ln>
        </p:spPr>
      </p:sp>
      <p:sp>
        <p:nvSpPr>
          <p:cNvPr id="5" name="Shape 3"/>
          <p:cNvSpPr/>
          <p:nvPr/>
        </p:nvSpPr>
        <p:spPr>
          <a:xfrm>
            <a:off x="5221224" y="2560320"/>
            <a:ext cx="1737360" cy="1737360"/>
          </a:xfrm>
          <a:prstGeom prst="ellipse">
            <a:avLst/>
          </a:prstGeom>
          <a:solidFill>
            <a:srgbClr val="5AA0D0"/>
          </a:solidFill>
          <a:ln w="19050">
            <a:solidFill>
              <a:srgbClr val="0E3A57"/>
            </a:solidFill>
            <a:prstDash val="solid"/>
          </a:ln>
        </p:spPr>
      </p:sp>
      <p:sp>
        <p:nvSpPr>
          <p:cNvPr id="6" name="Shape 4"/>
          <p:cNvSpPr/>
          <p:nvPr/>
        </p:nvSpPr>
        <p:spPr>
          <a:xfrm>
            <a:off x="5632704" y="2971800"/>
            <a:ext cx="914400" cy="914400"/>
          </a:xfrm>
          <a:prstGeom prst="ellipse">
            <a:avLst/>
          </a:prstGeom>
          <a:solidFill>
            <a:srgbClr val="0E3A57"/>
          </a:solidFill>
          <a:ln w="12700">
            <a:solidFill>
              <a:srgbClr val="0E3A57"/>
            </a:solidFill>
            <a:prstDash val="solid"/>
          </a:ln>
        </p:spPr>
      </p:sp>
      <p:sp>
        <p:nvSpPr>
          <p:cNvPr id="7" name="Text 5"/>
          <p:cNvSpPr txBox="1"/>
          <p:nvPr/>
        </p:nvSpPr>
        <p:spPr>
          <a:xfrm>
            <a:off x="914400" y="2514600"/>
            <a:ext cx="10360152" cy="1828800"/>
          </a:xfrm>
          <a:prstGeom prst="rect">
            <a:avLst/>
          </a:prstGeom>
          <a:noFill/>
          <a:ln/>
        </p:spPr>
        <p:txBody>
          <a:bodyPr wrap="square" lIns="0" tIns="0" rIns="0" bIns="0" rtlCol="0" anchor="ctr"/>
          <a:lstStyle/>
          <a:p>
            <a:pPr algn="ctr" indent="0" marL="0">
              <a:lnSpc>
                <a:spcPct val="112000"/>
              </a:lnSpc>
              <a:buNone/>
            </a:pPr>
            <a:r>
              <a:rPr lang="en-US" sz="4600" b="1" dirty="0">
                <a:solidFill>
                  <a:srgbClr val="FFFFFF"/>
                </a:solidFill>
                <a:latin typeface="Cambria" pitchFamily="34" charset="0"/>
                <a:ea typeface="Cambria" pitchFamily="34" charset="-122"/>
                <a:cs typeface="Cambria" pitchFamily="34" charset="-120"/>
              </a:rPr>
              <a:t>LA CALMA NO ES EL FINAL.</a:t>
            </a:r>
            <a:endParaRPr lang="en-US" sz="4600" dirty="0"/>
          </a:p>
          <a:p>
            <a:pPr algn="ctr" indent="0" marL="0">
              <a:lnSpc>
                <a:spcPct val="112000"/>
              </a:lnSpc>
              <a:buNone/>
            </a:pPr>
            <a:r>
              <a:rPr lang="en-US" sz="4600" b="1" dirty="0">
                <a:solidFill>
                  <a:srgbClr val="FFFFFF"/>
                </a:solidFill>
                <a:latin typeface="Cambria" pitchFamily="34" charset="0"/>
                <a:ea typeface="Cambria" pitchFamily="34" charset="-122"/>
                <a:cs typeface="Cambria" pitchFamily="34" charset="-120"/>
              </a:rPr>
              <a:t>NO SALGA.</a:t>
            </a:r>
            <a:endParaRPr lang="en-US" sz="4600" dirty="0"/>
          </a:p>
        </p:txBody>
      </p:sp>
      <p:sp>
        <p:nvSpPr>
          <p:cNvPr id="8" name="Text 6"/>
          <p:cNvSpPr txBox="1"/>
          <p:nvPr/>
        </p:nvSpPr>
        <p:spPr>
          <a:xfrm>
            <a:off x="1097280" y="4572000"/>
            <a:ext cx="9994392" cy="548640"/>
          </a:xfrm>
          <a:prstGeom prst="rect">
            <a:avLst/>
          </a:prstGeom>
          <a:noFill/>
          <a:ln/>
        </p:spPr>
        <p:txBody>
          <a:bodyPr wrap="square" lIns="0" tIns="0" rIns="0" bIns="0" rtlCol="0" anchor="ctr"/>
          <a:lstStyle/>
          <a:p>
            <a:pPr algn="ctr" indent="0" marL="0">
              <a:buNone/>
            </a:pPr>
            <a:r>
              <a:rPr lang="en-US" sz="1700" b="1" dirty="0">
                <a:solidFill>
                  <a:srgbClr val="0E3A57"/>
                </a:solidFill>
                <a:latin typeface="Calibri" pitchFamily="34" charset="0"/>
                <a:ea typeface="Calibri" pitchFamily="34" charset="-122"/>
                <a:cs typeface="Calibri" pitchFamily="34" charset="-120"/>
              </a:rPr>
              <a:t>El ojo del huracán dura minutos. Después el viento vuelve del lado contrario.</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5AA0D0"/>
                </a:solidFill>
                <a:latin typeface="Calibri" pitchFamily="34" charset="0"/>
                <a:ea typeface="Calibri" pitchFamily="34" charset="-122"/>
                <a:cs typeface="Calibri" pitchFamily="34" charset="-120"/>
              </a:rPr>
              <a:t>CICLÓN · DESPUÉS</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La fase que más muertes causa</a:t>
            </a:r>
            <a:endParaRPr lang="en-US" sz="3800" dirty="0"/>
          </a:p>
        </p:txBody>
      </p:sp>
      <p:sp>
        <p:nvSpPr>
          <p:cNvPr id="4" name="Shape 2"/>
          <p:cNvSpPr/>
          <p:nvPr/>
        </p:nvSpPr>
        <p:spPr>
          <a:xfrm>
            <a:off x="822960" y="2148840"/>
            <a:ext cx="10543032" cy="1143000"/>
          </a:xfrm>
          <a:prstGeom prst="roundRect">
            <a:avLst>
              <a:gd name="adj" fmla="val 8000"/>
            </a:avLst>
          </a:prstGeom>
          <a:solidFill>
            <a:srgbClr val="E05555"/>
          </a:solidFill>
          <a:ln w="12700">
            <a:solidFill>
              <a:srgbClr val="E05555"/>
            </a:solidFill>
            <a:prstDash val="solid"/>
          </a:ln>
        </p:spPr>
      </p:sp>
      <p:sp>
        <p:nvSpPr>
          <p:cNvPr id="5" name="Text 3"/>
          <p:cNvSpPr txBox="1"/>
          <p:nvPr/>
        </p:nvSpPr>
        <p:spPr>
          <a:xfrm>
            <a:off x="1234440" y="2148840"/>
            <a:ext cx="9720072" cy="11430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NO CRUCE AGUA CORRIENDO — NI A PIE NI EN VEHÍCULO</a:t>
            </a:r>
            <a:endParaRPr lang="en-US" sz="2600" dirty="0"/>
          </a:p>
        </p:txBody>
      </p:sp>
      <p:sp>
        <p:nvSpPr>
          <p:cNvPr id="6" name="Shape 4"/>
          <p:cNvSpPr/>
          <p:nvPr/>
        </p:nvSpPr>
        <p:spPr>
          <a:xfrm>
            <a:off x="822960" y="3703320"/>
            <a:ext cx="420624" cy="420624"/>
          </a:xfrm>
          <a:prstGeom prst="ellipse">
            <a:avLst/>
          </a:prstGeom>
          <a:solidFill>
            <a:srgbClr val="5AA0D0"/>
          </a:solidFill>
          <a:ln w="12700">
            <a:solidFill>
              <a:srgbClr val="5AA0D0"/>
            </a:solidFill>
            <a:prstDash val="solid"/>
          </a:ln>
        </p:spPr>
      </p:sp>
      <p:sp>
        <p:nvSpPr>
          <p:cNvPr id="7" name="Text 5"/>
          <p:cNvSpPr txBox="1"/>
          <p:nvPr/>
        </p:nvSpPr>
        <p:spPr>
          <a:xfrm>
            <a:off x="822960" y="370332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536192" y="365760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Cables caídos: siempre energizados</a:t>
            </a:r>
            <a:endParaRPr lang="en-US" sz="1900" dirty="0"/>
          </a:p>
        </p:txBody>
      </p:sp>
      <p:sp>
        <p:nvSpPr>
          <p:cNvPr id="9" name="Text 7"/>
          <p:cNvSpPr txBox="1"/>
          <p:nvPr/>
        </p:nvSpPr>
        <p:spPr>
          <a:xfrm>
            <a:off x="1536192" y="401421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Y cuidado con los charcos donde haya cables.</a:t>
            </a:r>
            <a:endParaRPr lang="en-US" sz="1400" dirty="0"/>
          </a:p>
        </p:txBody>
      </p:sp>
      <p:sp>
        <p:nvSpPr>
          <p:cNvPr id="10" name="Shape 8"/>
          <p:cNvSpPr/>
          <p:nvPr/>
        </p:nvSpPr>
        <p:spPr>
          <a:xfrm>
            <a:off x="822960" y="4572000"/>
            <a:ext cx="420624" cy="420624"/>
          </a:xfrm>
          <a:prstGeom prst="ellipse">
            <a:avLst/>
          </a:prstGeom>
          <a:solidFill>
            <a:srgbClr val="5AA0D0"/>
          </a:solidFill>
          <a:ln w="12700">
            <a:solidFill>
              <a:srgbClr val="5AA0D0"/>
            </a:solidFill>
            <a:prstDash val="solid"/>
          </a:ln>
        </p:spPr>
      </p:sp>
      <p:sp>
        <p:nvSpPr>
          <p:cNvPr id="11" name="Text 9"/>
          <p:cNvSpPr txBox="1"/>
          <p:nvPr/>
        </p:nvSpPr>
        <p:spPr>
          <a:xfrm>
            <a:off x="822960" y="457200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536192" y="452628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Agua hervida o tratada</a:t>
            </a:r>
            <a:endParaRPr lang="en-US" sz="1900" dirty="0"/>
          </a:p>
        </p:txBody>
      </p:sp>
      <p:sp>
        <p:nvSpPr>
          <p:cNvPr id="13" name="Text 11"/>
          <p:cNvSpPr txBox="1"/>
          <p:nvPr/>
        </p:nvSpPr>
        <p:spPr>
          <a:xfrm>
            <a:off x="1536192" y="488289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La segunda ola del desastre es sanitaria.</a:t>
            </a:r>
            <a:endParaRPr lang="en-US" sz="1400" dirty="0"/>
          </a:p>
        </p:txBody>
      </p:sp>
      <p:sp>
        <p:nvSpPr>
          <p:cNvPr id="14" name="Shape 12"/>
          <p:cNvSpPr/>
          <p:nvPr/>
        </p:nvSpPr>
        <p:spPr>
          <a:xfrm>
            <a:off x="822960" y="5440680"/>
            <a:ext cx="420624" cy="420624"/>
          </a:xfrm>
          <a:prstGeom prst="ellipse">
            <a:avLst/>
          </a:prstGeom>
          <a:solidFill>
            <a:srgbClr val="5AA0D0"/>
          </a:solidFill>
          <a:ln w="12700">
            <a:solidFill>
              <a:srgbClr val="5AA0D0"/>
            </a:solidFill>
            <a:prstDash val="solid"/>
          </a:ln>
        </p:spPr>
      </p:sp>
      <p:sp>
        <p:nvSpPr>
          <p:cNvPr id="15" name="Text 13"/>
          <p:cNvSpPr txBox="1"/>
          <p:nvPr/>
        </p:nvSpPr>
        <p:spPr>
          <a:xfrm>
            <a:off x="822960" y="544068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536192" y="539496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Planta eléctrica siempre afuera</a:t>
            </a:r>
            <a:endParaRPr lang="en-US" sz="1900" dirty="0"/>
          </a:p>
        </p:txBody>
      </p:sp>
      <p:sp>
        <p:nvSpPr>
          <p:cNvPr id="17" name="Text 15"/>
          <p:cNvSpPr txBox="1"/>
          <p:nvPr/>
        </p:nvSpPr>
        <p:spPr>
          <a:xfrm>
            <a:off x="1536192" y="575157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monóxido de carbono no huele y mata familias dormidas.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05555"/>
                </a:solidFill>
                <a:latin typeface="Calibri" pitchFamily="34" charset="0"/>
                <a:ea typeface="Calibri" pitchFamily="34" charset="-122"/>
                <a:cs typeface="Calibri" pitchFamily="34" charset="-120"/>
              </a:rPr>
              <a:t>SEGURIDAD · FUNDAMENTO</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E05555"/>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468880"/>
          </a:xfrm>
          <a:prstGeom prst="rect">
            <a:avLst/>
          </a:prstGeom>
          <a:noFill/>
          <a:ln/>
        </p:spPr>
        <p:txBody>
          <a:bodyPr wrap="square" lIns="0" tIns="0" rIns="0" bIns="0" rtlCol="0" anchor="t"/>
          <a:lstStyle/>
          <a:p>
            <a:pPr indent="0" marL="0">
              <a:lnSpc>
                <a:spcPct val="120000"/>
              </a:lnSpc>
              <a:buNone/>
            </a:pPr>
            <a:r>
              <a:rPr lang="en-US" sz="2900" dirty="0">
                <a:solidFill>
                  <a:srgbClr val="F6F2E9"/>
                </a:solidFill>
                <a:latin typeface="Cambria" pitchFamily="34" charset="0"/>
                <a:ea typeface="Cambria" pitchFamily="34" charset="-122"/>
                <a:cs typeface="Cambria" pitchFamily="34" charset="-120"/>
              </a:rPr>
              <a:t>Cuando edifiques casa nueva, harás pretil a tu azotea, </a:t>
            </a:r>
            <a:pPr indent="0" marL="0">
              <a:lnSpc>
                <a:spcPct val="120000"/>
              </a:lnSpc>
              <a:buNone/>
            </a:pPr>
            <a:r>
              <a:rPr lang="en-US" sz="2900" b="1" dirty="0">
                <a:solidFill>
                  <a:srgbClr val="E05555"/>
                </a:solidFill>
                <a:latin typeface="Cambria" pitchFamily="34" charset="0"/>
                <a:ea typeface="Cambria" pitchFamily="34" charset="-122"/>
                <a:cs typeface="Cambria" pitchFamily="34" charset="-120"/>
              </a:rPr>
              <a:t>para que no eches culpa de sangre sobre tu casa</a:t>
            </a:r>
            <a:pPr indent="0" marL="0">
              <a:lnSpc>
                <a:spcPct val="120000"/>
              </a:lnSpc>
              <a:buNone/>
            </a:pPr>
            <a:r>
              <a:rPr lang="en-US" sz="2900" dirty="0">
                <a:solidFill>
                  <a:srgbClr val="F6F2E9"/>
                </a:solidFill>
                <a:latin typeface="Cambria" pitchFamily="34" charset="0"/>
                <a:ea typeface="Cambria" pitchFamily="34" charset="-122"/>
                <a:cs typeface="Cambria" pitchFamily="34" charset="-120"/>
              </a:rPr>
              <a:t>, si de ella cayere alguno.</a:t>
            </a:r>
            <a:endParaRPr lang="en-US" sz="29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E05555"/>
                </a:solidFill>
                <a:latin typeface="Calibri" pitchFamily="34" charset="0"/>
                <a:ea typeface="Calibri" pitchFamily="34" charset="-122"/>
                <a:cs typeface="Calibri" pitchFamily="34" charset="-120"/>
              </a:rPr>
              <a:t>Deuteronomio 22:8</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300" b="1" dirty="0">
                <a:solidFill>
                  <a:srgbClr val="E05555"/>
                </a:solidFill>
                <a:latin typeface="Cambria" pitchFamily="34" charset="0"/>
                <a:ea typeface="Cambria" pitchFamily="34" charset="-122"/>
                <a:cs typeface="Cambria" pitchFamily="34" charset="-120"/>
              </a:rPr>
              <a:t>La negligencia en seguridad, en la Biblia, tiene categoría moral.</a:t>
            </a:r>
            <a:endParaRPr lang="en-US" sz="2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05555"/>
                </a:solidFill>
                <a:latin typeface="Calibri" pitchFamily="34" charset="0"/>
                <a:ea typeface="Calibri" pitchFamily="34" charset="-122"/>
                <a:cs typeface="Calibri" pitchFamily="34" charset="-120"/>
              </a:rPr>
              <a:t>INCENDIO · PREVENCIÓN</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Donde de verdad empieza el fuego</a:t>
            </a:r>
            <a:endParaRPr lang="en-US" sz="3800" dirty="0"/>
          </a:p>
        </p:txBody>
      </p:sp>
      <p:sp>
        <p:nvSpPr>
          <p:cNvPr id="4" name="Shape 2"/>
          <p:cNvSpPr/>
          <p:nvPr/>
        </p:nvSpPr>
        <p:spPr>
          <a:xfrm>
            <a:off x="822960" y="2103120"/>
            <a:ext cx="420624" cy="420624"/>
          </a:xfrm>
          <a:prstGeom prst="ellipse">
            <a:avLst/>
          </a:prstGeom>
          <a:solidFill>
            <a:srgbClr val="E05555"/>
          </a:solidFill>
          <a:ln w="12700">
            <a:solidFill>
              <a:srgbClr val="E05555"/>
            </a:solidFill>
            <a:prstDash val="solid"/>
          </a:ln>
        </p:spPr>
      </p:sp>
      <p:sp>
        <p:nvSpPr>
          <p:cNvPr id="5" name="Text 3"/>
          <p:cNvSpPr txBox="1"/>
          <p:nvPr/>
        </p:nvSpPr>
        <p:spPr>
          <a:xfrm>
            <a:off x="822960" y="210312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536192" y="205740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Electricidad</a:t>
            </a:r>
            <a:endParaRPr lang="en-US" sz="1900" dirty="0"/>
          </a:p>
        </p:txBody>
      </p:sp>
      <p:sp>
        <p:nvSpPr>
          <p:cNvPr id="7" name="Text 5"/>
          <p:cNvSpPr txBox="1"/>
          <p:nvPr/>
        </p:nvSpPr>
        <p:spPr>
          <a:xfrm>
            <a:off x="1536192" y="241401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Tomacorrientes sobrecargados, extensiones encadenadas, cables bajo alfombras.</a:t>
            </a:r>
            <a:endParaRPr lang="en-US" sz="1400" dirty="0"/>
          </a:p>
        </p:txBody>
      </p:sp>
      <p:sp>
        <p:nvSpPr>
          <p:cNvPr id="8" name="Shape 6"/>
          <p:cNvSpPr/>
          <p:nvPr/>
        </p:nvSpPr>
        <p:spPr>
          <a:xfrm>
            <a:off x="822960" y="2889504"/>
            <a:ext cx="420624" cy="420624"/>
          </a:xfrm>
          <a:prstGeom prst="ellipse">
            <a:avLst/>
          </a:prstGeom>
          <a:solidFill>
            <a:srgbClr val="E05555"/>
          </a:solidFill>
          <a:ln w="12700">
            <a:solidFill>
              <a:srgbClr val="E05555"/>
            </a:solidFill>
            <a:prstDash val="solid"/>
          </a:ln>
        </p:spPr>
      </p:sp>
      <p:sp>
        <p:nvSpPr>
          <p:cNvPr id="9" name="Text 7"/>
          <p:cNvSpPr txBox="1"/>
          <p:nvPr/>
        </p:nvSpPr>
        <p:spPr>
          <a:xfrm>
            <a:off x="822960" y="2889504"/>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536192" y="2843784"/>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Aceite: nunca agua</a:t>
            </a:r>
            <a:endParaRPr lang="en-US" sz="1900" dirty="0"/>
          </a:p>
        </p:txBody>
      </p:sp>
      <p:sp>
        <p:nvSpPr>
          <p:cNvPr id="11" name="Text 9"/>
          <p:cNvSpPr txBox="1"/>
          <p:nvPr/>
        </p:nvSpPr>
        <p:spPr>
          <a:xfrm>
            <a:off x="1536192" y="3200400"/>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Apague la hornilla y tape el sartén. El agua sobre aceite ardiendo explota.</a:t>
            </a:r>
            <a:endParaRPr lang="en-US" sz="1400" dirty="0"/>
          </a:p>
        </p:txBody>
      </p:sp>
      <p:sp>
        <p:nvSpPr>
          <p:cNvPr id="12" name="Shape 10"/>
          <p:cNvSpPr/>
          <p:nvPr/>
        </p:nvSpPr>
        <p:spPr>
          <a:xfrm>
            <a:off x="822960" y="3675888"/>
            <a:ext cx="420624" cy="420624"/>
          </a:xfrm>
          <a:prstGeom prst="ellipse">
            <a:avLst/>
          </a:prstGeom>
          <a:solidFill>
            <a:srgbClr val="E05555"/>
          </a:solidFill>
          <a:ln w="12700">
            <a:solidFill>
              <a:srgbClr val="E05555"/>
            </a:solidFill>
            <a:prstDash val="solid"/>
          </a:ln>
        </p:spPr>
      </p:sp>
      <p:sp>
        <p:nvSpPr>
          <p:cNvPr id="13" name="Text 11"/>
          <p:cNvSpPr txBox="1"/>
          <p:nvPr/>
        </p:nvSpPr>
        <p:spPr>
          <a:xfrm>
            <a:off x="822960" y="367588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536192" y="3630168"/>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Gas</a:t>
            </a:r>
            <a:endParaRPr lang="en-US" sz="1900" dirty="0"/>
          </a:p>
        </p:txBody>
      </p:sp>
      <p:sp>
        <p:nvSpPr>
          <p:cNvPr id="15" name="Text 13"/>
          <p:cNvSpPr txBox="1"/>
          <p:nvPr/>
        </p:nvSpPr>
        <p:spPr>
          <a:xfrm>
            <a:off x="1536192" y="3986784"/>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Si huele a gas: no encienda luz, no use el celular. Cierre, ventile y salga.</a:t>
            </a:r>
            <a:endParaRPr lang="en-US" sz="1400" dirty="0"/>
          </a:p>
        </p:txBody>
      </p:sp>
      <p:sp>
        <p:nvSpPr>
          <p:cNvPr id="16" name="Shape 14"/>
          <p:cNvSpPr/>
          <p:nvPr/>
        </p:nvSpPr>
        <p:spPr>
          <a:xfrm>
            <a:off x="822960" y="4462272"/>
            <a:ext cx="420624" cy="420624"/>
          </a:xfrm>
          <a:prstGeom prst="ellipse">
            <a:avLst/>
          </a:prstGeom>
          <a:solidFill>
            <a:srgbClr val="E05555"/>
          </a:solidFill>
          <a:ln w="12700">
            <a:solidFill>
              <a:srgbClr val="E05555"/>
            </a:solidFill>
            <a:prstDash val="solid"/>
          </a:ln>
        </p:spPr>
      </p:sp>
      <p:sp>
        <p:nvSpPr>
          <p:cNvPr id="17" name="Text 15"/>
          <p:cNvSpPr txBox="1"/>
          <p:nvPr/>
        </p:nvSpPr>
        <p:spPr>
          <a:xfrm>
            <a:off x="822960" y="4462272"/>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536192" y="4416552"/>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Velas</a:t>
            </a:r>
            <a:endParaRPr lang="en-US" sz="1900" dirty="0"/>
          </a:p>
        </p:txBody>
      </p:sp>
      <p:sp>
        <p:nvSpPr>
          <p:cNvPr id="19" name="Text 17"/>
          <p:cNvSpPr txBox="1"/>
          <p:nvPr/>
        </p:nvSpPr>
        <p:spPr>
          <a:xfrm>
            <a:off x="1536192" y="4773168"/>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Nunca sin vigilancia, nunca al dormirse. En apágon, prefiera linterna.</a:t>
            </a:r>
            <a:endParaRPr lang="en-US" sz="1400" dirty="0"/>
          </a:p>
        </p:txBody>
      </p:sp>
      <p:sp>
        <p:nvSpPr>
          <p:cNvPr id="20" name="Shape 18"/>
          <p:cNvSpPr/>
          <p:nvPr/>
        </p:nvSpPr>
        <p:spPr>
          <a:xfrm>
            <a:off x="822960" y="5248656"/>
            <a:ext cx="420624" cy="420624"/>
          </a:xfrm>
          <a:prstGeom prst="ellipse">
            <a:avLst/>
          </a:prstGeom>
          <a:solidFill>
            <a:srgbClr val="E05555"/>
          </a:solidFill>
          <a:ln w="12700">
            <a:solidFill>
              <a:srgbClr val="E05555"/>
            </a:solidFill>
            <a:prstDash val="solid"/>
          </a:ln>
        </p:spPr>
      </p:sp>
      <p:sp>
        <p:nvSpPr>
          <p:cNvPr id="21" name="Text 19"/>
          <p:cNvSpPr txBox="1"/>
          <p:nvPr/>
        </p:nvSpPr>
        <p:spPr>
          <a:xfrm>
            <a:off x="822960" y="524865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1536192" y="5202936"/>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Detector de humo</a:t>
            </a:r>
            <a:endParaRPr lang="en-US" sz="1900" dirty="0"/>
          </a:p>
        </p:txBody>
      </p:sp>
      <p:sp>
        <p:nvSpPr>
          <p:cNvPr id="23" name="Text 21"/>
          <p:cNvSpPr txBox="1"/>
          <p:nvPr/>
        </p:nvSpPr>
        <p:spPr>
          <a:xfrm>
            <a:off x="1536192" y="5559552"/>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Pruébelo cada mes, cambie la batería cada año. Nunca lo desactive: reubíquelo.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05555"/>
                </a:solidFill>
                <a:latin typeface="Calibri" pitchFamily="34" charset="0"/>
                <a:ea typeface="Calibri" pitchFamily="34" charset="-122"/>
                <a:cs typeface="Calibri" pitchFamily="34" charset="-120"/>
              </a:rPr>
              <a:t>INCENDIO · EXTINTOR</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Cuatro acciones, un solo intento</a:t>
            </a:r>
            <a:endParaRPr lang="en-US" sz="3800" dirty="0"/>
          </a:p>
        </p:txBody>
      </p:sp>
      <p:sp>
        <p:nvSpPr>
          <p:cNvPr id="4" name="Shape 2"/>
          <p:cNvSpPr/>
          <p:nvPr/>
        </p:nvSpPr>
        <p:spPr>
          <a:xfrm>
            <a:off x="822960" y="2240280"/>
            <a:ext cx="2487168" cy="2514600"/>
          </a:xfrm>
          <a:prstGeom prst="roundRect">
            <a:avLst>
              <a:gd name="adj" fmla="val 3676"/>
            </a:avLst>
          </a:prstGeom>
          <a:solidFill>
            <a:srgbClr val="232D3F"/>
          </a:solidFill>
          <a:ln w="12700">
            <a:solidFill>
              <a:srgbClr val="232D3F"/>
            </a:solidFill>
            <a:prstDash val="solid"/>
          </a:ln>
        </p:spPr>
      </p:sp>
      <p:sp>
        <p:nvSpPr>
          <p:cNvPr id="5" name="Shape 3"/>
          <p:cNvSpPr/>
          <p:nvPr/>
        </p:nvSpPr>
        <p:spPr>
          <a:xfrm>
            <a:off x="1792224" y="2542032"/>
            <a:ext cx="548640" cy="548640"/>
          </a:xfrm>
          <a:prstGeom prst="ellipse">
            <a:avLst/>
          </a:prstGeom>
          <a:solidFill>
            <a:srgbClr val="E05555"/>
          </a:solidFill>
          <a:ln w="12700">
            <a:solidFill>
              <a:srgbClr val="E05555"/>
            </a:solidFill>
            <a:prstDash val="solid"/>
          </a:ln>
        </p:spPr>
      </p:sp>
      <p:sp>
        <p:nvSpPr>
          <p:cNvPr id="6" name="Text 4"/>
          <p:cNvSpPr txBox="1"/>
          <p:nvPr/>
        </p:nvSpPr>
        <p:spPr>
          <a:xfrm>
            <a:off x="1792224"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914400" y="3218688"/>
            <a:ext cx="2304288" cy="502920"/>
          </a:xfrm>
          <a:prstGeom prst="rect">
            <a:avLst/>
          </a:prstGeom>
          <a:noFill/>
          <a:ln/>
        </p:spPr>
        <p:txBody>
          <a:bodyPr wrap="square" lIns="0" tIns="0" rIns="0" bIns="0" rtlCol="0" anchor="ctr"/>
          <a:lstStyle/>
          <a:p>
            <a:pPr algn="ctr" indent="0" marL="0">
              <a:buNone/>
            </a:pPr>
            <a:r>
              <a:rPr lang="en-US" sz="2400" b="1" dirty="0">
                <a:solidFill>
                  <a:srgbClr val="E05555"/>
                </a:solidFill>
                <a:latin typeface="Cambria" pitchFamily="34" charset="0"/>
                <a:ea typeface="Cambria" pitchFamily="34" charset="-122"/>
                <a:cs typeface="Cambria" pitchFamily="34" charset="-120"/>
              </a:rPr>
              <a:t>HALE</a:t>
            </a:r>
            <a:endParaRPr lang="en-US" sz="2400" dirty="0"/>
          </a:p>
        </p:txBody>
      </p:sp>
      <p:sp>
        <p:nvSpPr>
          <p:cNvPr id="8" name="Text 6"/>
          <p:cNvSpPr txBox="1"/>
          <p:nvPr/>
        </p:nvSpPr>
        <p:spPr>
          <a:xfrm>
            <a:off x="960120" y="3767328"/>
            <a:ext cx="2212848" cy="82296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el pasador</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de seguridad</a:t>
            </a:r>
            <a:endParaRPr lang="en-US" sz="1400" dirty="0"/>
          </a:p>
        </p:txBody>
      </p:sp>
      <p:sp>
        <p:nvSpPr>
          <p:cNvPr id="9" name="Shape 7"/>
          <p:cNvSpPr/>
          <p:nvPr/>
        </p:nvSpPr>
        <p:spPr>
          <a:xfrm>
            <a:off x="3602736" y="2240280"/>
            <a:ext cx="2487168" cy="2514600"/>
          </a:xfrm>
          <a:prstGeom prst="roundRect">
            <a:avLst>
              <a:gd name="adj" fmla="val 3676"/>
            </a:avLst>
          </a:prstGeom>
          <a:solidFill>
            <a:srgbClr val="232D3F"/>
          </a:solidFill>
          <a:ln w="12700">
            <a:solidFill>
              <a:srgbClr val="232D3F"/>
            </a:solidFill>
            <a:prstDash val="solid"/>
          </a:ln>
        </p:spPr>
      </p:sp>
      <p:sp>
        <p:nvSpPr>
          <p:cNvPr id="10" name="Shape 8"/>
          <p:cNvSpPr/>
          <p:nvPr/>
        </p:nvSpPr>
        <p:spPr>
          <a:xfrm>
            <a:off x="4572000" y="2542032"/>
            <a:ext cx="548640" cy="548640"/>
          </a:xfrm>
          <a:prstGeom prst="ellipse">
            <a:avLst/>
          </a:prstGeom>
          <a:solidFill>
            <a:srgbClr val="E05555"/>
          </a:solidFill>
          <a:ln w="12700">
            <a:solidFill>
              <a:srgbClr val="E05555"/>
            </a:solidFill>
            <a:prstDash val="solid"/>
          </a:ln>
        </p:spPr>
      </p:sp>
      <p:sp>
        <p:nvSpPr>
          <p:cNvPr id="11" name="Text 9"/>
          <p:cNvSpPr txBox="1"/>
          <p:nvPr/>
        </p:nvSpPr>
        <p:spPr>
          <a:xfrm>
            <a:off x="4572000"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3694176" y="3218688"/>
            <a:ext cx="2304288" cy="502920"/>
          </a:xfrm>
          <a:prstGeom prst="rect">
            <a:avLst/>
          </a:prstGeom>
          <a:noFill/>
          <a:ln/>
        </p:spPr>
        <p:txBody>
          <a:bodyPr wrap="square" lIns="0" tIns="0" rIns="0" bIns="0" rtlCol="0" anchor="ctr"/>
          <a:lstStyle/>
          <a:p>
            <a:pPr algn="ctr" indent="0" marL="0">
              <a:buNone/>
            </a:pPr>
            <a:r>
              <a:rPr lang="en-US" sz="2400" b="1" dirty="0">
                <a:solidFill>
                  <a:srgbClr val="E05555"/>
                </a:solidFill>
                <a:latin typeface="Cambria" pitchFamily="34" charset="0"/>
                <a:ea typeface="Cambria" pitchFamily="34" charset="-122"/>
                <a:cs typeface="Cambria" pitchFamily="34" charset="-120"/>
              </a:rPr>
              <a:t>APUNTE</a:t>
            </a:r>
            <a:endParaRPr lang="en-US" sz="2400" dirty="0"/>
          </a:p>
        </p:txBody>
      </p:sp>
      <p:sp>
        <p:nvSpPr>
          <p:cNvPr id="13" name="Text 11"/>
          <p:cNvSpPr txBox="1"/>
          <p:nvPr/>
        </p:nvSpPr>
        <p:spPr>
          <a:xfrm>
            <a:off x="3739896" y="3767328"/>
            <a:ext cx="2212848" cy="82296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a la BASE</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de la llama</a:t>
            </a:r>
            <a:endParaRPr lang="en-US" sz="1400" dirty="0"/>
          </a:p>
        </p:txBody>
      </p:sp>
      <p:sp>
        <p:nvSpPr>
          <p:cNvPr id="14" name="Shape 12"/>
          <p:cNvSpPr/>
          <p:nvPr/>
        </p:nvSpPr>
        <p:spPr>
          <a:xfrm>
            <a:off x="6382512" y="2240280"/>
            <a:ext cx="2487168" cy="2514600"/>
          </a:xfrm>
          <a:prstGeom prst="roundRect">
            <a:avLst>
              <a:gd name="adj" fmla="val 3676"/>
            </a:avLst>
          </a:prstGeom>
          <a:solidFill>
            <a:srgbClr val="232D3F"/>
          </a:solidFill>
          <a:ln w="12700">
            <a:solidFill>
              <a:srgbClr val="232D3F"/>
            </a:solidFill>
            <a:prstDash val="solid"/>
          </a:ln>
        </p:spPr>
      </p:sp>
      <p:sp>
        <p:nvSpPr>
          <p:cNvPr id="15" name="Shape 13"/>
          <p:cNvSpPr/>
          <p:nvPr/>
        </p:nvSpPr>
        <p:spPr>
          <a:xfrm>
            <a:off x="7351776" y="2542032"/>
            <a:ext cx="548640" cy="548640"/>
          </a:xfrm>
          <a:prstGeom prst="ellipse">
            <a:avLst/>
          </a:prstGeom>
          <a:solidFill>
            <a:srgbClr val="E05555"/>
          </a:solidFill>
          <a:ln w="12700">
            <a:solidFill>
              <a:srgbClr val="E05555"/>
            </a:solidFill>
            <a:prstDash val="solid"/>
          </a:ln>
        </p:spPr>
      </p:sp>
      <p:sp>
        <p:nvSpPr>
          <p:cNvPr id="16" name="Text 14"/>
          <p:cNvSpPr txBox="1"/>
          <p:nvPr/>
        </p:nvSpPr>
        <p:spPr>
          <a:xfrm>
            <a:off x="7351776"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6473952" y="3218688"/>
            <a:ext cx="2304288" cy="502920"/>
          </a:xfrm>
          <a:prstGeom prst="rect">
            <a:avLst/>
          </a:prstGeom>
          <a:noFill/>
          <a:ln/>
        </p:spPr>
        <p:txBody>
          <a:bodyPr wrap="square" lIns="0" tIns="0" rIns="0" bIns="0" rtlCol="0" anchor="ctr"/>
          <a:lstStyle/>
          <a:p>
            <a:pPr algn="ctr" indent="0" marL="0">
              <a:buNone/>
            </a:pPr>
            <a:r>
              <a:rPr lang="en-US" sz="2400" b="1" dirty="0">
                <a:solidFill>
                  <a:srgbClr val="E05555"/>
                </a:solidFill>
                <a:latin typeface="Cambria" pitchFamily="34" charset="0"/>
                <a:ea typeface="Cambria" pitchFamily="34" charset="-122"/>
                <a:cs typeface="Cambria" pitchFamily="34" charset="-120"/>
              </a:rPr>
              <a:t>APRIETE</a:t>
            </a:r>
            <a:endParaRPr lang="en-US" sz="2400" dirty="0"/>
          </a:p>
        </p:txBody>
      </p:sp>
      <p:sp>
        <p:nvSpPr>
          <p:cNvPr id="18" name="Text 16"/>
          <p:cNvSpPr txBox="1"/>
          <p:nvPr/>
        </p:nvSpPr>
        <p:spPr>
          <a:xfrm>
            <a:off x="6519672" y="3767328"/>
            <a:ext cx="2212848" cy="82296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la palanca</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de descarga</a:t>
            </a:r>
            <a:endParaRPr lang="en-US" sz="1400" dirty="0"/>
          </a:p>
        </p:txBody>
      </p:sp>
      <p:sp>
        <p:nvSpPr>
          <p:cNvPr id="19" name="Shape 17"/>
          <p:cNvSpPr/>
          <p:nvPr/>
        </p:nvSpPr>
        <p:spPr>
          <a:xfrm>
            <a:off x="9162288" y="2240280"/>
            <a:ext cx="2487168" cy="2514600"/>
          </a:xfrm>
          <a:prstGeom prst="roundRect">
            <a:avLst>
              <a:gd name="adj" fmla="val 3676"/>
            </a:avLst>
          </a:prstGeom>
          <a:solidFill>
            <a:srgbClr val="232D3F"/>
          </a:solidFill>
          <a:ln w="12700">
            <a:solidFill>
              <a:srgbClr val="232D3F"/>
            </a:solidFill>
            <a:prstDash val="solid"/>
          </a:ln>
        </p:spPr>
      </p:sp>
      <p:sp>
        <p:nvSpPr>
          <p:cNvPr id="20" name="Shape 18"/>
          <p:cNvSpPr/>
          <p:nvPr/>
        </p:nvSpPr>
        <p:spPr>
          <a:xfrm>
            <a:off x="10131552" y="2542032"/>
            <a:ext cx="548640" cy="548640"/>
          </a:xfrm>
          <a:prstGeom prst="ellipse">
            <a:avLst/>
          </a:prstGeom>
          <a:solidFill>
            <a:srgbClr val="E05555"/>
          </a:solidFill>
          <a:ln w="12700">
            <a:solidFill>
              <a:srgbClr val="E05555"/>
            </a:solidFill>
            <a:prstDash val="solid"/>
          </a:ln>
        </p:spPr>
      </p:sp>
      <p:sp>
        <p:nvSpPr>
          <p:cNvPr id="21" name="Text 19"/>
          <p:cNvSpPr txBox="1"/>
          <p:nvPr/>
        </p:nvSpPr>
        <p:spPr>
          <a:xfrm>
            <a:off x="10131552"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txBox="1"/>
          <p:nvPr/>
        </p:nvSpPr>
        <p:spPr>
          <a:xfrm>
            <a:off x="9253728" y="3218688"/>
            <a:ext cx="2304288" cy="502920"/>
          </a:xfrm>
          <a:prstGeom prst="rect">
            <a:avLst/>
          </a:prstGeom>
          <a:noFill/>
          <a:ln/>
        </p:spPr>
        <p:txBody>
          <a:bodyPr wrap="square" lIns="0" tIns="0" rIns="0" bIns="0" rtlCol="0" anchor="ctr"/>
          <a:lstStyle/>
          <a:p>
            <a:pPr algn="ctr" indent="0" marL="0">
              <a:buNone/>
            </a:pPr>
            <a:r>
              <a:rPr lang="en-US" sz="2400" b="1" dirty="0">
                <a:solidFill>
                  <a:srgbClr val="E05555"/>
                </a:solidFill>
                <a:latin typeface="Cambria" pitchFamily="34" charset="0"/>
                <a:ea typeface="Cambria" pitchFamily="34" charset="-122"/>
                <a:cs typeface="Cambria" pitchFamily="34" charset="-120"/>
              </a:rPr>
              <a:t>BARRA</a:t>
            </a:r>
            <a:endParaRPr lang="en-US" sz="2400" dirty="0"/>
          </a:p>
        </p:txBody>
      </p:sp>
      <p:sp>
        <p:nvSpPr>
          <p:cNvPr id="23" name="Text 21"/>
          <p:cNvSpPr txBox="1"/>
          <p:nvPr/>
        </p:nvSpPr>
        <p:spPr>
          <a:xfrm>
            <a:off x="9299448" y="3767328"/>
            <a:ext cx="2212848" cy="82296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de lado a lado,</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avanzando</a:t>
            </a:r>
            <a:endParaRPr lang="en-US" sz="1400" dirty="0"/>
          </a:p>
        </p:txBody>
      </p:sp>
      <p:sp>
        <p:nvSpPr>
          <p:cNvPr id="24" name="Shape 22"/>
          <p:cNvSpPr/>
          <p:nvPr/>
        </p:nvSpPr>
        <p:spPr>
          <a:xfrm>
            <a:off x="822960" y="5010912"/>
            <a:ext cx="10543032" cy="1005840"/>
          </a:xfrm>
          <a:prstGeom prst="roundRect">
            <a:avLst>
              <a:gd name="adj" fmla="val 9091"/>
            </a:avLst>
          </a:prstGeom>
          <a:solidFill>
            <a:srgbClr val="1C2534"/>
          </a:solidFill>
          <a:ln w="12700">
            <a:solidFill>
              <a:srgbClr val="1C2534"/>
            </a:solidFill>
            <a:prstDash val="solid"/>
          </a:ln>
        </p:spPr>
      </p:sp>
      <p:sp>
        <p:nvSpPr>
          <p:cNvPr id="25" name="Text 23"/>
          <p:cNvSpPr txBox="1"/>
          <p:nvPr/>
        </p:nvSpPr>
        <p:spPr>
          <a:xfrm>
            <a:off x="1234440" y="5010912"/>
            <a:ext cx="9720072" cy="1005840"/>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Solo para fuego pequeño y contenido, con la salida a su espalda. Si hay humo denso o duda: salga y llame.</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E05555"/>
                </a:solidFill>
                <a:latin typeface="Calibri" pitchFamily="34" charset="0"/>
                <a:ea typeface="Calibri" pitchFamily="34" charset="-122"/>
                <a:cs typeface="Calibri" pitchFamily="34" charset="-120"/>
              </a:rPr>
              <a:t>INCENDIO · EVACUACIÓN</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Salir vivo</a:t>
            </a:r>
            <a:endParaRPr lang="en-US" sz="3800" dirty="0"/>
          </a:p>
        </p:txBody>
      </p:sp>
      <p:sp>
        <p:nvSpPr>
          <p:cNvPr id="4" name="Shape 2"/>
          <p:cNvSpPr/>
          <p:nvPr/>
        </p:nvSpPr>
        <p:spPr>
          <a:xfrm>
            <a:off x="822960" y="2103120"/>
            <a:ext cx="420624" cy="420624"/>
          </a:xfrm>
          <a:prstGeom prst="ellipse">
            <a:avLst/>
          </a:prstGeom>
          <a:solidFill>
            <a:srgbClr val="E05555"/>
          </a:solidFill>
          <a:ln w="12700">
            <a:solidFill>
              <a:srgbClr val="E05555"/>
            </a:solidFill>
            <a:prstDash val="solid"/>
          </a:ln>
        </p:spPr>
      </p:sp>
      <p:sp>
        <p:nvSpPr>
          <p:cNvPr id="5" name="Text 3"/>
          <p:cNvSpPr txBox="1"/>
          <p:nvPr/>
        </p:nvSpPr>
        <p:spPr>
          <a:xfrm>
            <a:off x="822960" y="210312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536192" y="205740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Con humo: agáchese y gatee</a:t>
            </a:r>
            <a:endParaRPr lang="en-US" sz="1900" dirty="0"/>
          </a:p>
        </p:txBody>
      </p:sp>
      <p:sp>
        <p:nvSpPr>
          <p:cNvPr id="7" name="Text 5"/>
          <p:cNvSpPr txBox="1"/>
          <p:nvPr/>
        </p:nvSpPr>
        <p:spPr>
          <a:xfrm>
            <a:off x="1536192" y="241401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aire respirable y frío está cerca del piso.</a:t>
            </a:r>
            <a:endParaRPr lang="en-US" sz="1400" dirty="0"/>
          </a:p>
        </p:txBody>
      </p:sp>
      <p:sp>
        <p:nvSpPr>
          <p:cNvPr id="8" name="Shape 6"/>
          <p:cNvSpPr/>
          <p:nvPr/>
        </p:nvSpPr>
        <p:spPr>
          <a:xfrm>
            <a:off x="822960" y="2971800"/>
            <a:ext cx="420624" cy="420624"/>
          </a:xfrm>
          <a:prstGeom prst="ellipse">
            <a:avLst/>
          </a:prstGeom>
          <a:solidFill>
            <a:srgbClr val="E05555"/>
          </a:solidFill>
          <a:ln w="12700">
            <a:solidFill>
              <a:srgbClr val="E05555"/>
            </a:solidFill>
            <a:prstDash val="solid"/>
          </a:ln>
        </p:spPr>
      </p:sp>
      <p:sp>
        <p:nvSpPr>
          <p:cNvPr id="9" name="Text 7"/>
          <p:cNvSpPr txBox="1"/>
          <p:nvPr/>
        </p:nvSpPr>
        <p:spPr>
          <a:xfrm>
            <a:off x="822960" y="297180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536192" y="292608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Toque las puertas con el dorso</a:t>
            </a:r>
            <a:endParaRPr lang="en-US" sz="1900" dirty="0"/>
          </a:p>
        </p:txBody>
      </p:sp>
      <p:sp>
        <p:nvSpPr>
          <p:cNvPr id="11" name="Text 9"/>
          <p:cNvSpPr txBox="1"/>
          <p:nvPr/>
        </p:nvSpPr>
        <p:spPr>
          <a:xfrm>
            <a:off x="1536192" y="328269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Si queman, no las abra: busque otra ruta. Cierre al salir.</a:t>
            </a:r>
            <a:endParaRPr lang="en-US" sz="1400" dirty="0"/>
          </a:p>
        </p:txBody>
      </p:sp>
      <p:sp>
        <p:nvSpPr>
          <p:cNvPr id="12" name="Shape 10"/>
          <p:cNvSpPr/>
          <p:nvPr/>
        </p:nvSpPr>
        <p:spPr>
          <a:xfrm>
            <a:off x="822960" y="3840480"/>
            <a:ext cx="420624" cy="420624"/>
          </a:xfrm>
          <a:prstGeom prst="ellipse">
            <a:avLst/>
          </a:prstGeom>
          <a:solidFill>
            <a:srgbClr val="E05555"/>
          </a:solidFill>
          <a:ln w="12700">
            <a:solidFill>
              <a:srgbClr val="E05555"/>
            </a:solidFill>
            <a:prstDash val="solid"/>
          </a:ln>
        </p:spPr>
      </p:sp>
      <p:sp>
        <p:nvSpPr>
          <p:cNvPr id="13" name="Text 11"/>
          <p:cNvSpPr txBox="1"/>
          <p:nvPr/>
        </p:nvSpPr>
        <p:spPr>
          <a:xfrm>
            <a:off x="822960" y="384048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536192" y="379476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Nunca el ascensor</a:t>
            </a:r>
            <a:endParaRPr lang="en-US" sz="1900" dirty="0"/>
          </a:p>
        </p:txBody>
      </p:sp>
      <p:sp>
        <p:nvSpPr>
          <p:cNvPr id="15" name="Text 13"/>
          <p:cNvSpPr txBox="1"/>
          <p:nvPr/>
        </p:nvSpPr>
        <p:spPr>
          <a:xfrm>
            <a:off x="1536192" y="415137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Punto de encuentro afuera, conteo de personas.</a:t>
            </a:r>
            <a:endParaRPr lang="en-US" sz="1400" dirty="0"/>
          </a:p>
        </p:txBody>
      </p:sp>
      <p:sp>
        <p:nvSpPr>
          <p:cNvPr id="16" name="Shape 14"/>
          <p:cNvSpPr/>
          <p:nvPr/>
        </p:nvSpPr>
        <p:spPr>
          <a:xfrm>
            <a:off x="822960" y="4709160"/>
            <a:ext cx="420624" cy="420624"/>
          </a:xfrm>
          <a:prstGeom prst="ellipse">
            <a:avLst/>
          </a:prstGeom>
          <a:solidFill>
            <a:srgbClr val="E05555"/>
          </a:solidFill>
          <a:ln w="12700">
            <a:solidFill>
              <a:srgbClr val="E05555"/>
            </a:solidFill>
            <a:prstDash val="solid"/>
          </a:ln>
        </p:spPr>
      </p:sp>
      <p:sp>
        <p:nvSpPr>
          <p:cNvPr id="17" name="Text 15"/>
          <p:cNvSpPr txBox="1"/>
          <p:nvPr/>
        </p:nvSpPr>
        <p:spPr>
          <a:xfrm>
            <a:off x="822960" y="470916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536192" y="466344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Nadie vuelve a entrar</a:t>
            </a:r>
            <a:endParaRPr lang="en-US" sz="1900" dirty="0"/>
          </a:p>
        </p:txBody>
      </p:sp>
      <p:sp>
        <p:nvSpPr>
          <p:cNvPr id="19" name="Text 17"/>
          <p:cNvSpPr txBox="1"/>
          <p:nvPr/>
        </p:nvSpPr>
        <p:spPr>
          <a:xfrm>
            <a:off x="1536192" y="502005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Por nada. Ni por documentos, ni por mascotas, ni por recuerdos.</a:t>
            </a:r>
            <a:endParaRPr lang="en-US" sz="1400" dirty="0"/>
          </a:p>
        </p:txBody>
      </p:sp>
      <p:sp>
        <p:nvSpPr>
          <p:cNvPr id="20" name="Shape 18"/>
          <p:cNvSpPr/>
          <p:nvPr/>
        </p:nvSpPr>
        <p:spPr>
          <a:xfrm>
            <a:off x="822960" y="5532120"/>
            <a:ext cx="10543032" cy="868680"/>
          </a:xfrm>
          <a:prstGeom prst="roundRect">
            <a:avLst>
              <a:gd name="adj" fmla="val 10526"/>
            </a:avLst>
          </a:prstGeom>
          <a:solidFill>
            <a:srgbClr val="E05555"/>
          </a:solidFill>
          <a:ln w="12700">
            <a:solidFill>
              <a:srgbClr val="E05555"/>
            </a:solidFill>
            <a:prstDash val="solid"/>
          </a:ln>
        </p:spPr>
      </p:sp>
      <p:sp>
        <p:nvSpPr>
          <p:cNvPr id="21" name="Text 19"/>
          <p:cNvSpPr txBox="1"/>
          <p:nvPr/>
        </p:nvSpPr>
        <p:spPr>
          <a:xfrm>
            <a:off x="822960" y="5532120"/>
            <a:ext cx="10543032" cy="868680"/>
          </a:xfrm>
          <a:prstGeom prst="rect">
            <a:avLst/>
          </a:prstGeom>
          <a:noFill/>
          <a:ln/>
        </p:spPr>
        <p:txBody>
          <a:bodyPr wrap="square" lIns="0" tIns="0" rIns="0" bIns="0" rtlCol="0" anchor="ctr"/>
          <a:lstStyle/>
          <a:p>
            <a:pPr algn="ctr" indent="0" marL="0">
              <a:buNone/>
            </a:pPr>
            <a:r>
              <a:rPr lang="en-US" sz="2000" b="1" spc="100" kern="0" dirty="0">
                <a:solidFill>
                  <a:srgbClr val="FFFFFF"/>
                </a:solidFill>
                <a:latin typeface="Calibri" pitchFamily="34" charset="0"/>
                <a:ea typeface="Calibri" pitchFamily="34" charset="-122"/>
                <a:cs typeface="Calibri" pitchFamily="34" charset="-120"/>
              </a:rPr>
              <a:t>SI SU ROPA SE ENCIENDE:  DETÉNGASE · TÍRESE · RUEDE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8321040" y="3017520"/>
            <a:ext cx="4754880" cy="4754880"/>
          </a:xfrm>
          <a:prstGeom prst="ellipse">
            <a:avLst/>
          </a:prstGeom>
          <a:solidFill>
            <a:srgbClr val="0E121A"/>
          </a:solidFill>
          <a:ln w="15875">
            <a:solidFill>
              <a:srgbClr val="F2A93B"/>
            </a:solidFill>
            <a:prstDash val="solid"/>
          </a:ln>
        </p:spPr>
      </p:sp>
      <p:sp>
        <p:nvSpPr>
          <p:cNvPr id="3" name="Shape 1"/>
          <p:cNvSpPr/>
          <p:nvPr/>
        </p:nvSpPr>
        <p:spPr>
          <a:xfrm>
            <a:off x="8915400" y="3611880"/>
            <a:ext cx="3566160" cy="3566160"/>
          </a:xfrm>
          <a:prstGeom prst="ellipse">
            <a:avLst/>
          </a:prstGeom>
          <a:solidFill>
            <a:srgbClr val="0E121A"/>
          </a:solidFill>
          <a:ln w="15875">
            <a:solidFill>
              <a:srgbClr val="F2A93B"/>
            </a:solidFill>
            <a:prstDash val="solid"/>
          </a:ln>
        </p:spPr>
      </p:sp>
      <p:sp>
        <p:nvSpPr>
          <p:cNvPr id="4" name="Shape 2"/>
          <p:cNvSpPr/>
          <p:nvPr/>
        </p:nvSpPr>
        <p:spPr>
          <a:xfrm>
            <a:off x="9464040" y="4160520"/>
            <a:ext cx="2468880" cy="2468880"/>
          </a:xfrm>
          <a:prstGeom prst="ellipse">
            <a:avLst/>
          </a:prstGeom>
          <a:solidFill>
            <a:srgbClr val="0E121A"/>
          </a:solidFill>
          <a:ln w="15875">
            <a:solidFill>
              <a:srgbClr val="F2A93B"/>
            </a:solidFill>
            <a:prstDash val="solid"/>
          </a:ln>
        </p:spPr>
      </p:sp>
      <p:sp>
        <p:nvSpPr>
          <p:cNvPr id="5" name="Shape 3"/>
          <p:cNvSpPr/>
          <p:nvPr/>
        </p:nvSpPr>
        <p:spPr>
          <a:xfrm>
            <a:off x="9966960" y="4663440"/>
            <a:ext cx="1463040" cy="1463040"/>
          </a:xfrm>
          <a:prstGeom prst="ellipse">
            <a:avLst/>
          </a:prstGeom>
          <a:solidFill>
            <a:srgbClr val="0E121A"/>
          </a:solidFill>
          <a:ln w="15875">
            <a:solidFill>
              <a:srgbClr val="F2A93B"/>
            </a:solidFill>
            <a:prstDash val="solid"/>
          </a:ln>
        </p:spPr>
      </p:sp>
      <p:sp>
        <p:nvSpPr>
          <p:cNvPr id="6" name="Text 4"/>
          <p:cNvSpPr txBox="1"/>
          <p:nvPr/>
        </p:nvSpPr>
        <p:spPr>
          <a:xfrm>
            <a:off x="822960" y="1371600"/>
            <a:ext cx="201168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02</a:t>
            </a:r>
            <a:endParaRPr lang="en-US" sz="9600" dirty="0"/>
          </a:p>
        </p:txBody>
      </p:sp>
      <p:sp>
        <p:nvSpPr>
          <p:cNvPr id="7" name="Text 5"/>
          <p:cNvSpPr txBox="1"/>
          <p:nvPr/>
        </p:nvSpPr>
        <p:spPr>
          <a:xfrm>
            <a:off x="822960" y="2788920"/>
            <a:ext cx="8503920" cy="2011680"/>
          </a:xfrm>
          <a:prstGeom prst="rect">
            <a:avLst/>
          </a:prstGeom>
          <a:noFill/>
          <a:ln/>
        </p:spPr>
        <p:txBody>
          <a:bodyPr wrap="square" lIns="0" tIns="0" rIns="0" bIns="0" rtlCol="0" anchor="t"/>
          <a:lstStyle/>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¿Qué habla Dios</a:t>
            </a:r>
            <a:endParaRPr lang="en-US" sz="4000" dirty="0"/>
          </a:p>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ante las emergencias?</a:t>
            </a:r>
            <a:endParaRPr lang="en-US" sz="4000" dirty="0"/>
          </a:p>
        </p:txBody>
      </p:sp>
      <p:sp>
        <p:nvSpPr>
          <p:cNvPr id="8" name="Text 6"/>
          <p:cNvSpPr txBox="1"/>
          <p:nvPr/>
        </p:nvSpPr>
        <p:spPr>
          <a:xfrm>
            <a:off x="822960" y="4983480"/>
            <a:ext cx="8503920" cy="457200"/>
          </a:xfrm>
          <a:prstGeom prst="rect">
            <a:avLst/>
          </a:prstGeom>
          <a:noFill/>
          <a:ln/>
        </p:spPr>
        <p:txBody>
          <a:bodyPr wrap="square" lIns="0" tIns="0" rIns="0" bIns="0" rtlCol="0" anchor="ctr"/>
          <a:lstStyle/>
          <a:p>
            <a:pPr indent="0" marL="0">
              <a:buNone/>
            </a:pPr>
            <a:r>
              <a:rPr lang="en-US" sz="1600" dirty="0">
                <a:solidFill>
                  <a:srgbClr val="99A3B6"/>
                </a:solidFill>
                <a:latin typeface="Calibri" pitchFamily="34" charset="0"/>
                <a:ea typeface="Calibri" pitchFamily="34" charset="-122"/>
                <a:cs typeface="Calibri" pitchFamily="34" charset="-120"/>
              </a:rPr>
              <a:t>Antes · por medio de · en medio de · después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PATRÓN BÍBLICO</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Antes del desastre, Dios habla</a:t>
            </a:r>
            <a:endParaRPr lang="en-US" sz="3800" dirty="0"/>
          </a:p>
        </p:txBody>
      </p:sp>
      <p:sp>
        <p:nvSpPr>
          <p:cNvPr id="4" name="Shape 2"/>
          <p:cNvSpPr/>
          <p:nvPr/>
        </p:nvSpPr>
        <p:spPr>
          <a:xfrm>
            <a:off x="822960" y="2103120"/>
            <a:ext cx="3364992" cy="1051560"/>
          </a:xfrm>
          <a:prstGeom prst="roundRect">
            <a:avLst>
              <a:gd name="adj" fmla="val 8696"/>
            </a:avLst>
          </a:prstGeom>
          <a:solidFill>
            <a:srgbClr val="232D3F"/>
          </a:solidFill>
          <a:ln w="12700">
            <a:solidFill>
              <a:srgbClr val="232D3F"/>
            </a:solidFill>
            <a:prstDash val="solid"/>
          </a:ln>
        </p:spPr>
      </p:sp>
      <p:sp>
        <p:nvSpPr>
          <p:cNvPr id="5" name="Text 3"/>
          <p:cNvSpPr txBox="1"/>
          <p:nvPr/>
        </p:nvSpPr>
        <p:spPr>
          <a:xfrm>
            <a:off x="1143000" y="224942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Noé</a:t>
            </a:r>
            <a:endParaRPr lang="en-US" sz="2200" dirty="0"/>
          </a:p>
        </p:txBody>
      </p:sp>
      <p:sp>
        <p:nvSpPr>
          <p:cNvPr id="6" name="Text 4"/>
          <p:cNvSpPr txBox="1"/>
          <p:nvPr/>
        </p:nvSpPr>
        <p:spPr>
          <a:xfrm>
            <a:off x="1143000" y="267004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diluvio, generaciones antes</a:t>
            </a:r>
            <a:endParaRPr lang="en-US" sz="1400" dirty="0"/>
          </a:p>
        </p:txBody>
      </p:sp>
      <p:sp>
        <p:nvSpPr>
          <p:cNvPr id="7" name="Shape 5"/>
          <p:cNvSpPr/>
          <p:nvPr/>
        </p:nvSpPr>
        <p:spPr>
          <a:xfrm>
            <a:off x="4507992" y="2103120"/>
            <a:ext cx="3364992" cy="1051560"/>
          </a:xfrm>
          <a:prstGeom prst="roundRect">
            <a:avLst>
              <a:gd name="adj" fmla="val 8696"/>
            </a:avLst>
          </a:prstGeom>
          <a:solidFill>
            <a:srgbClr val="232D3F"/>
          </a:solidFill>
          <a:ln w="12700">
            <a:solidFill>
              <a:srgbClr val="232D3F"/>
            </a:solidFill>
            <a:prstDash val="solid"/>
          </a:ln>
        </p:spPr>
      </p:sp>
      <p:sp>
        <p:nvSpPr>
          <p:cNvPr id="8" name="Text 6"/>
          <p:cNvSpPr txBox="1"/>
          <p:nvPr/>
        </p:nvSpPr>
        <p:spPr>
          <a:xfrm>
            <a:off x="4828032" y="224942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Egipto</a:t>
            </a:r>
            <a:endParaRPr lang="en-US" sz="2200" dirty="0"/>
          </a:p>
        </p:txBody>
      </p:sp>
      <p:sp>
        <p:nvSpPr>
          <p:cNvPr id="9" name="Text 7"/>
          <p:cNvSpPr txBox="1"/>
          <p:nvPr/>
        </p:nvSpPr>
        <p:spPr>
          <a:xfrm>
            <a:off x="4828032" y="267004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granizo, con hora anunciada</a:t>
            </a:r>
            <a:endParaRPr lang="en-US" sz="1400" dirty="0"/>
          </a:p>
        </p:txBody>
      </p:sp>
      <p:sp>
        <p:nvSpPr>
          <p:cNvPr id="10" name="Shape 8"/>
          <p:cNvSpPr/>
          <p:nvPr/>
        </p:nvSpPr>
        <p:spPr>
          <a:xfrm>
            <a:off x="8193024" y="2103120"/>
            <a:ext cx="3364992" cy="1051560"/>
          </a:xfrm>
          <a:prstGeom prst="roundRect">
            <a:avLst>
              <a:gd name="adj" fmla="val 8696"/>
            </a:avLst>
          </a:prstGeom>
          <a:solidFill>
            <a:srgbClr val="232D3F"/>
          </a:solidFill>
          <a:ln w="12700">
            <a:solidFill>
              <a:srgbClr val="232D3F"/>
            </a:solidFill>
            <a:prstDash val="solid"/>
          </a:ln>
        </p:spPr>
      </p:sp>
      <p:sp>
        <p:nvSpPr>
          <p:cNvPr id="11" name="Text 9"/>
          <p:cNvSpPr txBox="1"/>
          <p:nvPr/>
        </p:nvSpPr>
        <p:spPr>
          <a:xfrm>
            <a:off x="8513064" y="224942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Lot</a:t>
            </a:r>
            <a:endParaRPr lang="en-US" sz="2200" dirty="0"/>
          </a:p>
        </p:txBody>
      </p:sp>
      <p:sp>
        <p:nvSpPr>
          <p:cNvPr id="12" name="Text 10"/>
          <p:cNvSpPr txBox="1"/>
          <p:nvPr/>
        </p:nvSpPr>
        <p:spPr>
          <a:xfrm>
            <a:off x="8513064" y="267004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Sodoma, con plazo para salir</a:t>
            </a:r>
            <a:endParaRPr lang="en-US" sz="1400" dirty="0"/>
          </a:p>
        </p:txBody>
      </p:sp>
      <p:sp>
        <p:nvSpPr>
          <p:cNvPr id="13" name="Shape 11"/>
          <p:cNvSpPr/>
          <p:nvPr/>
        </p:nvSpPr>
        <p:spPr>
          <a:xfrm>
            <a:off x="822960" y="3429000"/>
            <a:ext cx="3364992" cy="1051560"/>
          </a:xfrm>
          <a:prstGeom prst="roundRect">
            <a:avLst>
              <a:gd name="adj" fmla="val 8696"/>
            </a:avLst>
          </a:prstGeom>
          <a:solidFill>
            <a:srgbClr val="232D3F"/>
          </a:solidFill>
          <a:ln w="12700">
            <a:solidFill>
              <a:srgbClr val="232D3F"/>
            </a:solidFill>
            <a:prstDash val="solid"/>
          </a:ln>
        </p:spPr>
      </p:sp>
      <p:sp>
        <p:nvSpPr>
          <p:cNvPr id="14" name="Text 12"/>
          <p:cNvSpPr txBox="1"/>
          <p:nvPr/>
        </p:nvSpPr>
        <p:spPr>
          <a:xfrm>
            <a:off x="1143000" y="357530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José</a:t>
            </a:r>
            <a:endParaRPr lang="en-US" sz="2200" dirty="0"/>
          </a:p>
        </p:txBody>
      </p:sp>
      <p:sp>
        <p:nvSpPr>
          <p:cNvPr id="15" name="Text 13"/>
          <p:cNvSpPr txBox="1"/>
          <p:nvPr/>
        </p:nvSpPr>
        <p:spPr>
          <a:xfrm>
            <a:off x="1143000" y="399592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hambre, con siete años de margen</a:t>
            </a:r>
            <a:endParaRPr lang="en-US" sz="1400" dirty="0"/>
          </a:p>
        </p:txBody>
      </p:sp>
      <p:sp>
        <p:nvSpPr>
          <p:cNvPr id="16" name="Shape 14"/>
          <p:cNvSpPr/>
          <p:nvPr/>
        </p:nvSpPr>
        <p:spPr>
          <a:xfrm>
            <a:off x="4507992" y="3429000"/>
            <a:ext cx="3364992" cy="1051560"/>
          </a:xfrm>
          <a:prstGeom prst="roundRect">
            <a:avLst>
              <a:gd name="adj" fmla="val 8696"/>
            </a:avLst>
          </a:prstGeom>
          <a:solidFill>
            <a:srgbClr val="232D3F"/>
          </a:solidFill>
          <a:ln w="12700">
            <a:solidFill>
              <a:srgbClr val="232D3F"/>
            </a:solidFill>
            <a:prstDash val="solid"/>
          </a:ln>
        </p:spPr>
      </p:sp>
      <p:sp>
        <p:nvSpPr>
          <p:cNvPr id="17" name="Text 15"/>
          <p:cNvSpPr txBox="1"/>
          <p:nvPr/>
        </p:nvSpPr>
        <p:spPr>
          <a:xfrm>
            <a:off x="4828032" y="357530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Agabo</a:t>
            </a:r>
            <a:endParaRPr lang="en-US" sz="2200" dirty="0"/>
          </a:p>
        </p:txBody>
      </p:sp>
      <p:sp>
        <p:nvSpPr>
          <p:cNvPr id="18" name="Text 16"/>
          <p:cNvSpPr txBox="1"/>
          <p:nvPr/>
        </p:nvSpPr>
        <p:spPr>
          <a:xfrm>
            <a:off x="4828032" y="399592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La hambruna sobre el mundo</a:t>
            </a:r>
            <a:endParaRPr lang="en-US" sz="1400" dirty="0"/>
          </a:p>
        </p:txBody>
      </p:sp>
      <p:sp>
        <p:nvSpPr>
          <p:cNvPr id="19" name="Shape 17"/>
          <p:cNvSpPr/>
          <p:nvPr/>
        </p:nvSpPr>
        <p:spPr>
          <a:xfrm>
            <a:off x="8193024" y="3429000"/>
            <a:ext cx="3364992" cy="1051560"/>
          </a:xfrm>
          <a:prstGeom prst="roundRect">
            <a:avLst>
              <a:gd name="adj" fmla="val 8696"/>
            </a:avLst>
          </a:prstGeom>
          <a:solidFill>
            <a:srgbClr val="232D3F"/>
          </a:solidFill>
          <a:ln w="12700">
            <a:solidFill>
              <a:srgbClr val="232D3F"/>
            </a:solidFill>
            <a:prstDash val="solid"/>
          </a:ln>
        </p:spPr>
      </p:sp>
      <p:sp>
        <p:nvSpPr>
          <p:cNvPr id="20" name="Text 18"/>
          <p:cNvSpPr txBox="1"/>
          <p:nvPr/>
        </p:nvSpPr>
        <p:spPr>
          <a:xfrm>
            <a:off x="8513064" y="3575304"/>
            <a:ext cx="2724912" cy="41148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Pablo</a:t>
            </a:r>
            <a:endParaRPr lang="en-US" sz="2200" dirty="0"/>
          </a:p>
        </p:txBody>
      </p:sp>
      <p:sp>
        <p:nvSpPr>
          <p:cNvPr id="21" name="Text 19"/>
          <p:cNvSpPr txBox="1"/>
          <p:nvPr/>
        </p:nvSpPr>
        <p:spPr>
          <a:xfrm>
            <a:off x="8513064" y="3995928"/>
            <a:ext cx="2724912" cy="36576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naufragio, antes de zarpar</a:t>
            </a:r>
            <a:endParaRPr lang="en-US" sz="1400" dirty="0"/>
          </a:p>
        </p:txBody>
      </p:sp>
      <p:sp>
        <p:nvSpPr>
          <p:cNvPr id="22" name="Text 20"/>
          <p:cNvSpPr txBox="1"/>
          <p:nvPr/>
        </p:nvSpPr>
        <p:spPr>
          <a:xfrm>
            <a:off x="914400" y="4937760"/>
            <a:ext cx="10360152" cy="822960"/>
          </a:xfrm>
          <a:prstGeom prst="rect">
            <a:avLst/>
          </a:prstGeom>
          <a:noFill/>
          <a:ln/>
        </p:spPr>
        <p:txBody>
          <a:bodyPr wrap="square" lIns="0" tIns="0" rIns="0" bIns="0" rtlCol="0" anchor="ctr"/>
          <a:lstStyle/>
          <a:p>
            <a:pPr algn="ctr" indent="0" marL="0">
              <a:lnSpc>
                <a:spcPct val="112000"/>
              </a:lnSpc>
              <a:buNone/>
            </a:pPr>
            <a:r>
              <a:rPr lang="en-US" sz="4000" b="1" dirty="0">
                <a:solidFill>
                  <a:srgbClr val="F2A93B"/>
                </a:solidFill>
                <a:latin typeface="Cambria" pitchFamily="34" charset="0"/>
                <a:ea typeface="Cambria" pitchFamily="34" charset="-122"/>
                <a:cs typeface="Cambria" pitchFamily="34" charset="-120"/>
              </a:rPr>
              <a:t>DIOS AVISA.</a:t>
            </a:r>
            <a:endParaRPr lang="en-US" sz="4000" dirty="0"/>
          </a:p>
        </p:txBody>
      </p:sp>
      <p:sp>
        <p:nvSpPr>
          <p:cNvPr id="23" name="Text 21"/>
          <p:cNvSpPr txBox="1"/>
          <p:nvPr/>
        </p:nvSpPr>
        <p:spPr>
          <a:xfrm>
            <a:off x="914400" y="5760720"/>
            <a:ext cx="10360152" cy="457200"/>
          </a:xfrm>
          <a:prstGeom prst="rect">
            <a:avLst/>
          </a:prstGeom>
          <a:noFill/>
          <a:ln/>
        </p:spPr>
        <p:txBody>
          <a:bodyPr wrap="square" lIns="0" tIns="0" rIns="0" bIns="0" rtlCol="0" anchor="ctr"/>
          <a:lstStyle/>
          <a:p>
            <a:pPr algn="ctr" indent="0" marL="0">
              <a:buNone/>
            </a:pPr>
            <a:r>
              <a:rPr lang="en-US" sz="1700" dirty="0">
                <a:solidFill>
                  <a:srgbClr val="99A3B6"/>
                </a:solidFill>
                <a:latin typeface="Calibri" pitchFamily="34" charset="0"/>
                <a:ea typeface="Calibri" pitchFamily="34" charset="-122"/>
                <a:cs typeface="Calibri" pitchFamily="34" charset="-120"/>
              </a:rPr>
              <a:t>El problema nunca fue el silencio de Dios: fue la sordera del hombre.</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ÉXODO 9:20-21</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Misma alerta. Dos respuestas.</a:t>
            </a:r>
            <a:endParaRPr lang="en-US" sz="3800" dirty="0"/>
          </a:p>
        </p:txBody>
      </p:sp>
      <p:sp>
        <p:nvSpPr>
          <p:cNvPr id="4" name="Shape 2"/>
          <p:cNvSpPr/>
          <p:nvPr/>
        </p:nvSpPr>
        <p:spPr>
          <a:xfrm>
            <a:off x="822960" y="2148840"/>
            <a:ext cx="5248656" cy="2606040"/>
          </a:xfrm>
          <a:prstGeom prst="roundRect">
            <a:avLst>
              <a:gd name="adj" fmla="val 3509"/>
            </a:avLst>
          </a:prstGeom>
          <a:solidFill>
            <a:srgbClr val="232D3F"/>
          </a:solidFill>
          <a:ln w="12700">
            <a:solidFill>
              <a:srgbClr val="232D3F"/>
            </a:solidFill>
            <a:prstDash val="solid"/>
          </a:ln>
        </p:spPr>
      </p:sp>
      <p:sp>
        <p:nvSpPr>
          <p:cNvPr id="5" name="Text 3"/>
          <p:cNvSpPr txBox="1"/>
          <p:nvPr/>
        </p:nvSpPr>
        <p:spPr>
          <a:xfrm>
            <a:off x="1234440" y="2377440"/>
            <a:ext cx="4425696" cy="411480"/>
          </a:xfrm>
          <a:prstGeom prst="rect">
            <a:avLst/>
          </a:prstGeom>
          <a:noFill/>
          <a:ln/>
        </p:spPr>
        <p:txBody>
          <a:bodyPr wrap="square" lIns="0" tIns="0" rIns="0" bIns="0" rtlCol="0" anchor="ctr"/>
          <a:lstStyle/>
          <a:p>
            <a:pPr indent="0" marL="0">
              <a:buNone/>
            </a:pPr>
            <a:r>
              <a:rPr lang="en-US" sz="1500" b="1" spc="150" kern="0" dirty="0">
                <a:solidFill>
                  <a:srgbClr val="3FB08E"/>
                </a:solidFill>
                <a:latin typeface="Calibri" pitchFamily="34" charset="0"/>
                <a:ea typeface="Calibri" pitchFamily="34" charset="-122"/>
                <a:cs typeface="Calibri" pitchFamily="34" charset="-120"/>
              </a:rPr>
              <a:t>EL QUE TEMIÓ LA PALABRA</a:t>
            </a:r>
            <a:endParaRPr lang="en-US" sz="1500" dirty="0"/>
          </a:p>
        </p:txBody>
      </p:sp>
      <p:sp>
        <p:nvSpPr>
          <p:cNvPr id="6" name="Text 4"/>
          <p:cNvSpPr txBox="1"/>
          <p:nvPr/>
        </p:nvSpPr>
        <p:spPr>
          <a:xfrm>
            <a:off x="1234440" y="2880360"/>
            <a:ext cx="4425696" cy="1188720"/>
          </a:xfrm>
          <a:prstGeom prst="rect">
            <a:avLst/>
          </a:prstGeom>
          <a:noFill/>
          <a:ln/>
        </p:spPr>
        <p:txBody>
          <a:bodyPr wrap="square" lIns="0" tIns="0" rIns="0" bIns="0" rtlCol="0" anchor="t"/>
          <a:lstStyle/>
          <a:p>
            <a:pPr indent="0" marL="0">
              <a:lnSpc>
                <a:spcPct val="115000"/>
              </a:lnSpc>
              <a:buNone/>
            </a:pPr>
            <a:r>
              <a:rPr lang="en-US" sz="2300" dirty="0">
                <a:solidFill>
                  <a:srgbClr val="F6F2E9"/>
                </a:solidFill>
                <a:latin typeface="Cambria" pitchFamily="34" charset="0"/>
                <a:ea typeface="Cambria" pitchFamily="34" charset="-122"/>
                <a:cs typeface="Cambria" pitchFamily="34" charset="-120"/>
              </a:rPr>
              <a:t>«hizo huir sus criados y su ganado a casa»</a:t>
            </a:r>
            <a:endParaRPr lang="en-US" sz="2300" dirty="0"/>
          </a:p>
        </p:txBody>
      </p:sp>
      <p:sp>
        <p:nvSpPr>
          <p:cNvPr id="7" name="Text 5"/>
          <p:cNvSpPr txBox="1"/>
          <p:nvPr/>
        </p:nvSpPr>
        <p:spPr>
          <a:xfrm>
            <a:off x="1234440" y="4114800"/>
            <a:ext cx="4425696" cy="411480"/>
          </a:xfrm>
          <a:prstGeom prst="rect">
            <a:avLst/>
          </a:prstGeom>
          <a:noFill/>
          <a:ln/>
        </p:spPr>
        <p:txBody>
          <a:bodyPr wrap="square" lIns="0" tIns="0" rIns="0" bIns="0" rtlCol="0" anchor="ctr"/>
          <a:lstStyle/>
          <a:p>
            <a:pPr indent="0" marL="0">
              <a:buNone/>
            </a:pPr>
            <a:r>
              <a:rPr lang="en-US" sz="1800" b="1" dirty="0">
                <a:solidFill>
                  <a:srgbClr val="3FB08E"/>
                </a:solidFill>
                <a:latin typeface="Calibri" pitchFamily="34" charset="0"/>
                <a:ea typeface="Calibri" pitchFamily="34" charset="-122"/>
                <a:cs typeface="Calibri" pitchFamily="34" charset="-120"/>
              </a:rPr>
              <a:t>Se salvó.</a:t>
            </a:r>
            <a:endParaRPr lang="en-US" sz="1800" dirty="0"/>
          </a:p>
        </p:txBody>
      </p:sp>
      <p:sp>
        <p:nvSpPr>
          <p:cNvPr id="8" name="Shape 6"/>
          <p:cNvSpPr/>
          <p:nvPr/>
        </p:nvSpPr>
        <p:spPr>
          <a:xfrm>
            <a:off x="6391656" y="2148840"/>
            <a:ext cx="5248656" cy="2606040"/>
          </a:xfrm>
          <a:prstGeom prst="roundRect">
            <a:avLst>
              <a:gd name="adj" fmla="val 3509"/>
            </a:avLst>
          </a:prstGeom>
          <a:solidFill>
            <a:srgbClr val="232D3F"/>
          </a:solidFill>
          <a:ln w="12700">
            <a:solidFill>
              <a:srgbClr val="232D3F"/>
            </a:solidFill>
            <a:prstDash val="solid"/>
          </a:ln>
        </p:spPr>
      </p:sp>
      <p:sp>
        <p:nvSpPr>
          <p:cNvPr id="9" name="Text 7"/>
          <p:cNvSpPr txBox="1"/>
          <p:nvPr/>
        </p:nvSpPr>
        <p:spPr>
          <a:xfrm>
            <a:off x="6803136" y="2377440"/>
            <a:ext cx="4425696" cy="411480"/>
          </a:xfrm>
          <a:prstGeom prst="rect">
            <a:avLst/>
          </a:prstGeom>
          <a:noFill/>
          <a:ln/>
        </p:spPr>
        <p:txBody>
          <a:bodyPr wrap="square" lIns="0" tIns="0" rIns="0" bIns="0" rtlCol="0" anchor="ctr"/>
          <a:lstStyle/>
          <a:p>
            <a:pPr indent="0" marL="0">
              <a:buNone/>
            </a:pPr>
            <a:r>
              <a:rPr lang="en-US" sz="1500" b="1" spc="150" kern="0" dirty="0">
                <a:solidFill>
                  <a:srgbClr val="E05555"/>
                </a:solidFill>
                <a:latin typeface="Calibri" pitchFamily="34" charset="0"/>
                <a:ea typeface="Calibri" pitchFamily="34" charset="-122"/>
                <a:cs typeface="Calibri" pitchFamily="34" charset="-120"/>
              </a:rPr>
              <a:t>EL QUE NO LA PUSO EN SU CORAZÓN</a:t>
            </a:r>
            <a:endParaRPr lang="en-US" sz="1500" dirty="0"/>
          </a:p>
        </p:txBody>
      </p:sp>
      <p:sp>
        <p:nvSpPr>
          <p:cNvPr id="10" name="Text 8"/>
          <p:cNvSpPr txBox="1"/>
          <p:nvPr/>
        </p:nvSpPr>
        <p:spPr>
          <a:xfrm>
            <a:off x="6803136" y="2880360"/>
            <a:ext cx="4425696" cy="1188720"/>
          </a:xfrm>
          <a:prstGeom prst="rect">
            <a:avLst/>
          </a:prstGeom>
          <a:noFill/>
          <a:ln/>
        </p:spPr>
        <p:txBody>
          <a:bodyPr wrap="square" lIns="0" tIns="0" rIns="0" bIns="0" rtlCol="0" anchor="t"/>
          <a:lstStyle/>
          <a:p>
            <a:pPr indent="0" marL="0">
              <a:lnSpc>
                <a:spcPct val="115000"/>
              </a:lnSpc>
              <a:buNone/>
            </a:pPr>
            <a:r>
              <a:rPr lang="en-US" sz="2300" dirty="0">
                <a:solidFill>
                  <a:srgbClr val="F6F2E9"/>
                </a:solidFill>
                <a:latin typeface="Cambria" pitchFamily="34" charset="0"/>
                <a:ea typeface="Cambria" pitchFamily="34" charset="-122"/>
                <a:cs typeface="Cambria" pitchFamily="34" charset="-120"/>
              </a:rPr>
              <a:t>«dejó sus criados y sus ganados en el campo»</a:t>
            </a:r>
            <a:endParaRPr lang="en-US" sz="2300" dirty="0"/>
          </a:p>
        </p:txBody>
      </p:sp>
      <p:sp>
        <p:nvSpPr>
          <p:cNvPr id="11" name="Text 9"/>
          <p:cNvSpPr txBox="1"/>
          <p:nvPr/>
        </p:nvSpPr>
        <p:spPr>
          <a:xfrm>
            <a:off x="6803136" y="4114800"/>
            <a:ext cx="4425696" cy="411480"/>
          </a:xfrm>
          <a:prstGeom prst="rect">
            <a:avLst/>
          </a:prstGeom>
          <a:noFill/>
          <a:ln/>
        </p:spPr>
        <p:txBody>
          <a:bodyPr wrap="square" lIns="0" tIns="0" rIns="0" bIns="0" rtlCol="0" anchor="ctr"/>
          <a:lstStyle/>
          <a:p>
            <a:pPr indent="0" marL="0">
              <a:buNone/>
            </a:pPr>
            <a:r>
              <a:rPr lang="en-US" sz="1800" b="1" dirty="0">
                <a:solidFill>
                  <a:srgbClr val="E05555"/>
                </a:solidFill>
                <a:latin typeface="Calibri" pitchFamily="34" charset="0"/>
                <a:ea typeface="Calibri" pitchFamily="34" charset="-122"/>
                <a:cs typeface="Calibri" pitchFamily="34" charset="-120"/>
              </a:rPr>
              <a:t>Lo perdió todo.</a:t>
            </a:r>
            <a:endParaRPr lang="en-US" sz="1800" dirty="0"/>
          </a:p>
        </p:txBody>
      </p:sp>
      <p:sp>
        <p:nvSpPr>
          <p:cNvPr id="12" name="Text 10"/>
          <p:cNvSpPr txBox="1"/>
          <p:nvPr/>
        </p:nvSpPr>
        <p:spPr>
          <a:xfrm>
            <a:off x="822960" y="5120640"/>
            <a:ext cx="10543032" cy="777240"/>
          </a:xfrm>
          <a:prstGeom prst="rect">
            <a:avLst/>
          </a:prstGeom>
          <a:noFill/>
          <a:ln/>
        </p:spPr>
        <p:txBody>
          <a:bodyPr wrap="square" lIns="0" tIns="0" rIns="0" bIns="0" rtlCol="0" anchor="ctr"/>
          <a:lstStyle/>
          <a:p>
            <a:pPr indent="0" marL="0">
              <a:buNone/>
            </a:pPr>
            <a:r>
              <a:rPr lang="en-US" sz="2100" b="1" dirty="0">
                <a:solidFill>
                  <a:srgbClr val="F2A93B"/>
                </a:solidFill>
                <a:latin typeface="Cambria" pitchFamily="34" charset="0"/>
                <a:ea typeface="Cambria" pitchFamily="34" charset="-122"/>
                <a:cs typeface="Cambria" pitchFamily="34" charset="-120"/>
              </a:rPr>
              <a:t>Toda la gestión de riesgo, en dos versículos. El problema no es la alerta: es la respuesta.</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0"/>
            <a:ext cx="3474720" cy="3474720"/>
          </a:xfrm>
          <a:prstGeom prst="ellipse">
            <a:avLst/>
          </a:prstGeom>
          <a:solidFill>
            <a:srgbClr val="161D29"/>
          </a:solidFill>
          <a:ln w="12700">
            <a:solidFill>
              <a:srgbClr val="2A3446"/>
            </a:solidFill>
            <a:prstDash val="solid"/>
          </a:ln>
        </p:spPr>
      </p:sp>
      <p:sp>
        <p:nvSpPr>
          <p:cNvPr id="3" name="Shape 1"/>
          <p:cNvSpPr/>
          <p:nvPr/>
        </p:nvSpPr>
        <p:spPr>
          <a:xfrm>
            <a:off x="10561320" y="5074920"/>
            <a:ext cx="2468880" cy="2468880"/>
          </a:xfrm>
          <a:prstGeom prst="ellipse">
            <a:avLst/>
          </a:prstGeom>
          <a:solidFill>
            <a:srgbClr val="161D29"/>
          </a:solidFill>
          <a:ln w="12700">
            <a:solidFill>
              <a:srgbClr val="2A3446"/>
            </a:solidFill>
            <a:prstDash val="solid"/>
          </a:ln>
        </p:spPr>
      </p:sp>
      <p:sp>
        <p:nvSpPr>
          <p:cNvPr id="4" name="Shape 2"/>
          <p:cNvSpPr/>
          <p:nvPr/>
        </p:nvSpPr>
        <p:spPr>
          <a:xfrm>
            <a:off x="11064240" y="5577840"/>
            <a:ext cx="1463040" cy="1463040"/>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EL OFICIO DE AVISAR</a:t>
            </a:r>
            <a:endParaRPr lang="en-US" sz="1200" dirty="0"/>
          </a:p>
        </p:txBody>
      </p:sp>
      <p:sp>
        <p:nvSpPr>
          <p:cNvPr id="6" name="Text 4"/>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Dios habla por medio de gente que avisa</a:t>
            </a:r>
            <a:endParaRPr lang="en-US" sz="3800" dirty="0"/>
          </a:p>
        </p:txBody>
      </p:sp>
      <p:sp>
        <p:nvSpPr>
          <p:cNvPr id="7" name="Shape 5"/>
          <p:cNvSpPr/>
          <p:nvPr/>
        </p:nvSpPr>
        <p:spPr>
          <a:xfrm>
            <a:off x="822960" y="2148840"/>
            <a:ext cx="420624" cy="420624"/>
          </a:xfrm>
          <a:prstGeom prst="ellipse">
            <a:avLst/>
          </a:prstGeom>
          <a:solidFill>
            <a:srgbClr val="F2A93B"/>
          </a:solidFill>
          <a:ln w="12700">
            <a:solidFill>
              <a:srgbClr val="F2A93B"/>
            </a:solidFill>
            <a:prstDash val="solid"/>
          </a:ln>
        </p:spPr>
      </p:sp>
      <p:sp>
        <p:nvSpPr>
          <p:cNvPr id="8" name="Text 6"/>
          <p:cNvSpPr txBox="1"/>
          <p:nvPr/>
        </p:nvSpPr>
        <p:spPr>
          <a:xfrm>
            <a:off x="822960" y="214884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536192" y="210312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El atalaya — Ezequiel 33</a:t>
            </a:r>
            <a:endParaRPr lang="en-US" sz="1900" dirty="0"/>
          </a:p>
        </p:txBody>
      </p:sp>
      <p:sp>
        <p:nvSpPr>
          <p:cNvPr id="10" name="Text 8"/>
          <p:cNvSpPr txBox="1"/>
          <p:nvPr/>
        </p:nvSpPr>
        <p:spPr>
          <a:xfrm>
            <a:off x="1536192" y="245973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Puesto en la muralla para ver antes que nadie.</a:t>
            </a:r>
            <a:endParaRPr lang="en-US" sz="1400" dirty="0"/>
          </a:p>
        </p:txBody>
      </p:sp>
      <p:sp>
        <p:nvSpPr>
          <p:cNvPr id="11" name="Shape 9"/>
          <p:cNvSpPr/>
          <p:nvPr/>
        </p:nvSpPr>
        <p:spPr>
          <a:xfrm>
            <a:off x="822960" y="3044952"/>
            <a:ext cx="420624" cy="420624"/>
          </a:xfrm>
          <a:prstGeom prst="ellipse">
            <a:avLst/>
          </a:prstGeom>
          <a:solidFill>
            <a:srgbClr val="F2A93B"/>
          </a:solidFill>
          <a:ln w="12700">
            <a:solidFill>
              <a:srgbClr val="F2A93B"/>
            </a:solidFill>
            <a:prstDash val="solid"/>
          </a:ln>
        </p:spPr>
      </p:sp>
      <p:sp>
        <p:nvSpPr>
          <p:cNvPr id="12" name="Text 10"/>
          <p:cNvSpPr txBox="1"/>
          <p:nvPr/>
        </p:nvSpPr>
        <p:spPr>
          <a:xfrm>
            <a:off x="822960" y="3044952"/>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536192" y="2999232"/>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Las trompetas de plata — Números 10</a:t>
            </a:r>
            <a:endParaRPr lang="en-US" sz="1900" dirty="0"/>
          </a:p>
        </p:txBody>
      </p:sp>
      <p:sp>
        <p:nvSpPr>
          <p:cNvPr id="14" name="Text 12"/>
          <p:cNvSpPr txBox="1"/>
          <p:nvPr/>
        </p:nvSpPr>
        <p:spPr>
          <a:xfrm>
            <a:off x="1536192" y="3355848"/>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Un sistema de señales acordado: un toque convoca, otro da alarma.</a:t>
            </a:r>
            <a:endParaRPr lang="en-US" sz="1400" dirty="0"/>
          </a:p>
        </p:txBody>
      </p:sp>
      <p:sp>
        <p:nvSpPr>
          <p:cNvPr id="15" name="Shape 13"/>
          <p:cNvSpPr/>
          <p:nvPr/>
        </p:nvSpPr>
        <p:spPr>
          <a:xfrm>
            <a:off x="822960" y="3941064"/>
            <a:ext cx="420624" cy="420624"/>
          </a:xfrm>
          <a:prstGeom prst="ellipse">
            <a:avLst/>
          </a:prstGeom>
          <a:solidFill>
            <a:srgbClr val="F2A93B"/>
          </a:solidFill>
          <a:ln w="12700">
            <a:solidFill>
              <a:srgbClr val="F2A93B"/>
            </a:solidFill>
            <a:prstDash val="solid"/>
          </a:ln>
        </p:spPr>
      </p:sp>
      <p:sp>
        <p:nvSpPr>
          <p:cNvPr id="16" name="Text 14"/>
          <p:cNvSpPr txBox="1"/>
          <p:nvPr/>
        </p:nvSpPr>
        <p:spPr>
          <a:xfrm>
            <a:off x="822960" y="3941064"/>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36192" y="3895344"/>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El punto de encuentro — Nehemías 4:20</a:t>
            </a:r>
            <a:endParaRPr lang="en-US" sz="1900" dirty="0"/>
          </a:p>
        </p:txBody>
      </p:sp>
      <p:sp>
        <p:nvSpPr>
          <p:cNvPr id="18" name="Text 16"/>
          <p:cNvSpPr txBox="1"/>
          <p:nvPr/>
        </p:nvSpPr>
        <p:spPr>
          <a:xfrm>
            <a:off x="1536192" y="4251960"/>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«Donde oyereis el sonido de la trompeta, reuníos allí con nosotros».</a:t>
            </a:r>
            <a:endParaRPr lang="en-US" sz="1400" dirty="0"/>
          </a:p>
        </p:txBody>
      </p:sp>
      <p:sp>
        <p:nvSpPr>
          <p:cNvPr id="19" name="Shape 17"/>
          <p:cNvSpPr/>
          <p:nvPr/>
        </p:nvSpPr>
        <p:spPr>
          <a:xfrm>
            <a:off x="822960" y="4837176"/>
            <a:ext cx="420624" cy="420624"/>
          </a:xfrm>
          <a:prstGeom prst="ellipse">
            <a:avLst/>
          </a:prstGeom>
          <a:solidFill>
            <a:srgbClr val="F2A93B"/>
          </a:solidFill>
          <a:ln w="12700">
            <a:solidFill>
              <a:srgbClr val="F2A93B"/>
            </a:solidFill>
            <a:prstDash val="solid"/>
          </a:ln>
        </p:spPr>
      </p:sp>
      <p:sp>
        <p:nvSpPr>
          <p:cNvPr id="20" name="Text 18"/>
          <p:cNvSpPr txBox="1"/>
          <p:nvPr/>
        </p:nvSpPr>
        <p:spPr>
          <a:xfrm>
            <a:off x="822960" y="483717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536192" y="4791456"/>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La reacción esperada — Amós 3:6</a:t>
            </a:r>
            <a:endParaRPr lang="en-US" sz="1900" dirty="0"/>
          </a:p>
        </p:txBody>
      </p:sp>
      <p:sp>
        <p:nvSpPr>
          <p:cNvPr id="22" name="Text 20"/>
          <p:cNvSpPr txBox="1"/>
          <p:nvPr/>
        </p:nvSpPr>
        <p:spPr>
          <a:xfrm>
            <a:off x="1536192" y="5148072"/>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¿Se tocará la trompeta en la ciudad, y no se alborotará el pueblo?</a:t>
            </a:r>
            <a:endParaRPr lang="en-US" sz="1400" dirty="0"/>
          </a:p>
        </p:txBody>
      </p:sp>
      <p:sp>
        <p:nvSpPr>
          <p:cNvPr id="23" name="Text 21"/>
          <p:cNvSpPr txBox="1"/>
          <p:nvPr/>
        </p:nvSpPr>
        <p:spPr>
          <a:xfrm>
            <a:off x="822960" y="571500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El atalaya no siempre lleva púlpito. A veces lleva casco.</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HECHOS 11:29</a:t>
            </a:r>
            <a:endParaRPr lang="en-US" sz="1200" dirty="0"/>
          </a:p>
        </p:txBody>
      </p:sp>
      <p:sp>
        <p:nvSpPr>
          <p:cNvPr id="3" name="Text 1"/>
          <p:cNvSpPr txBox="1"/>
          <p:nvPr/>
        </p:nvSpPr>
        <p:spPr>
          <a:xfrm>
            <a:off x="822960" y="1051560"/>
            <a:ext cx="10543032" cy="1463040"/>
          </a:xfrm>
          <a:prstGeom prst="rect">
            <a:avLst/>
          </a:prstGeom>
          <a:noFill/>
          <a:ln/>
        </p:spPr>
        <p:txBody>
          <a:bodyPr wrap="square" lIns="0" tIns="0" rIns="0" bIns="0" rtlCol="0" anchor="ctr"/>
          <a:lstStyle/>
          <a:p>
            <a:pPr indent="0" marL="0">
              <a:lnSpc>
                <a:spcPct val="115000"/>
              </a:lnSpc>
              <a:buNone/>
            </a:pPr>
            <a:r>
              <a:rPr lang="en-US" sz="3200" dirty="0">
                <a:solidFill>
                  <a:srgbClr val="F6F2E9"/>
                </a:solidFill>
                <a:latin typeface="Cambria" pitchFamily="34" charset="0"/>
                <a:ea typeface="Cambria" pitchFamily="34" charset="-122"/>
                <a:cs typeface="Cambria" pitchFamily="34" charset="-120"/>
              </a:rPr>
              <a:t>Cada uno conforme a lo que tenía, determinaron enviar </a:t>
            </a:r>
            <a:pPr indent="0" marL="0">
              <a:lnSpc>
                <a:spcPct val="115000"/>
              </a:lnSpc>
              <a:buNone/>
            </a:pPr>
            <a:r>
              <a:rPr lang="en-US" sz="3200" b="1" dirty="0">
                <a:solidFill>
                  <a:srgbClr val="F2A93B"/>
                </a:solidFill>
                <a:latin typeface="Cambria" pitchFamily="34" charset="0"/>
                <a:ea typeface="Cambria" pitchFamily="34" charset="-122"/>
                <a:cs typeface="Cambria" pitchFamily="34" charset="-120"/>
              </a:rPr>
              <a:t>socorro</a:t>
            </a:r>
            <a:pPr indent="0" marL="0">
              <a:lnSpc>
                <a:spcPct val="115000"/>
              </a:lnSpc>
              <a:buNone/>
            </a:pPr>
            <a:r>
              <a:rPr lang="en-US" sz="3200" dirty="0">
                <a:solidFill>
                  <a:srgbClr val="F6F2E9"/>
                </a:solidFill>
                <a:latin typeface="Cambria" pitchFamily="34" charset="0"/>
                <a:ea typeface="Cambria" pitchFamily="34" charset="-122"/>
                <a:cs typeface="Cambria" pitchFamily="34" charset="-120"/>
              </a:rPr>
              <a:t> a los hermanos.</a:t>
            </a:r>
            <a:endParaRPr lang="en-US" sz="3200" dirty="0"/>
          </a:p>
        </p:txBody>
      </p:sp>
      <p:sp>
        <p:nvSpPr>
          <p:cNvPr id="4" name="Shape 2"/>
          <p:cNvSpPr/>
          <p:nvPr/>
        </p:nvSpPr>
        <p:spPr>
          <a:xfrm>
            <a:off x="822960" y="2788920"/>
            <a:ext cx="2057400" cy="1234440"/>
          </a:xfrm>
          <a:prstGeom prst="roundRect">
            <a:avLst>
              <a:gd name="adj" fmla="val 7407"/>
            </a:avLst>
          </a:prstGeom>
          <a:solidFill>
            <a:srgbClr val="232D3F"/>
          </a:solidFill>
          <a:ln w="12700">
            <a:solidFill>
              <a:srgbClr val="232D3F"/>
            </a:solidFill>
            <a:prstDash val="solid"/>
          </a:ln>
        </p:spPr>
      </p:sp>
      <p:sp>
        <p:nvSpPr>
          <p:cNvPr id="5" name="Text 3"/>
          <p:cNvSpPr txBox="1"/>
          <p:nvPr/>
        </p:nvSpPr>
        <p:spPr>
          <a:xfrm>
            <a:off x="932688"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Aviso</a:t>
            </a:r>
            <a:endParaRPr lang="en-US" sz="1500" dirty="0"/>
          </a:p>
        </p:txBody>
      </p:sp>
      <p:sp>
        <p:nvSpPr>
          <p:cNvPr id="6" name="Text 4"/>
          <p:cNvSpPr txBox="1"/>
          <p:nvPr/>
        </p:nvSpPr>
        <p:spPr>
          <a:xfrm>
            <a:off x="2880360" y="2788920"/>
            <a:ext cx="256032" cy="123444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3136392" y="2788920"/>
            <a:ext cx="2057400" cy="1234440"/>
          </a:xfrm>
          <a:prstGeom prst="roundRect">
            <a:avLst>
              <a:gd name="adj" fmla="val 7407"/>
            </a:avLst>
          </a:prstGeom>
          <a:solidFill>
            <a:srgbClr val="232D3F"/>
          </a:solidFill>
          <a:ln w="12700">
            <a:solidFill>
              <a:srgbClr val="232D3F"/>
            </a:solidFill>
            <a:prstDash val="solid"/>
          </a:ln>
        </p:spPr>
      </p:sp>
      <p:sp>
        <p:nvSpPr>
          <p:cNvPr id="8" name="Text 6"/>
          <p:cNvSpPr txBox="1"/>
          <p:nvPr/>
        </p:nvSpPr>
        <p:spPr>
          <a:xfrm>
            <a:off x="3246120"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Decisión</a:t>
            </a:r>
            <a:endParaRPr lang="en-US" sz="1500" dirty="0"/>
          </a:p>
        </p:txBody>
      </p:sp>
      <p:sp>
        <p:nvSpPr>
          <p:cNvPr id="9" name="Text 7"/>
          <p:cNvSpPr txBox="1"/>
          <p:nvPr/>
        </p:nvSpPr>
        <p:spPr>
          <a:xfrm>
            <a:off x="5193792" y="2788920"/>
            <a:ext cx="256032" cy="123444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449824" y="2788920"/>
            <a:ext cx="2057400" cy="1234440"/>
          </a:xfrm>
          <a:prstGeom prst="roundRect">
            <a:avLst>
              <a:gd name="adj" fmla="val 7407"/>
            </a:avLst>
          </a:prstGeom>
          <a:solidFill>
            <a:srgbClr val="232D3F"/>
          </a:solidFill>
          <a:ln w="12700">
            <a:solidFill>
              <a:srgbClr val="232D3F"/>
            </a:solidFill>
            <a:prstDash val="solid"/>
          </a:ln>
        </p:spPr>
      </p:sp>
      <p:sp>
        <p:nvSpPr>
          <p:cNvPr id="11" name="Text 9"/>
          <p:cNvSpPr txBox="1"/>
          <p:nvPr/>
        </p:nvSpPr>
        <p:spPr>
          <a:xfrm>
            <a:off x="5559552"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Aporte según</a:t>
            </a:r>
            <a:endParaRPr lang="en-US" sz="1500" dirty="0"/>
          </a:p>
          <a:p>
            <a:pPr algn="ctr" indent="0" marL="0">
              <a:buNone/>
            </a:pPr>
            <a:r>
              <a:rPr lang="en-US" sz="1500" b="1" dirty="0">
                <a:solidFill>
                  <a:srgbClr val="F6F2E9"/>
                </a:solidFill>
                <a:latin typeface="Calibri" pitchFamily="34" charset="0"/>
                <a:ea typeface="Calibri" pitchFamily="34" charset="-122"/>
                <a:cs typeface="Calibri" pitchFamily="34" charset="-120"/>
              </a:rPr>
              <a:t>capacidad</a:t>
            </a:r>
            <a:endParaRPr lang="en-US" sz="1500" dirty="0"/>
          </a:p>
        </p:txBody>
      </p:sp>
      <p:sp>
        <p:nvSpPr>
          <p:cNvPr id="12" name="Text 10"/>
          <p:cNvSpPr txBox="1"/>
          <p:nvPr/>
        </p:nvSpPr>
        <p:spPr>
          <a:xfrm>
            <a:off x="7507224" y="2788920"/>
            <a:ext cx="256032" cy="123444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763256" y="2788920"/>
            <a:ext cx="2057400" cy="1234440"/>
          </a:xfrm>
          <a:prstGeom prst="roundRect">
            <a:avLst>
              <a:gd name="adj" fmla="val 7407"/>
            </a:avLst>
          </a:prstGeom>
          <a:solidFill>
            <a:srgbClr val="232D3F"/>
          </a:solidFill>
          <a:ln w="12700">
            <a:solidFill>
              <a:srgbClr val="232D3F"/>
            </a:solidFill>
            <a:prstDash val="solid"/>
          </a:ln>
        </p:spPr>
      </p:sp>
      <p:sp>
        <p:nvSpPr>
          <p:cNvPr id="14" name="Text 12"/>
          <p:cNvSpPr txBox="1"/>
          <p:nvPr/>
        </p:nvSpPr>
        <p:spPr>
          <a:xfrm>
            <a:off x="7872984"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Recolección</a:t>
            </a:r>
            <a:endParaRPr lang="en-US" sz="1500" dirty="0"/>
          </a:p>
        </p:txBody>
      </p:sp>
      <p:sp>
        <p:nvSpPr>
          <p:cNvPr id="15" name="Text 13"/>
          <p:cNvSpPr txBox="1"/>
          <p:nvPr/>
        </p:nvSpPr>
        <p:spPr>
          <a:xfrm>
            <a:off x="9820656" y="2788920"/>
            <a:ext cx="256032" cy="1234440"/>
          </a:xfrm>
          <a:prstGeom prst="rect">
            <a:avLst/>
          </a:prstGeom>
          <a:noFill/>
          <a:ln/>
        </p:spPr>
        <p:txBody>
          <a:bodyPr wrap="square" lIns="0" tIns="0" rIns="0" bIns="0" rtlCol="0" anchor="ctr"/>
          <a:lstStyle/>
          <a:p>
            <a:pPr algn="ctr" indent="0" marL="0">
              <a:buNone/>
            </a:pPr>
            <a:r>
              <a:rPr lang="en-US" sz="2200" b="1" dirty="0">
                <a:solidFill>
                  <a:srgbClr val="F2A93B"/>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10076688" y="2788920"/>
            <a:ext cx="2057400" cy="1234440"/>
          </a:xfrm>
          <a:prstGeom prst="roundRect">
            <a:avLst>
              <a:gd name="adj" fmla="val 7407"/>
            </a:avLst>
          </a:prstGeom>
          <a:solidFill>
            <a:srgbClr val="232D3F"/>
          </a:solidFill>
          <a:ln w="12700">
            <a:solidFill>
              <a:srgbClr val="232D3F"/>
            </a:solidFill>
            <a:prstDash val="solid"/>
          </a:ln>
        </p:spPr>
      </p:sp>
      <p:sp>
        <p:nvSpPr>
          <p:cNvPr id="17" name="Text 15"/>
          <p:cNvSpPr txBox="1"/>
          <p:nvPr/>
        </p:nvSpPr>
        <p:spPr>
          <a:xfrm>
            <a:off x="10186416" y="2788920"/>
            <a:ext cx="1837944" cy="1234440"/>
          </a:xfrm>
          <a:prstGeom prst="rect">
            <a:avLst/>
          </a:prstGeom>
          <a:noFill/>
          <a:ln/>
        </p:spPr>
        <p:txBody>
          <a:bodyPr wrap="square" lIns="0" tIns="0" rIns="0" bIns="0" rtlCol="0" anchor="ctr"/>
          <a:lstStyle/>
          <a:p>
            <a:pPr algn="ctr" indent="0" marL="0">
              <a:buNone/>
            </a:pPr>
            <a:r>
              <a:rPr lang="en-US" sz="1500" b="1" dirty="0">
                <a:solidFill>
                  <a:srgbClr val="F6F2E9"/>
                </a:solidFill>
                <a:latin typeface="Calibri" pitchFamily="34" charset="0"/>
                <a:ea typeface="Calibri" pitchFamily="34" charset="-122"/>
                <a:cs typeface="Calibri" pitchFamily="34" charset="-120"/>
              </a:rPr>
              <a:t>Envío por manos</a:t>
            </a:r>
            <a:endParaRPr lang="en-US" sz="1500" dirty="0"/>
          </a:p>
          <a:p>
            <a:pPr algn="ctr" indent="0" marL="0">
              <a:buNone/>
            </a:pPr>
            <a:r>
              <a:rPr lang="en-US" sz="1500" b="1" dirty="0">
                <a:solidFill>
                  <a:srgbClr val="F6F2E9"/>
                </a:solidFill>
                <a:latin typeface="Calibri" pitchFamily="34" charset="0"/>
                <a:ea typeface="Calibri" pitchFamily="34" charset="-122"/>
                <a:cs typeface="Calibri" pitchFamily="34" charset="-120"/>
              </a:rPr>
              <a:t>responsables</a:t>
            </a:r>
            <a:endParaRPr lang="en-US" sz="1500" dirty="0"/>
          </a:p>
        </p:txBody>
      </p:sp>
      <p:sp>
        <p:nvSpPr>
          <p:cNvPr id="18" name="Shape 16"/>
          <p:cNvSpPr/>
          <p:nvPr/>
        </p:nvSpPr>
        <p:spPr>
          <a:xfrm>
            <a:off x="822960" y="4526280"/>
            <a:ext cx="10543032" cy="1600200"/>
          </a:xfrm>
          <a:prstGeom prst="roundRect">
            <a:avLst>
              <a:gd name="adj" fmla="val 5714"/>
            </a:avLst>
          </a:prstGeom>
          <a:solidFill>
            <a:srgbClr val="F2A93B"/>
          </a:solidFill>
          <a:ln w="12700">
            <a:solidFill>
              <a:srgbClr val="F2A93B"/>
            </a:solidFill>
            <a:prstDash val="solid"/>
          </a:ln>
        </p:spPr>
      </p:sp>
      <p:sp>
        <p:nvSpPr>
          <p:cNvPr id="19" name="Text 17"/>
          <p:cNvSpPr txBox="1"/>
          <p:nvPr/>
        </p:nvSpPr>
        <p:spPr>
          <a:xfrm>
            <a:off x="822960" y="4526280"/>
            <a:ext cx="10543032" cy="1600200"/>
          </a:xfrm>
          <a:prstGeom prst="rect">
            <a:avLst/>
          </a:prstGeom>
          <a:noFill/>
          <a:ln/>
        </p:spPr>
        <p:txBody>
          <a:bodyPr wrap="square" lIns="0" tIns="0" rIns="0" bIns="0" rtlCol="0" anchor="ctr"/>
          <a:lstStyle/>
          <a:p>
            <a:pPr algn="ctr" indent="0" marL="0">
              <a:lnSpc>
                <a:spcPct val="105000"/>
              </a:lnSpc>
              <a:buNone/>
            </a:pPr>
            <a:r>
              <a:rPr lang="en-US" sz="3400" b="1" dirty="0">
                <a:solidFill>
                  <a:srgbClr val="0E121A"/>
                </a:solidFill>
                <a:latin typeface="Cambria" pitchFamily="34" charset="0"/>
                <a:ea typeface="Cambria" pitchFamily="34" charset="-122"/>
                <a:cs typeface="Cambria" pitchFamily="34" charset="-120"/>
              </a:rPr>
              <a:t>LA IGLESIA ES UN</a:t>
            </a:r>
            <a:endParaRPr lang="en-US" sz="3400" dirty="0"/>
          </a:p>
          <a:p>
            <a:pPr algn="ctr" indent="0" marL="0">
              <a:lnSpc>
                <a:spcPct val="105000"/>
              </a:lnSpc>
              <a:buNone/>
            </a:pPr>
            <a:r>
              <a:rPr lang="en-US" sz="3400" b="1" dirty="0">
                <a:solidFill>
                  <a:srgbClr val="0E121A"/>
                </a:solidFill>
                <a:latin typeface="Cambria" pitchFamily="34" charset="0"/>
                <a:ea typeface="Cambria" pitchFamily="34" charset="-122"/>
                <a:cs typeface="Cambria" pitchFamily="34" charset="-120"/>
              </a:rPr>
              <a:t>ORGANISMO DE SOCORRO.</a:t>
            </a:r>
            <a:endParaRPr lang="en-US" sz="3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CÓMO SE PREPARA UN CRISTIANO</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Dos errores y un camino</a:t>
            </a:r>
            <a:endParaRPr lang="en-US" sz="3800" dirty="0"/>
          </a:p>
        </p:txBody>
      </p:sp>
      <p:sp>
        <p:nvSpPr>
          <p:cNvPr id="4" name="Shape 2"/>
          <p:cNvSpPr/>
          <p:nvPr/>
        </p:nvSpPr>
        <p:spPr>
          <a:xfrm>
            <a:off x="822960" y="2194560"/>
            <a:ext cx="3566160" cy="2286000"/>
          </a:xfrm>
          <a:prstGeom prst="roundRect">
            <a:avLst>
              <a:gd name="adj" fmla="val 4000"/>
            </a:avLst>
          </a:prstGeom>
          <a:solidFill>
            <a:srgbClr val="1C2534"/>
          </a:solidFill>
          <a:ln w="12700">
            <a:solidFill>
              <a:srgbClr val="1C2534"/>
            </a:solidFill>
            <a:prstDash val="solid"/>
          </a:ln>
        </p:spPr>
      </p:sp>
      <p:sp>
        <p:nvSpPr>
          <p:cNvPr id="5" name="Text 3"/>
          <p:cNvSpPr txBox="1"/>
          <p:nvPr/>
        </p:nvSpPr>
        <p:spPr>
          <a:xfrm>
            <a:off x="1143000" y="2423160"/>
            <a:ext cx="2926080" cy="457200"/>
          </a:xfrm>
          <a:prstGeom prst="rect">
            <a:avLst/>
          </a:prstGeom>
          <a:noFill/>
          <a:ln/>
        </p:spPr>
        <p:txBody>
          <a:bodyPr wrap="square" lIns="0" tIns="0" rIns="0" bIns="0" rtlCol="0" anchor="ctr"/>
          <a:lstStyle/>
          <a:p>
            <a:pPr indent="0" marL="0">
              <a:buNone/>
            </a:pPr>
            <a:r>
              <a:rPr lang="en-US" sz="1900" b="1" dirty="0">
                <a:solidFill>
                  <a:srgbClr val="E05555"/>
                </a:solidFill>
                <a:latin typeface="Cambria" pitchFamily="34" charset="0"/>
                <a:ea typeface="Cambria" pitchFamily="34" charset="-122"/>
                <a:cs typeface="Cambria" pitchFamily="34" charset="-120"/>
              </a:rPr>
              <a:t>Fatalismo espiritual</a:t>
            </a:r>
            <a:endParaRPr lang="en-US" sz="1900" dirty="0"/>
          </a:p>
        </p:txBody>
      </p:sp>
      <p:sp>
        <p:nvSpPr>
          <p:cNvPr id="6" name="Text 4"/>
          <p:cNvSpPr txBox="1"/>
          <p:nvPr/>
        </p:nvSpPr>
        <p:spPr>
          <a:xfrm>
            <a:off x="1143000" y="2926080"/>
            <a:ext cx="2926080" cy="137160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«Si Dios me guarda,</a:t>
            </a: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¿para qué me preparo?»</a:t>
            </a:r>
            <a:endParaRPr lang="en-US" sz="1400" dirty="0"/>
          </a:p>
          <a:p>
            <a:pPr indent="0" marL="0">
              <a:buNone/>
            </a:pP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Jesús lo llamó tentar a Dios.</a:t>
            </a: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Mateo 4:7</a:t>
            </a:r>
            <a:endParaRPr lang="en-US" sz="1400" dirty="0"/>
          </a:p>
        </p:txBody>
      </p:sp>
      <p:sp>
        <p:nvSpPr>
          <p:cNvPr id="7" name="Shape 5"/>
          <p:cNvSpPr/>
          <p:nvPr/>
        </p:nvSpPr>
        <p:spPr>
          <a:xfrm>
            <a:off x="7799832" y="2194560"/>
            <a:ext cx="3566160" cy="2286000"/>
          </a:xfrm>
          <a:prstGeom prst="roundRect">
            <a:avLst>
              <a:gd name="adj" fmla="val 4000"/>
            </a:avLst>
          </a:prstGeom>
          <a:solidFill>
            <a:srgbClr val="1C2534"/>
          </a:solidFill>
          <a:ln w="12700">
            <a:solidFill>
              <a:srgbClr val="1C2534"/>
            </a:solidFill>
            <a:prstDash val="solid"/>
          </a:ln>
        </p:spPr>
      </p:sp>
      <p:sp>
        <p:nvSpPr>
          <p:cNvPr id="8" name="Text 6"/>
          <p:cNvSpPr txBox="1"/>
          <p:nvPr/>
        </p:nvSpPr>
        <p:spPr>
          <a:xfrm>
            <a:off x="8119872" y="2423160"/>
            <a:ext cx="2926080" cy="457200"/>
          </a:xfrm>
          <a:prstGeom prst="rect">
            <a:avLst/>
          </a:prstGeom>
          <a:noFill/>
          <a:ln/>
        </p:spPr>
        <p:txBody>
          <a:bodyPr wrap="square" lIns="0" tIns="0" rIns="0" bIns="0" rtlCol="0" anchor="ctr"/>
          <a:lstStyle/>
          <a:p>
            <a:pPr indent="0" marL="0">
              <a:buNone/>
            </a:pPr>
            <a:r>
              <a:rPr lang="en-US" sz="1900" b="1" dirty="0">
                <a:solidFill>
                  <a:srgbClr val="E05555"/>
                </a:solidFill>
                <a:latin typeface="Cambria" pitchFamily="34" charset="0"/>
                <a:ea typeface="Cambria" pitchFamily="34" charset="-122"/>
                <a:cs typeface="Cambria" pitchFamily="34" charset="-120"/>
              </a:rPr>
              <a:t>Pánico acumulador</a:t>
            </a:r>
            <a:endParaRPr lang="en-US" sz="1900" dirty="0"/>
          </a:p>
        </p:txBody>
      </p:sp>
      <p:sp>
        <p:nvSpPr>
          <p:cNvPr id="9" name="Text 7"/>
          <p:cNvSpPr txBox="1"/>
          <p:nvPr/>
        </p:nvSpPr>
        <p:spPr>
          <a:xfrm>
            <a:off x="8119872" y="2926080"/>
            <a:ext cx="2926080" cy="137160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Noticias todo el día,</a:t>
            </a: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la casa llena de provisiones,</a:t>
            </a: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el estómago apretado.</a:t>
            </a:r>
            <a:endParaRPr lang="en-US" sz="1400" dirty="0"/>
          </a:p>
          <a:p>
            <a:pPr indent="0" marL="0">
              <a:buNone/>
            </a:pPr>
            <a:endParaRPr lang="en-US" sz="1400" dirty="0"/>
          </a:p>
          <a:p>
            <a:pPr indent="0" marL="0">
              <a:buNone/>
            </a:pPr>
            <a:r>
              <a:rPr lang="en-US" sz="1400" dirty="0">
                <a:solidFill>
                  <a:srgbClr val="99A3B6"/>
                </a:solidFill>
                <a:latin typeface="Calibri" pitchFamily="34" charset="0"/>
                <a:ea typeface="Calibri" pitchFamily="34" charset="-122"/>
                <a:cs typeface="Calibri" pitchFamily="34" charset="-120"/>
              </a:rPr>
              <a:t>Eso es miedo con logística.</a:t>
            </a:r>
            <a:endParaRPr lang="en-US" sz="1400" dirty="0"/>
          </a:p>
        </p:txBody>
      </p:sp>
      <p:sp>
        <p:nvSpPr>
          <p:cNvPr id="10" name="Shape 8"/>
          <p:cNvSpPr/>
          <p:nvPr/>
        </p:nvSpPr>
        <p:spPr>
          <a:xfrm>
            <a:off x="822960" y="4709160"/>
            <a:ext cx="10543032" cy="1600200"/>
          </a:xfrm>
          <a:prstGeom prst="roundRect">
            <a:avLst>
              <a:gd name="adj" fmla="val 5714"/>
            </a:avLst>
          </a:prstGeom>
          <a:solidFill>
            <a:srgbClr val="F2A93B"/>
          </a:solidFill>
          <a:ln w="12700">
            <a:solidFill>
              <a:srgbClr val="F2A93B"/>
            </a:solidFill>
            <a:prstDash val="solid"/>
          </a:ln>
        </p:spPr>
      </p:sp>
      <p:sp>
        <p:nvSpPr>
          <p:cNvPr id="11" name="Text 9"/>
          <p:cNvSpPr txBox="1"/>
          <p:nvPr/>
        </p:nvSpPr>
        <p:spPr>
          <a:xfrm>
            <a:off x="822960" y="4709160"/>
            <a:ext cx="10543032" cy="1600200"/>
          </a:xfrm>
          <a:prstGeom prst="rect">
            <a:avLst/>
          </a:prstGeom>
          <a:noFill/>
          <a:ln/>
        </p:spPr>
        <p:txBody>
          <a:bodyPr wrap="square" lIns="0" tIns="0" rIns="0" bIns="0" rtlCol="0" anchor="ctr"/>
          <a:lstStyle/>
          <a:p>
            <a:pPr algn="ctr" indent="0" marL="0">
              <a:lnSpc>
                <a:spcPct val="130000"/>
              </a:lnSpc>
              <a:buNone/>
            </a:pPr>
            <a:r>
              <a:rPr lang="en-US" sz="3000" b="1" dirty="0">
                <a:solidFill>
                  <a:srgbClr val="0E121A"/>
                </a:solidFill>
                <a:latin typeface="Cambria" pitchFamily="34" charset="0"/>
                <a:ea typeface="Cambria" pitchFamily="34" charset="-122"/>
                <a:cs typeface="Cambria" pitchFamily="34" charset="-120"/>
              </a:rPr>
              <a:t>PRUDENCIA SERENA
</a:t>
            </a:r>
            <a:pPr algn="ctr" indent="0" marL="0">
              <a:lnSpc>
                <a:spcPct val="130000"/>
              </a:lnSpc>
              <a:buNone/>
            </a:pPr>
            <a:r>
              <a:rPr lang="en-US" sz="1500" b="1" dirty="0">
                <a:solidFill>
                  <a:srgbClr val="4A3410"/>
                </a:solidFill>
                <a:latin typeface="Calibri" pitchFamily="34" charset="0"/>
                <a:ea typeface="Calibri" pitchFamily="34" charset="-122"/>
                <a:cs typeface="Calibri" pitchFamily="34" charset="-120"/>
              </a:rPr>
              <a:t>«El caballo se alista para el día de la batalla; mas Jehová es el que da la victoria»  ·  Proverbios 21:31</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PREPARACIÓN</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Siete niveles</a:t>
            </a:r>
            <a:endParaRPr lang="en-US" sz="3800" dirty="0"/>
          </a:p>
        </p:txBody>
      </p:sp>
      <p:sp>
        <p:nvSpPr>
          <p:cNvPr id="4" name="Shape 2"/>
          <p:cNvSpPr/>
          <p:nvPr/>
        </p:nvSpPr>
        <p:spPr>
          <a:xfrm>
            <a:off x="822960" y="2148840"/>
            <a:ext cx="2423160" cy="1371600"/>
          </a:xfrm>
          <a:prstGeom prst="roundRect">
            <a:avLst>
              <a:gd name="adj" fmla="val 6667"/>
            </a:avLst>
          </a:prstGeom>
          <a:solidFill>
            <a:srgbClr val="232D3F"/>
          </a:solidFill>
          <a:ln w="12700">
            <a:solidFill>
              <a:srgbClr val="232D3F"/>
            </a:solidFill>
            <a:prstDash val="solid"/>
          </a:ln>
        </p:spPr>
      </p:sp>
      <p:sp>
        <p:nvSpPr>
          <p:cNvPr id="5" name="Shape 3"/>
          <p:cNvSpPr/>
          <p:nvPr/>
        </p:nvSpPr>
        <p:spPr>
          <a:xfrm>
            <a:off x="1051560" y="2350008"/>
            <a:ext cx="420624" cy="420624"/>
          </a:xfrm>
          <a:prstGeom prst="ellipse">
            <a:avLst/>
          </a:prstGeom>
          <a:solidFill>
            <a:srgbClr val="F2A93B"/>
          </a:solidFill>
          <a:ln w="12700">
            <a:solidFill>
              <a:srgbClr val="F2A93B"/>
            </a:solidFill>
            <a:prstDash val="solid"/>
          </a:ln>
        </p:spPr>
      </p:sp>
      <p:sp>
        <p:nvSpPr>
          <p:cNvPr id="6" name="Text 4"/>
          <p:cNvSpPr txBox="1"/>
          <p:nvPr/>
        </p:nvSpPr>
        <p:spPr>
          <a:xfrm>
            <a:off x="1051560" y="235000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51560" y="2843784"/>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Espiritual</a:t>
            </a:r>
            <a:endParaRPr lang="en-US" sz="1600" dirty="0"/>
          </a:p>
        </p:txBody>
      </p:sp>
      <p:sp>
        <p:nvSpPr>
          <p:cNvPr id="8" name="Text 6"/>
          <p:cNvSpPr txBox="1"/>
          <p:nvPr/>
        </p:nvSpPr>
        <p:spPr>
          <a:xfrm>
            <a:off x="1051560" y="3136392"/>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La casa sobre la roca</a:t>
            </a:r>
            <a:endParaRPr lang="en-US" sz="1200" dirty="0"/>
          </a:p>
        </p:txBody>
      </p:sp>
      <p:sp>
        <p:nvSpPr>
          <p:cNvPr id="9" name="Shape 7"/>
          <p:cNvSpPr/>
          <p:nvPr/>
        </p:nvSpPr>
        <p:spPr>
          <a:xfrm>
            <a:off x="3529584" y="2148840"/>
            <a:ext cx="2423160" cy="1371600"/>
          </a:xfrm>
          <a:prstGeom prst="roundRect">
            <a:avLst>
              <a:gd name="adj" fmla="val 6667"/>
            </a:avLst>
          </a:prstGeom>
          <a:solidFill>
            <a:srgbClr val="232D3F"/>
          </a:solidFill>
          <a:ln w="12700">
            <a:solidFill>
              <a:srgbClr val="232D3F"/>
            </a:solidFill>
            <a:prstDash val="solid"/>
          </a:ln>
        </p:spPr>
      </p:sp>
      <p:sp>
        <p:nvSpPr>
          <p:cNvPr id="10" name="Shape 8"/>
          <p:cNvSpPr/>
          <p:nvPr/>
        </p:nvSpPr>
        <p:spPr>
          <a:xfrm>
            <a:off x="3758184" y="2350008"/>
            <a:ext cx="420624" cy="420624"/>
          </a:xfrm>
          <a:prstGeom prst="ellipse">
            <a:avLst/>
          </a:prstGeom>
          <a:solidFill>
            <a:srgbClr val="F2A93B"/>
          </a:solidFill>
          <a:ln w="12700">
            <a:solidFill>
              <a:srgbClr val="F2A93B"/>
            </a:solidFill>
            <a:prstDash val="solid"/>
          </a:ln>
        </p:spPr>
      </p:sp>
      <p:sp>
        <p:nvSpPr>
          <p:cNvPr id="11" name="Text 9"/>
          <p:cNvSpPr txBox="1"/>
          <p:nvPr/>
        </p:nvSpPr>
        <p:spPr>
          <a:xfrm>
            <a:off x="3758184" y="235000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3758184" y="2843784"/>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Mental</a:t>
            </a:r>
            <a:endParaRPr lang="en-US" sz="1600" dirty="0"/>
          </a:p>
        </p:txBody>
      </p:sp>
      <p:sp>
        <p:nvSpPr>
          <p:cNvPr id="13" name="Text 11"/>
          <p:cNvSpPr txBox="1"/>
          <p:nvPr/>
        </p:nvSpPr>
        <p:spPr>
          <a:xfrm>
            <a:off x="3758184" y="3136392"/>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Información sin intoxicación</a:t>
            </a:r>
            <a:endParaRPr lang="en-US" sz="1200" dirty="0"/>
          </a:p>
        </p:txBody>
      </p:sp>
      <p:sp>
        <p:nvSpPr>
          <p:cNvPr id="14" name="Shape 12"/>
          <p:cNvSpPr/>
          <p:nvPr/>
        </p:nvSpPr>
        <p:spPr>
          <a:xfrm>
            <a:off x="6236208" y="2148840"/>
            <a:ext cx="2423160" cy="1371600"/>
          </a:xfrm>
          <a:prstGeom prst="roundRect">
            <a:avLst>
              <a:gd name="adj" fmla="val 6667"/>
            </a:avLst>
          </a:prstGeom>
          <a:solidFill>
            <a:srgbClr val="232D3F"/>
          </a:solidFill>
          <a:ln w="12700">
            <a:solidFill>
              <a:srgbClr val="232D3F"/>
            </a:solidFill>
            <a:prstDash val="solid"/>
          </a:ln>
        </p:spPr>
      </p:sp>
      <p:sp>
        <p:nvSpPr>
          <p:cNvPr id="15" name="Shape 13"/>
          <p:cNvSpPr/>
          <p:nvPr/>
        </p:nvSpPr>
        <p:spPr>
          <a:xfrm>
            <a:off x="6464808" y="2350008"/>
            <a:ext cx="420624" cy="420624"/>
          </a:xfrm>
          <a:prstGeom prst="ellipse">
            <a:avLst/>
          </a:prstGeom>
          <a:solidFill>
            <a:srgbClr val="F2A93B"/>
          </a:solidFill>
          <a:ln w="12700">
            <a:solidFill>
              <a:srgbClr val="F2A93B"/>
            </a:solidFill>
            <a:prstDash val="solid"/>
          </a:ln>
        </p:spPr>
      </p:sp>
      <p:sp>
        <p:nvSpPr>
          <p:cNvPr id="16" name="Text 14"/>
          <p:cNvSpPr txBox="1"/>
          <p:nvPr/>
        </p:nvSpPr>
        <p:spPr>
          <a:xfrm>
            <a:off x="6464808" y="235000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464808" y="2843784"/>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Cuerpo y casa</a:t>
            </a:r>
            <a:endParaRPr lang="en-US" sz="1600" dirty="0"/>
          </a:p>
        </p:txBody>
      </p:sp>
      <p:sp>
        <p:nvSpPr>
          <p:cNvPr id="18" name="Text 16"/>
          <p:cNvSpPr txBox="1"/>
          <p:nvPr/>
        </p:nvSpPr>
        <p:spPr>
          <a:xfrm>
            <a:off x="6464808" y="3136392"/>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Mochila, botiquín, anclajes</a:t>
            </a:r>
            <a:endParaRPr lang="en-US" sz="1200" dirty="0"/>
          </a:p>
        </p:txBody>
      </p:sp>
      <p:sp>
        <p:nvSpPr>
          <p:cNvPr id="19" name="Shape 17"/>
          <p:cNvSpPr/>
          <p:nvPr/>
        </p:nvSpPr>
        <p:spPr>
          <a:xfrm>
            <a:off x="8942832" y="2148840"/>
            <a:ext cx="2423160" cy="1371600"/>
          </a:xfrm>
          <a:prstGeom prst="roundRect">
            <a:avLst>
              <a:gd name="adj" fmla="val 6667"/>
            </a:avLst>
          </a:prstGeom>
          <a:solidFill>
            <a:srgbClr val="232D3F"/>
          </a:solidFill>
          <a:ln w="12700">
            <a:solidFill>
              <a:srgbClr val="232D3F"/>
            </a:solidFill>
            <a:prstDash val="solid"/>
          </a:ln>
        </p:spPr>
      </p:sp>
      <p:sp>
        <p:nvSpPr>
          <p:cNvPr id="20" name="Shape 18"/>
          <p:cNvSpPr/>
          <p:nvPr/>
        </p:nvSpPr>
        <p:spPr>
          <a:xfrm>
            <a:off x="9171432" y="2350008"/>
            <a:ext cx="420624" cy="420624"/>
          </a:xfrm>
          <a:prstGeom prst="ellipse">
            <a:avLst/>
          </a:prstGeom>
          <a:solidFill>
            <a:srgbClr val="F2A93B"/>
          </a:solidFill>
          <a:ln w="12700">
            <a:solidFill>
              <a:srgbClr val="F2A93B"/>
            </a:solidFill>
            <a:prstDash val="solid"/>
          </a:ln>
        </p:spPr>
      </p:sp>
      <p:sp>
        <p:nvSpPr>
          <p:cNvPr id="21" name="Text 19"/>
          <p:cNvSpPr txBox="1"/>
          <p:nvPr/>
        </p:nvSpPr>
        <p:spPr>
          <a:xfrm>
            <a:off x="9171432" y="2350008"/>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9171432" y="2843784"/>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Familia</a:t>
            </a:r>
            <a:endParaRPr lang="en-US" sz="1600" dirty="0"/>
          </a:p>
        </p:txBody>
      </p:sp>
      <p:sp>
        <p:nvSpPr>
          <p:cNvPr id="23" name="Text 21"/>
          <p:cNvSpPr txBox="1"/>
          <p:nvPr/>
        </p:nvSpPr>
        <p:spPr>
          <a:xfrm>
            <a:off x="9171432" y="3136392"/>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El plan escrito</a:t>
            </a:r>
            <a:endParaRPr lang="en-US" sz="1200" dirty="0"/>
          </a:p>
        </p:txBody>
      </p:sp>
      <p:sp>
        <p:nvSpPr>
          <p:cNvPr id="24" name="Shape 22"/>
          <p:cNvSpPr/>
          <p:nvPr/>
        </p:nvSpPr>
        <p:spPr>
          <a:xfrm>
            <a:off x="822960" y="3813048"/>
            <a:ext cx="2423160" cy="1371600"/>
          </a:xfrm>
          <a:prstGeom prst="roundRect">
            <a:avLst>
              <a:gd name="adj" fmla="val 6667"/>
            </a:avLst>
          </a:prstGeom>
          <a:solidFill>
            <a:srgbClr val="232D3F"/>
          </a:solidFill>
          <a:ln w="12700">
            <a:solidFill>
              <a:srgbClr val="232D3F"/>
            </a:solidFill>
            <a:prstDash val="solid"/>
          </a:ln>
        </p:spPr>
      </p:sp>
      <p:sp>
        <p:nvSpPr>
          <p:cNvPr id="25" name="Shape 23"/>
          <p:cNvSpPr/>
          <p:nvPr/>
        </p:nvSpPr>
        <p:spPr>
          <a:xfrm>
            <a:off x="1051560" y="4014216"/>
            <a:ext cx="420624" cy="420624"/>
          </a:xfrm>
          <a:prstGeom prst="ellipse">
            <a:avLst/>
          </a:prstGeom>
          <a:solidFill>
            <a:srgbClr val="F2A93B"/>
          </a:solidFill>
          <a:ln w="12700">
            <a:solidFill>
              <a:srgbClr val="F2A93B"/>
            </a:solidFill>
            <a:prstDash val="solid"/>
          </a:ln>
        </p:spPr>
      </p:sp>
      <p:sp>
        <p:nvSpPr>
          <p:cNvPr id="26" name="Text 24"/>
          <p:cNvSpPr txBox="1"/>
          <p:nvPr/>
        </p:nvSpPr>
        <p:spPr>
          <a:xfrm>
            <a:off x="1051560" y="401421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051560" y="4507992"/>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Económica</a:t>
            </a:r>
            <a:endParaRPr lang="en-US" sz="1600" dirty="0"/>
          </a:p>
        </p:txBody>
      </p:sp>
      <p:sp>
        <p:nvSpPr>
          <p:cNvPr id="28" name="Text 26"/>
          <p:cNvSpPr txBox="1"/>
          <p:nvPr/>
        </p:nvSpPr>
        <p:spPr>
          <a:xfrm>
            <a:off x="1051560" y="4800600"/>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La quinta parte de José</a:t>
            </a:r>
            <a:endParaRPr lang="en-US" sz="1200" dirty="0"/>
          </a:p>
        </p:txBody>
      </p:sp>
      <p:sp>
        <p:nvSpPr>
          <p:cNvPr id="29" name="Shape 27"/>
          <p:cNvSpPr/>
          <p:nvPr/>
        </p:nvSpPr>
        <p:spPr>
          <a:xfrm>
            <a:off x="3529584" y="3813048"/>
            <a:ext cx="2423160" cy="1371600"/>
          </a:xfrm>
          <a:prstGeom prst="roundRect">
            <a:avLst>
              <a:gd name="adj" fmla="val 6667"/>
            </a:avLst>
          </a:prstGeom>
          <a:solidFill>
            <a:srgbClr val="232D3F"/>
          </a:solidFill>
          <a:ln w="12700">
            <a:solidFill>
              <a:srgbClr val="232D3F"/>
            </a:solidFill>
            <a:prstDash val="solid"/>
          </a:ln>
        </p:spPr>
      </p:sp>
      <p:sp>
        <p:nvSpPr>
          <p:cNvPr id="30" name="Shape 28"/>
          <p:cNvSpPr/>
          <p:nvPr/>
        </p:nvSpPr>
        <p:spPr>
          <a:xfrm>
            <a:off x="3758184" y="4014216"/>
            <a:ext cx="420624" cy="420624"/>
          </a:xfrm>
          <a:prstGeom prst="ellipse">
            <a:avLst/>
          </a:prstGeom>
          <a:solidFill>
            <a:srgbClr val="F2A93B"/>
          </a:solidFill>
          <a:ln w="12700">
            <a:solidFill>
              <a:srgbClr val="F2A93B"/>
            </a:solidFill>
            <a:prstDash val="solid"/>
          </a:ln>
        </p:spPr>
      </p:sp>
      <p:sp>
        <p:nvSpPr>
          <p:cNvPr id="31" name="Text 29"/>
          <p:cNvSpPr txBox="1"/>
          <p:nvPr/>
        </p:nvSpPr>
        <p:spPr>
          <a:xfrm>
            <a:off x="3758184" y="401421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3758184" y="4507992"/>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Comunitaria</a:t>
            </a:r>
            <a:endParaRPr lang="en-US" sz="1600" dirty="0"/>
          </a:p>
        </p:txBody>
      </p:sp>
      <p:sp>
        <p:nvSpPr>
          <p:cNvPr id="33" name="Text 31"/>
          <p:cNvSpPr txBox="1"/>
          <p:nvPr/>
        </p:nvSpPr>
        <p:spPr>
          <a:xfrm>
            <a:off x="3758184" y="4800600"/>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La iglesia y el vecino</a:t>
            </a:r>
            <a:endParaRPr lang="en-US" sz="1200" dirty="0"/>
          </a:p>
        </p:txBody>
      </p:sp>
      <p:sp>
        <p:nvSpPr>
          <p:cNvPr id="34" name="Shape 32"/>
          <p:cNvSpPr/>
          <p:nvPr/>
        </p:nvSpPr>
        <p:spPr>
          <a:xfrm>
            <a:off x="6236208" y="3813048"/>
            <a:ext cx="2423160" cy="1371600"/>
          </a:xfrm>
          <a:prstGeom prst="roundRect">
            <a:avLst>
              <a:gd name="adj" fmla="val 6667"/>
            </a:avLst>
          </a:prstGeom>
          <a:solidFill>
            <a:srgbClr val="232D3F"/>
          </a:solidFill>
          <a:ln w="12700">
            <a:solidFill>
              <a:srgbClr val="232D3F"/>
            </a:solidFill>
            <a:prstDash val="solid"/>
          </a:ln>
        </p:spPr>
      </p:sp>
      <p:sp>
        <p:nvSpPr>
          <p:cNvPr id="35" name="Shape 33"/>
          <p:cNvSpPr/>
          <p:nvPr/>
        </p:nvSpPr>
        <p:spPr>
          <a:xfrm>
            <a:off x="6464808" y="4014216"/>
            <a:ext cx="420624" cy="420624"/>
          </a:xfrm>
          <a:prstGeom prst="ellipse">
            <a:avLst/>
          </a:prstGeom>
          <a:solidFill>
            <a:srgbClr val="F2A93B"/>
          </a:solidFill>
          <a:ln w="12700">
            <a:solidFill>
              <a:srgbClr val="F2A93B"/>
            </a:solidFill>
            <a:prstDash val="solid"/>
          </a:ln>
        </p:spPr>
      </p:sp>
      <p:sp>
        <p:nvSpPr>
          <p:cNvPr id="36" name="Text 34"/>
          <p:cNvSpPr txBox="1"/>
          <p:nvPr/>
        </p:nvSpPr>
        <p:spPr>
          <a:xfrm>
            <a:off x="6464808" y="4014216"/>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7</a:t>
            </a:r>
            <a:endParaRPr lang="en-US" sz="1500" dirty="0"/>
          </a:p>
        </p:txBody>
      </p:sp>
      <p:sp>
        <p:nvSpPr>
          <p:cNvPr id="37" name="Text 35"/>
          <p:cNvSpPr txBox="1"/>
          <p:nvPr/>
        </p:nvSpPr>
        <p:spPr>
          <a:xfrm>
            <a:off x="6464808" y="4507992"/>
            <a:ext cx="1965960" cy="310896"/>
          </a:xfrm>
          <a:prstGeom prst="rect">
            <a:avLst/>
          </a:prstGeom>
          <a:noFill/>
          <a:ln/>
        </p:spPr>
        <p:txBody>
          <a:bodyPr wrap="square" lIns="0" tIns="0" rIns="0" bIns="0" rtlCol="0" anchor="ctr"/>
          <a:lstStyle/>
          <a:p>
            <a:pPr indent="0" marL="0">
              <a:buNone/>
            </a:pPr>
            <a:r>
              <a:rPr lang="en-US" sz="1600" b="1" dirty="0">
                <a:solidFill>
                  <a:srgbClr val="F6F2E9"/>
                </a:solidFill>
                <a:latin typeface="Calibri" pitchFamily="34" charset="0"/>
                <a:ea typeface="Calibri" pitchFamily="34" charset="-122"/>
                <a:cs typeface="Calibri" pitchFamily="34" charset="-120"/>
              </a:rPr>
              <a:t>De servicio</a:t>
            </a:r>
            <a:endParaRPr lang="en-US" sz="1600" dirty="0"/>
          </a:p>
        </p:txBody>
      </p:sp>
      <p:sp>
        <p:nvSpPr>
          <p:cNvPr id="38" name="Text 36"/>
          <p:cNvSpPr txBox="1"/>
          <p:nvPr/>
        </p:nvSpPr>
        <p:spPr>
          <a:xfrm>
            <a:off x="6464808" y="4800600"/>
            <a:ext cx="1965960" cy="329184"/>
          </a:xfrm>
          <a:prstGeom prst="rect">
            <a:avLst/>
          </a:prstGeom>
          <a:noFill/>
          <a:ln/>
        </p:spPr>
        <p:txBody>
          <a:bodyPr wrap="square" lIns="0" tIns="0" rIns="0" bIns="0" rtlCol="0" anchor="t"/>
          <a:lstStyle/>
          <a:p>
            <a:pPr indent="0" marL="0">
              <a:buNone/>
            </a:pPr>
            <a:r>
              <a:rPr lang="en-US" sz="1200" dirty="0">
                <a:solidFill>
                  <a:srgbClr val="99A3B6"/>
                </a:solidFill>
                <a:latin typeface="Calibri" pitchFamily="34" charset="0"/>
                <a:ea typeface="Calibri" pitchFamily="34" charset="-122"/>
                <a:cs typeface="Calibri" pitchFamily="34" charset="-120"/>
              </a:rPr>
              <a:t>Capacitarse para socorrer</a:t>
            </a:r>
            <a:endParaRPr lang="en-US" sz="1200" dirty="0"/>
          </a:p>
        </p:txBody>
      </p:sp>
      <p:sp>
        <p:nvSpPr>
          <p:cNvPr id="39" name="Text 3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El día del desastre, el que llega primero es el que ya estaba ahí.</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EL PLAN DE LA FAMILIA</a:t>
            </a:r>
            <a:endParaRPr lang="en-US" sz="1200" dirty="0"/>
          </a:p>
        </p:txBody>
      </p:sp>
      <p:sp>
        <p:nvSpPr>
          <p:cNvPr id="3" name="Text 1"/>
          <p:cNvSpPr txBox="1"/>
          <p:nvPr/>
        </p:nvSpPr>
        <p:spPr>
          <a:xfrm>
            <a:off x="822960" y="841248"/>
            <a:ext cx="10543032" cy="1280160"/>
          </a:xfrm>
          <a:prstGeom prst="rect">
            <a:avLst/>
          </a:prstGeom>
          <a:noFill/>
          <a:ln/>
        </p:spPr>
        <p:txBody>
          <a:bodyPr wrap="square" lIns="0" tIns="0" rIns="0" bIns="0" rtlCol="0" anchor="t"/>
          <a:lstStyle/>
          <a:p>
            <a:pPr indent="0" marL="0">
              <a:lnSpc>
                <a:spcPct val="100000"/>
              </a:lnSpc>
              <a:buNone/>
            </a:pPr>
            <a:r>
              <a:rPr lang="en-US" sz="3400" b="1" dirty="0">
                <a:solidFill>
                  <a:srgbClr val="F6F2E9"/>
                </a:solidFill>
                <a:latin typeface="Cambria" pitchFamily="34" charset="0"/>
                <a:ea typeface="Cambria" pitchFamily="34" charset="-122"/>
                <a:cs typeface="Cambria" pitchFamily="34" charset="-120"/>
              </a:rPr>
              <a:t>Cinco preguntas que hay que poder</a:t>
            </a:r>
            <a:endParaRPr lang="en-US" sz="3400" dirty="0"/>
          </a:p>
          <a:p>
            <a:pPr indent="0" marL="0">
              <a:lnSpc>
                <a:spcPct val="100000"/>
              </a:lnSpc>
              <a:buNone/>
            </a:pPr>
            <a:r>
              <a:rPr lang="en-US" sz="3400" b="1" dirty="0">
                <a:solidFill>
                  <a:srgbClr val="F6F2E9"/>
                </a:solidFill>
                <a:latin typeface="Cambria" pitchFamily="34" charset="0"/>
                <a:ea typeface="Cambria" pitchFamily="34" charset="-122"/>
                <a:cs typeface="Cambria" pitchFamily="34" charset="-120"/>
              </a:rPr>
              <a:t>responder sin pensar</a:t>
            </a:r>
            <a:endParaRPr lang="en-US" sz="3400" dirty="0"/>
          </a:p>
        </p:txBody>
      </p:sp>
      <p:sp>
        <p:nvSpPr>
          <p:cNvPr id="4" name="Shape 2"/>
          <p:cNvSpPr/>
          <p:nvPr/>
        </p:nvSpPr>
        <p:spPr>
          <a:xfrm>
            <a:off x="822960" y="2514600"/>
            <a:ext cx="10543032" cy="658368"/>
          </a:xfrm>
          <a:prstGeom prst="roundRect">
            <a:avLst>
              <a:gd name="adj" fmla="val 13889"/>
            </a:avLst>
          </a:prstGeom>
          <a:solidFill>
            <a:srgbClr val="232D3F"/>
          </a:solidFill>
          <a:ln w="12700">
            <a:solidFill>
              <a:srgbClr val="232D3F"/>
            </a:solidFill>
            <a:prstDash val="solid"/>
          </a:ln>
        </p:spPr>
      </p:sp>
      <p:sp>
        <p:nvSpPr>
          <p:cNvPr id="5" name="Shape 3"/>
          <p:cNvSpPr/>
          <p:nvPr/>
        </p:nvSpPr>
        <p:spPr>
          <a:xfrm>
            <a:off x="1024128" y="2642616"/>
            <a:ext cx="402336" cy="402336"/>
          </a:xfrm>
          <a:prstGeom prst="ellipse">
            <a:avLst/>
          </a:prstGeom>
          <a:solidFill>
            <a:srgbClr val="F2A93B"/>
          </a:solidFill>
          <a:ln w="12700">
            <a:solidFill>
              <a:srgbClr val="F2A93B"/>
            </a:solidFill>
            <a:prstDash val="solid"/>
          </a:ln>
        </p:spPr>
      </p:sp>
      <p:sp>
        <p:nvSpPr>
          <p:cNvPr id="6" name="Text 4"/>
          <p:cNvSpPr txBox="1"/>
          <p:nvPr/>
        </p:nvSpPr>
        <p:spPr>
          <a:xfrm>
            <a:off x="1024128" y="264261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645920" y="251460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¿Cuál es nuestro punto de encuentro?</a:t>
            </a:r>
            <a:endParaRPr lang="en-US" sz="1900" dirty="0"/>
          </a:p>
        </p:txBody>
      </p:sp>
      <p:sp>
        <p:nvSpPr>
          <p:cNvPr id="8" name="Shape 6"/>
          <p:cNvSpPr/>
          <p:nvPr/>
        </p:nvSpPr>
        <p:spPr>
          <a:xfrm>
            <a:off x="822960" y="3246120"/>
            <a:ext cx="10543032" cy="658368"/>
          </a:xfrm>
          <a:prstGeom prst="roundRect">
            <a:avLst>
              <a:gd name="adj" fmla="val 13889"/>
            </a:avLst>
          </a:prstGeom>
          <a:solidFill>
            <a:srgbClr val="1C2534"/>
          </a:solidFill>
          <a:ln w="12700">
            <a:solidFill>
              <a:srgbClr val="1C2534"/>
            </a:solidFill>
            <a:prstDash val="solid"/>
          </a:ln>
        </p:spPr>
      </p:sp>
      <p:sp>
        <p:nvSpPr>
          <p:cNvPr id="9" name="Shape 7"/>
          <p:cNvSpPr/>
          <p:nvPr/>
        </p:nvSpPr>
        <p:spPr>
          <a:xfrm>
            <a:off x="1024128" y="3374136"/>
            <a:ext cx="402336" cy="402336"/>
          </a:xfrm>
          <a:prstGeom prst="ellipse">
            <a:avLst/>
          </a:prstGeom>
          <a:solidFill>
            <a:srgbClr val="F2A93B"/>
          </a:solidFill>
          <a:ln w="12700">
            <a:solidFill>
              <a:srgbClr val="F2A93B"/>
            </a:solidFill>
            <a:prstDash val="solid"/>
          </a:ln>
        </p:spPr>
      </p:sp>
      <p:sp>
        <p:nvSpPr>
          <p:cNvPr id="10" name="Text 8"/>
          <p:cNvSpPr txBox="1"/>
          <p:nvPr/>
        </p:nvSpPr>
        <p:spPr>
          <a:xfrm>
            <a:off x="1024128" y="337413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645920" y="324612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¿Y el segundo, fuera del barrio?</a:t>
            </a:r>
            <a:endParaRPr lang="en-US" sz="1900" dirty="0"/>
          </a:p>
        </p:txBody>
      </p:sp>
      <p:sp>
        <p:nvSpPr>
          <p:cNvPr id="12" name="Shape 10"/>
          <p:cNvSpPr/>
          <p:nvPr/>
        </p:nvSpPr>
        <p:spPr>
          <a:xfrm>
            <a:off x="822960" y="3977640"/>
            <a:ext cx="10543032" cy="658368"/>
          </a:xfrm>
          <a:prstGeom prst="roundRect">
            <a:avLst>
              <a:gd name="adj" fmla="val 13889"/>
            </a:avLst>
          </a:prstGeom>
          <a:solidFill>
            <a:srgbClr val="232D3F"/>
          </a:solidFill>
          <a:ln w="12700">
            <a:solidFill>
              <a:srgbClr val="232D3F"/>
            </a:solidFill>
            <a:prstDash val="solid"/>
          </a:ln>
        </p:spPr>
      </p:sp>
      <p:sp>
        <p:nvSpPr>
          <p:cNvPr id="13" name="Shape 11"/>
          <p:cNvSpPr/>
          <p:nvPr/>
        </p:nvSpPr>
        <p:spPr>
          <a:xfrm>
            <a:off x="1024128" y="4105656"/>
            <a:ext cx="402336" cy="402336"/>
          </a:xfrm>
          <a:prstGeom prst="ellipse">
            <a:avLst/>
          </a:prstGeom>
          <a:solidFill>
            <a:srgbClr val="F2A93B"/>
          </a:solidFill>
          <a:ln w="12700">
            <a:solidFill>
              <a:srgbClr val="F2A93B"/>
            </a:solidFill>
            <a:prstDash val="solid"/>
          </a:ln>
        </p:spPr>
      </p:sp>
      <p:sp>
        <p:nvSpPr>
          <p:cNvPr id="14" name="Text 12"/>
          <p:cNvSpPr txBox="1"/>
          <p:nvPr/>
        </p:nvSpPr>
        <p:spPr>
          <a:xfrm>
            <a:off x="1024128" y="410565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645920" y="397764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¿Quién es el contacto fuera de la ciudad?</a:t>
            </a:r>
            <a:endParaRPr lang="en-US" sz="1900" dirty="0"/>
          </a:p>
        </p:txBody>
      </p:sp>
      <p:sp>
        <p:nvSpPr>
          <p:cNvPr id="16" name="Shape 14"/>
          <p:cNvSpPr/>
          <p:nvPr/>
        </p:nvSpPr>
        <p:spPr>
          <a:xfrm>
            <a:off x="822960" y="4709160"/>
            <a:ext cx="10543032" cy="658368"/>
          </a:xfrm>
          <a:prstGeom prst="roundRect">
            <a:avLst>
              <a:gd name="adj" fmla="val 13889"/>
            </a:avLst>
          </a:prstGeom>
          <a:solidFill>
            <a:srgbClr val="1C2534"/>
          </a:solidFill>
          <a:ln w="12700">
            <a:solidFill>
              <a:srgbClr val="1C2534"/>
            </a:solidFill>
            <a:prstDash val="solid"/>
          </a:ln>
        </p:spPr>
      </p:sp>
      <p:sp>
        <p:nvSpPr>
          <p:cNvPr id="17" name="Shape 15"/>
          <p:cNvSpPr/>
          <p:nvPr/>
        </p:nvSpPr>
        <p:spPr>
          <a:xfrm>
            <a:off x="1024128" y="4837176"/>
            <a:ext cx="402336" cy="402336"/>
          </a:xfrm>
          <a:prstGeom prst="ellipse">
            <a:avLst/>
          </a:prstGeom>
          <a:solidFill>
            <a:srgbClr val="F2A93B"/>
          </a:solidFill>
          <a:ln w="12700">
            <a:solidFill>
              <a:srgbClr val="F2A93B"/>
            </a:solidFill>
            <a:prstDash val="solid"/>
          </a:ln>
        </p:spPr>
      </p:sp>
      <p:sp>
        <p:nvSpPr>
          <p:cNvPr id="18" name="Text 16"/>
          <p:cNvSpPr txBox="1"/>
          <p:nvPr/>
        </p:nvSpPr>
        <p:spPr>
          <a:xfrm>
            <a:off x="1024128" y="483717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645920" y="470916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¿Quién recoge a los niños? ¿La escuela lo sabe?</a:t>
            </a:r>
            <a:endParaRPr lang="en-US" sz="1900" dirty="0"/>
          </a:p>
        </p:txBody>
      </p:sp>
      <p:sp>
        <p:nvSpPr>
          <p:cNvPr id="20" name="Shape 18"/>
          <p:cNvSpPr/>
          <p:nvPr/>
        </p:nvSpPr>
        <p:spPr>
          <a:xfrm>
            <a:off x="822960" y="5440680"/>
            <a:ext cx="10543032" cy="658368"/>
          </a:xfrm>
          <a:prstGeom prst="roundRect">
            <a:avLst>
              <a:gd name="adj" fmla="val 13889"/>
            </a:avLst>
          </a:prstGeom>
          <a:solidFill>
            <a:srgbClr val="232D3F"/>
          </a:solidFill>
          <a:ln w="12700">
            <a:solidFill>
              <a:srgbClr val="232D3F"/>
            </a:solidFill>
            <a:prstDash val="solid"/>
          </a:ln>
        </p:spPr>
      </p:sp>
      <p:sp>
        <p:nvSpPr>
          <p:cNvPr id="21" name="Shape 19"/>
          <p:cNvSpPr/>
          <p:nvPr/>
        </p:nvSpPr>
        <p:spPr>
          <a:xfrm>
            <a:off x="1024128" y="5568696"/>
            <a:ext cx="402336" cy="402336"/>
          </a:xfrm>
          <a:prstGeom prst="ellipse">
            <a:avLst/>
          </a:prstGeom>
          <a:solidFill>
            <a:srgbClr val="F2A93B"/>
          </a:solidFill>
          <a:ln w="12700">
            <a:solidFill>
              <a:srgbClr val="F2A93B"/>
            </a:solidFill>
            <a:prstDash val="solid"/>
          </a:ln>
        </p:spPr>
      </p:sp>
      <p:sp>
        <p:nvSpPr>
          <p:cNvPr id="22" name="Text 20"/>
          <p:cNvSpPr txBox="1"/>
          <p:nvPr/>
        </p:nvSpPr>
        <p:spPr>
          <a:xfrm>
            <a:off x="1024128" y="5568696"/>
            <a:ext cx="402336" cy="402336"/>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1645920" y="5440680"/>
            <a:ext cx="9354312" cy="658368"/>
          </a:xfrm>
          <a:prstGeom prst="rect">
            <a:avLst/>
          </a:prstGeom>
          <a:noFill/>
          <a:ln/>
        </p:spPr>
        <p:txBody>
          <a:bodyPr wrap="square" lIns="0" tIns="0" rIns="0" bIns="0" rtlCol="0" anchor="ctr"/>
          <a:lstStyle/>
          <a:p>
            <a:pPr indent="0" marL="0">
              <a:buNone/>
            </a:pPr>
            <a:r>
              <a:rPr lang="en-US" sz="1900" dirty="0">
                <a:solidFill>
                  <a:srgbClr val="F6F2E9"/>
                </a:solidFill>
                <a:latin typeface="Calibri" pitchFamily="34" charset="0"/>
                <a:ea typeface="Calibri" pitchFamily="34" charset="-122"/>
                <a:cs typeface="Calibri" pitchFamily="34" charset="-120"/>
              </a:rPr>
              <a:t>¿Quién responde por el familiar vulnerable?</a:t>
            </a:r>
            <a:endParaRPr lang="en-US" sz="1900" dirty="0"/>
          </a:p>
        </p:txBody>
      </p:sp>
      <p:sp>
        <p:nvSpPr>
          <p:cNvPr id="24" name="Text 22"/>
          <p:cNvSpPr txBox="1"/>
          <p:nvPr/>
        </p:nvSpPr>
        <p:spPr>
          <a:xfrm>
            <a:off x="822960" y="5989320"/>
            <a:ext cx="10543032" cy="777240"/>
          </a:xfrm>
          <a:prstGeom prst="rect">
            <a:avLst/>
          </a:prstGeom>
          <a:noFill/>
          <a:ln/>
        </p:spPr>
        <p:txBody>
          <a:bodyPr wrap="square" lIns="0" tIns="0" rIns="0" bIns="0" rtlCol="0" anchor="ctr"/>
          <a:lstStyle/>
          <a:p>
            <a:pPr indent="0" marL="0">
              <a:buNone/>
            </a:pPr>
            <a:r>
              <a:rPr lang="en-US" sz="2000" b="1" dirty="0">
                <a:solidFill>
                  <a:srgbClr val="F2A93B"/>
                </a:solidFill>
                <a:latin typeface="Cambria" pitchFamily="34" charset="0"/>
                <a:ea typeface="Cambria" pitchFamily="34" charset="-122"/>
                <a:cs typeface="Cambria" pitchFamily="34" charset="-120"/>
              </a:rPr>
              <a:t>Un plan que solo existe en su cabeza no es un plan: es una intención.</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8321040" y="3017520"/>
            <a:ext cx="4754880" cy="4754880"/>
          </a:xfrm>
          <a:prstGeom prst="ellipse">
            <a:avLst/>
          </a:prstGeom>
          <a:solidFill>
            <a:srgbClr val="0E121A"/>
          </a:solidFill>
          <a:ln w="15875">
            <a:solidFill>
              <a:srgbClr val="F2A93B"/>
            </a:solidFill>
            <a:prstDash val="solid"/>
          </a:ln>
        </p:spPr>
      </p:sp>
      <p:sp>
        <p:nvSpPr>
          <p:cNvPr id="3" name="Shape 1"/>
          <p:cNvSpPr/>
          <p:nvPr/>
        </p:nvSpPr>
        <p:spPr>
          <a:xfrm>
            <a:off x="8915400" y="3611880"/>
            <a:ext cx="3566160" cy="3566160"/>
          </a:xfrm>
          <a:prstGeom prst="ellipse">
            <a:avLst/>
          </a:prstGeom>
          <a:solidFill>
            <a:srgbClr val="0E121A"/>
          </a:solidFill>
          <a:ln w="15875">
            <a:solidFill>
              <a:srgbClr val="F2A93B"/>
            </a:solidFill>
            <a:prstDash val="solid"/>
          </a:ln>
        </p:spPr>
      </p:sp>
      <p:sp>
        <p:nvSpPr>
          <p:cNvPr id="4" name="Shape 2"/>
          <p:cNvSpPr/>
          <p:nvPr/>
        </p:nvSpPr>
        <p:spPr>
          <a:xfrm>
            <a:off x="9464040" y="4160520"/>
            <a:ext cx="2468880" cy="2468880"/>
          </a:xfrm>
          <a:prstGeom prst="ellipse">
            <a:avLst/>
          </a:prstGeom>
          <a:solidFill>
            <a:srgbClr val="0E121A"/>
          </a:solidFill>
          <a:ln w="15875">
            <a:solidFill>
              <a:srgbClr val="F2A93B"/>
            </a:solidFill>
            <a:prstDash val="solid"/>
          </a:ln>
        </p:spPr>
      </p:sp>
      <p:sp>
        <p:nvSpPr>
          <p:cNvPr id="5" name="Shape 3"/>
          <p:cNvSpPr/>
          <p:nvPr/>
        </p:nvSpPr>
        <p:spPr>
          <a:xfrm>
            <a:off x="9966960" y="4663440"/>
            <a:ext cx="1463040" cy="1463040"/>
          </a:xfrm>
          <a:prstGeom prst="ellipse">
            <a:avLst/>
          </a:prstGeom>
          <a:solidFill>
            <a:srgbClr val="0E121A"/>
          </a:solidFill>
          <a:ln w="15875">
            <a:solidFill>
              <a:srgbClr val="F2A93B"/>
            </a:solidFill>
            <a:prstDash val="solid"/>
          </a:ln>
        </p:spPr>
      </p:sp>
      <p:sp>
        <p:nvSpPr>
          <p:cNvPr id="6" name="Text 4"/>
          <p:cNvSpPr txBox="1"/>
          <p:nvPr/>
        </p:nvSpPr>
        <p:spPr>
          <a:xfrm>
            <a:off x="822960" y="1371600"/>
            <a:ext cx="2011680" cy="1371600"/>
          </a:xfrm>
          <a:prstGeom prst="rect">
            <a:avLst/>
          </a:prstGeom>
          <a:noFill/>
          <a:ln/>
        </p:spPr>
        <p:txBody>
          <a:bodyPr wrap="square" lIns="0" tIns="0" rIns="0" bIns="0" rtlCol="0" anchor="ctr"/>
          <a:lstStyle/>
          <a:p>
            <a:pPr indent="0" marL="0">
              <a:buNone/>
            </a:pPr>
            <a:r>
              <a:rPr lang="en-US" sz="9600" b="1" dirty="0">
                <a:solidFill>
                  <a:srgbClr val="F2A93B"/>
                </a:solidFill>
                <a:latin typeface="Cambria" pitchFamily="34" charset="0"/>
                <a:ea typeface="Cambria" pitchFamily="34" charset="-122"/>
                <a:cs typeface="Cambria" pitchFamily="34" charset="-120"/>
              </a:rPr>
              <a:t>04</a:t>
            </a:r>
            <a:endParaRPr lang="en-US" sz="9600" dirty="0"/>
          </a:p>
        </p:txBody>
      </p:sp>
      <p:sp>
        <p:nvSpPr>
          <p:cNvPr id="7" name="Text 5"/>
          <p:cNvSpPr txBox="1"/>
          <p:nvPr/>
        </p:nvSpPr>
        <p:spPr>
          <a:xfrm>
            <a:off x="822960" y="2788920"/>
            <a:ext cx="8503920" cy="2011680"/>
          </a:xfrm>
          <a:prstGeom prst="rect">
            <a:avLst/>
          </a:prstGeom>
          <a:noFill/>
          <a:ln/>
        </p:spPr>
        <p:txBody>
          <a:bodyPr wrap="square" lIns="0" tIns="0" rIns="0" bIns="0" rtlCol="0" anchor="t"/>
          <a:lstStyle/>
          <a:p>
            <a:pPr indent="0" marL="0">
              <a:lnSpc>
                <a:spcPct val="105000"/>
              </a:lnSpc>
              <a:buNone/>
            </a:pPr>
            <a:r>
              <a:rPr lang="en-US" sz="4000" b="1" dirty="0">
                <a:solidFill>
                  <a:srgbClr val="F6F2E9"/>
                </a:solidFill>
                <a:latin typeface="Cambria" pitchFamily="34" charset="0"/>
                <a:ea typeface="Cambria" pitchFamily="34" charset="-122"/>
                <a:cs typeface="Cambria" pitchFamily="34" charset="-120"/>
              </a:rPr>
              <a:t>Ejemplos bíblicos</a:t>
            </a:r>
            <a:endParaRPr lang="en-US" sz="4000" dirty="0"/>
          </a:p>
        </p:txBody>
      </p:sp>
      <p:sp>
        <p:nvSpPr>
          <p:cNvPr id="8" name="Text 6"/>
          <p:cNvSpPr txBox="1"/>
          <p:nvPr/>
        </p:nvSpPr>
        <p:spPr>
          <a:xfrm>
            <a:off x="822960" y="4983480"/>
            <a:ext cx="8503920" cy="457200"/>
          </a:xfrm>
          <a:prstGeom prst="rect">
            <a:avLst/>
          </a:prstGeom>
          <a:noFill/>
          <a:ln/>
        </p:spPr>
        <p:txBody>
          <a:bodyPr wrap="square" lIns="0" tIns="0" rIns="0" bIns="0" rtlCol="0" anchor="ctr"/>
          <a:lstStyle/>
          <a:p>
            <a:pPr indent="0" marL="0">
              <a:buNone/>
            </a:pPr>
            <a:r>
              <a:rPr lang="en-US" sz="1600" dirty="0">
                <a:solidFill>
                  <a:srgbClr val="99A3B6"/>
                </a:solidFill>
                <a:latin typeface="Calibri" pitchFamily="34" charset="0"/>
                <a:ea typeface="Calibri" pitchFamily="34" charset="-122"/>
                <a:cs typeface="Calibri" pitchFamily="34" charset="-120"/>
              </a:rPr>
              <a:t>La Biblia no nos dio una teoría del desastre: nos dio rostros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GÉNESIS 6-9 · HEBREOS 11:7</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Noé</a:t>
            </a:r>
            <a:endParaRPr lang="en-US" sz="3800" dirty="0"/>
          </a:p>
        </p:txBody>
      </p:sp>
      <p:sp>
        <p:nvSpPr>
          <p:cNvPr id="4" name="Text 2"/>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El que se preparó cuando no había una nube en el cielo</a:t>
            </a:r>
            <a:endParaRPr lang="en-US" sz="2100" dirty="0"/>
          </a:p>
        </p:txBody>
      </p:sp>
      <p:sp>
        <p:nvSpPr>
          <p:cNvPr id="5" name="Shape 3"/>
          <p:cNvSpPr/>
          <p:nvPr/>
        </p:nvSpPr>
        <p:spPr>
          <a:xfrm>
            <a:off x="822960" y="2651760"/>
            <a:ext cx="420624" cy="420624"/>
          </a:xfrm>
          <a:prstGeom prst="ellipse">
            <a:avLst/>
          </a:prstGeom>
          <a:solidFill>
            <a:srgbClr val="F2A93B"/>
          </a:solidFill>
          <a:ln w="12700">
            <a:solidFill>
              <a:srgbClr val="F2A93B"/>
            </a:solidFill>
            <a:prstDash val="solid"/>
          </a:ln>
        </p:spPr>
      </p:sp>
      <p:sp>
        <p:nvSpPr>
          <p:cNvPr id="6" name="Text 4"/>
          <p:cNvSpPr txBox="1"/>
          <p:nvPr/>
        </p:nvSpPr>
        <p:spPr>
          <a:xfrm>
            <a:off x="822960" y="265176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36192" y="260604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Fue advertido</a:t>
            </a:r>
            <a:endParaRPr lang="en-US" sz="1900" dirty="0"/>
          </a:p>
        </p:txBody>
      </p:sp>
      <p:sp>
        <p:nvSpPr>
          <p:cNvPr id="8" name="Text 6"/>
          <p:cNvSpPr txBox="1"/>
          <p:nvPr/>
        </p:nvSpPr>
        <p:spPr>
          <a:xfrm>
            <a:off x="1536192" y="296265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El aviso llegó antes de que hubiera cualquier evidencia visible.</a:t>
            </a:r>
            <a:endParaRPr lang="en-US" sz="1400" dirty="0"/>
          </a:p>
        </p:txBody>
      </p:sp>
      <p:sp>
        <p:nvSpPr>
          <p:cNvPr id="9" name="Shape 7"/>
          <p:cNvSpPr/>
          <p:nvPr/>
        </p:nvSpPr>
        <p:spPr>
          <a:xfrm>
            <a:off x="822960" y="3611880"/>
            <a:ext cx="420624" cy="420624"/>
          </a:xfrm>
          <a:prstGeom prst="ellipse">
            <a:avLst/>
          </a:prstGeom>
          <a:solidFill>
            <a:srgbClr val="F2A93B"/>
          </a:solidFill>
          <a:ln w="12700">
            <a:solidFill>
              <a:srgbClr val="F2A93B"/>
            </a:solidFill>
            <a:prstDash val="solid"/>
          </a:ln>
        </p:spPr>
      </p:sp>
      <p:sp>
        <p:nvSpPr>
          <p:cNvPr id="10" name="Text 8"/>
          <p:cNvSpPr txBox="1"/>
          <p:nvPr/>
        </p:nvSpPr>
        <p:spPr>
          <a:xfrm>
            <a:off x="822960" y="361188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536192" y="356616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Las cosas aún no se veían</a:t>
            </a:r>
            <a:endParaRPr lang="en-US" sz="1900" dirty="0"/>
          </a:p>
        </p:txBody>
      </p:sp>
      <p:sp>
        <p:nvSpPr>
          <p:cNvPr id="12" name="Text 10"/>
          <p:cNvSpPr txBox="1"/>
          <p:nvPr/>
        </p:nvSpPr>
        <p:spPr>
          <a:xfrm>
            <a:off x="1536192" y="392277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Martilló durante años bajo cielo despejado, mientras se reían.</a:t>
            </a:r>
            <a:endParaRPr lang="en-US" sz="1400" dirty="0"/>
          </a:p>
        </p:txBody>
      </p:sp>
      <p:sp>
        <p:nvSpPr>
          <p:cNvPr id="13" name="Shape 11"/>
          <p:cNvSpPr/>
          <p:nvPr/>
        </p:nvSpPr>
        <p:spPr>
          <a:xfrm>
            <a:off x="822960" y="4572000"/>
            <a:ext cx="420624" cy="420624"/>
          </a:xfrm>
          <a:prstGeom prst="ellipse">
            <a:avLst/>
          </a:prstGeom>
          <a:solidFill>
            <a:srgbClr val="F2A93B"/>
          </a:solidFill>
          <a:ln w="12700">
            <a:solidFill>
              <a:srgbClr val="F2A93B"/>
            </a:solidFill>
            <a:prstDash val="solid"/>
          </a:ln>
        </p:spPr>
      </p:sp>
      <p:sp>
        <p:nvSpPr>
          <p:cNvPr id="14" name="Text 12"/>
          <p:cNvSpPr txBox="1"/>
          <p:nvPr/>
        </p:nvSpPr>
        <p:spPr>
          <a:xfrm>
            <a:off x="822960" y="4572000"/>
            <a:ext cx="420624" cy="420624"/>
          </a:xfrm>
          <a:prstGeom prst="rect">
            <a:avLst/>
          </a:prstGeom>
          <a:noFill/>
          <a:ln/>
        </p:spPr>
        <p:txBody>
          <a:bodyPr wrap="square" lIns="0" tIns="0" rIns="0" bIns="0" rtlCol="0" anchor="ctr"/>
          <a:lstStyle/>
          <a:p>
            <a:pPr algn="ctr" indent="0" marL="0">
              <a:buNone/>
            </a:pPr>
            <a:r>
              <a:rPr lang="en-US" sz="1500" b="1" dirty="0">
                <a:solidFill>
                  <a:srgbClr val="0E121A"/>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536192" y="4526280"/>
            <a:ext cx="9829800" cy="365760"/>
          </a:xfrm>
          <a:prstGeom prst="rect">
            <a:avLst/>
          </a:prstGeom>
          <a:noFill/>
          <a:ln/>
        </p:spPr>
        <p:txBody>
          <a:bodyPr wrap="square" lIns="0" tIns="0" rIns="0" bIns="0" rtlCol="0" anchor="ctr"/>
          <a:lstStyle/>
          <a:p>
            <a:pPr indent="0" marL="0">
              <a:buNone/>
            </a:pPr>
            <a:r>
              <a:rPr lang="en-US" sz="1900" b="1" dirty="0">
                <a:solidFill>
                  <a:srgbClr val="F6F2E9"/>
                </a:solidFill>
                <a:latin typeface="Calibri" pitchFamily="34" charset="0"/>
                <a:ea typeface="Calibri" pitchFamily="34" charset="-122"/>
                <a:cs typeface="Calibri" pitchFamily="34" charset="-120"/>
              </a:rPr>
              <a:t>Preparó el arca</a:t>
            </a:r>
            <a:endParaRPr lang="en-US" sz="1900" dirty="0"/>
          </a:p>
        </p:txBody>
      </p:sp>
      <p:sp>
        <p:nvSpPr>
          <p:cNvPr id="16" name="Text 14"/>
          <p:cNvSpPr txBox="1"/>
          <p:nvPr/>
        </p:nvSpPr>
        <p:spPr>
          <a:xfrm>
            <a:off x="1536192" y="4882896"/>
            <a:ext cx="9829800" cy="384048"/>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Con medidas exactas, material especificado y provisiones. La fe se midió en codos.</a:t>
            </a:r>
            <a:endParaRPr lang="en-US" sz="1400" dirty="0"/>
          </a:p>
        </p:txBody>
      </p:sp>
      <p:sp>
        <p:nvSpPr>
          <p:cNvPr id="17" name="Text 15"/>
          <p:cNvSpPr txBox="1"/>
          <p:nvPr/>
        </p:nvSpPr>
        <p:spPr>
          <a:xfrm>
            <a:off x="822960" y="5623560"/>
            <a:ext cx="10543032" cy="777240"/>
          </a:xfrm>
          <a:prstGeom prst="rect">
            <a:avLst/>
          </a:prstGeom>
          <a:noFill/>
          <a:ln/>
        </p:spPr>
        <p:txBody>
          <a:bodyPr wrap="square" lIns="0" tIns="0" rIns="0" bIns="0" rtlCol="0" anchor="ctr"/>
          <a:lstStyle/>
          <a:p>
            <a:pPr indent="0" marL="0">
              <a:buNone/>
            </a:pPr>
            <a:r>
              <a:rPr lang="en-US" sz="2200" b="1" dirty="0">
                <a:solidFill>
                  <a:srgbClr val="F2A93B"/>
                </a:solidFill>
                <a:latin typeface="Cambria" pitchFamily="34" charset="0"/>
                <a:ea typeface="Cambria" pitchFamily="34" charset="-122"/>
                <a:cs typeface="Cambria" pitchFamily="34" charset="-120"/>
              </a:rPr>
              <a:t>Prevención es trabajar hoy por un riesgo que hoy no se ve.</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GÉNESIS 41</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José</a:t>
            </a:r>
            <a:endParaRPr lang="en-US" sz="3800" dirty="0"/>
          </a:p>
        </p:txBody>
      </p:sp>
      <p:sp>
        <p:nvSpPr>
          <p:cNvPr id="4" name="Text 2"/>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El que convirtió un aviso en política pública</a:t>
            </a:r>
            <a:endParaRPr lang="en-US" sz="2100" dirty="0"/>
          </a:p>
        </p:txBody>
      </p:sp>
      <p:sp>
        <p:nvSpPr>
          <p:cNvPr id="5" name="Shape 3"/>
          <p:cNvSpPr/>
          <p:nvPr/>
        </p:nvSpPr>
        <p:spPr>
          <a:xfrm>
            <a:off x="822960" y="2606040"/>
            <a:ext cx="2487168" cy="1874520"/>
          </a:xfrm>
          <a:prstGeom prst="roundRect">
            <a:avLst>
              <a:gd name="adj" fmla="val 4878"/>
            </a:avLst>
          </a:prstGeom>
          <a:solidFill>
            <a:srgbClr val="232D3F"/>
          </a:solidFill>
          <a:ln w="12700">
            <a:solidFill>
              <a:srgbClr val="232D3F"/>
            </a:solidFill>
            <a:prstDash val="solid"/>
          </a:ln>
        </p:spPr>
      </p:sp>
      <p:sp>
        <p:nvSpPr>
          <p:cNvPr id="6" name="Text 4"/>
          <p:cNvSpPr txBox="1"/>
          <p:nvPr/>
        </p:nvSpPr>
        <p:spPr>
          <a:xfrm>
            <a:off x="914400" y="2788920"/>
            <a:ext cx="2304288"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7 + 7</a:t>
            </a:r>
            <a:endParaRPr lang="en-US" sz="4000" dirty="0"/>
          </a:p>
        </p:txBody>
      </p:sp>
      <p:sp>
        <p:nvSpPr>
          <p:cNvPr id="7" name="Text 5"/>
          <p:cNvSpPr txBox="1"/>
          <p:nvPr/>
        </p:nvSpPr>
        <p:spPr>
          <a:xfrm>
            <a:off x="914400" y="3584448"/>
            <a:ext cx="2304288" cy="73152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años previstos</a:t>
            </a:r>
            <a:endParaRPr lang="en-US" sz="1400" dirty="0"/>
          </a:p>
        </p:txBody>
      </p:sp>
      <p:sp>
        <p:nvSpPr>
          <p:cNvPr id="8" name="Shape 6"/>
          <p:cNvSpPr/>
          <p:nvPr/>
        </p:nvSpPr>
        <p:spPr>
          <a:xfrm>
            <a:off x="3602736" y="2606040"/>
            <a:ext cx="2487168" cy="1874520"/>
          </a:xfrm>
          <a:prstGeom prst="roundRect">
            <a:avLst>
              <a:gd name="adj" fmla="val 4878"/>
            </a:avLst>
          </a:prstGeom>
          <a:solidFill>
            <a:srgbClr val="232D3F"/>
          </a:solidFill>
          <a:ln w="12700">
            <a:solidFill>
              <a:srgbClr val="232D3F"/>
            </a:solidFill>
            <a:prstDash val="solid"/>
          </a:ln>
        </p:spPr>
      </p:sp>
      <p:sp>
        <p:nvSpPr>
          <p:cNvPr id="9" name="Text 7"/>
          <p:cNvSpPr txBox="1"/>
          <p:nvPr/>
        </p:nvSpPr>
        <p:spPr>
          <a:xfrm>
            <a:off x="3694176" y="2788920"/>
            <a:ext cx="2304288"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20%</a:t>
            </a:r>
            <a:endParaRPr lang="en-US" sz="4000" dirty="0"/>
          </a:p>
        </p:txBody>
      </p:sp>
      <p:sp>
        <p:nvSpPr>
          <p:cNvPr id="10" name="Text 8"/>
          <p:cNvSpPr txBox="1"/>
          <p:nvPr/>
        </p:nvSpPr>
        <p:spPr>
          <a:xfrm>
            <a:off x="3694176" y="3584448"/>
            <a:ext cx="2304288" cy="73152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de reserva</a:t>
            </a:r>
            <a:endParaRPr lang="en-US" sz="1400" dirty="0"/>
          </a:p>
        </p:txBody>
      </p:sp>
      <p:sp>
        <p:nvSpPr>
          <p:cNvPr id="11" name="Shape 9"/>
          <p:cNvSpPr/>
          <p:nvPr/>
        </p:nvSpPr>
        <p:spPr>
          <a:xfrm>
            <a:off x="6382512" y="2606040"/>
            <a:ext cx="2487168" cy="1874520"/>
          </a:xfrm>
          <a:prstGeom prst="roundRect">
            <a:avLst>
              <a:gd name="adj" fmla="val 4878"/>
            </a:avLst>
          </a:prstGeom>
          <a:solidFill>
            <a:srgbClr val="232D3F"/>
          </a:solidFill>
          <a:ln w="12700">
            <a:solidFill>
              <a:srgbClr val="232D3F"/>
            </a:solidFill>
            <a:prstDash val="solid"/>
          </a:ln>
        </p:spPr>
      </p:sp>
      <p:sp>
        <p:nvSpPr>
          <p:cNvPr id="12" name="Text 10"/>
          <p:cNvSpPr txBox="1"/>
          <p:nvPr/>
        </p:nvSpPr>
        <p:spPr>
          <a:xfrm>
            <a:off x="6473952" y="2788920"/>
            <a:ext cx="2304288" cy="777240"/>
          </a:xfrm>
          <a:prstGeom prst="rect">
            <a:avLst/>
          </a:prstGeom>
          <a:noFill/>
          <a:ln/>
        </p:spPr>
        <p:txBody>
          <a:bodyPr wrap="square" lIns="0" tIns="0" rIns="0" bIns="0" rtlCol="0" anchor="ctr"/>
          <a:lstStyle/>
          <a:p>
            <a:pPr algn="ctr" indent="0" marL="0">
              <a:buNone/>
            </a:pPr>
            <a:r>
              <a:rPr lang="en-US" sz="4000" b="1" dirty="0">
                <a:solidFill>
                  <a:srgbClr val="F2A93B"/>
                </a:solidFill>
                <a:latin typeface="Cambria" pitchFamily="34" charset="0"/>
                <a:ea typeface="Cambria" pitchFamily="34" charset="-122"/>
                <a:cs typeface="Cambria" pitchFamily="34" charset="-120"/>
              </a:rPr>
              <a:t>1</a:t>
            </a:r>
            <a:endParaRPr lang="en-US" sz="4000" dirty="0"/>
          </a:p>
        </p:txBody>
      </p:sp>
      <p:sp>
        <p:nvSpPr>
          <p:cNvPr id="13" name="Text 11"/>
          <p:cNvSpPr txBox="1"/>
          <p:nvPr/>
        </p:nvSpPr>
        <p:spPr>
          <a:xfrm>
            <a:off x="6473952" y="3584448"/>
            <a:ext cx="2304288" cy="731520"/>
          </a:xfrm>
          <a:prstGeom prst="rect">
            <a:avLst/>
          </a:prstGeom>
          <a:noFill/>
          <a:ln/>
        </p:spPr>
        <p:txBody>
          <a:bodyPr wrap="square" lIns="0" tIns="0" rIns="0" bIns="0" rtlCol="0" anchor="t"/>
          <a:lstStyle/>
          <a:p>
            <a:pPr algn="ctr" indent="0" marL="0">
              <a:buNone/>
            </a:pPr>
            <a:r>
              <a:rPr lang="en-US" sz="1400" dirty="0">
                <a:solidFill>
                  <a:srgbClr val="99A3B6"/>
                </a:solidFill>
                <a:latin typeface="Calibri" pitchFamily="34" charset="0"/>
                <a:ea typeface="Calibri" pitchFamily="34" charset="-122"/>
                <a:cs typeface="Calibri" pitchFamily="34" charset="-120"/>
              </a:rPr>
              <a:t>responsable</a:t>
            </a:r>
            <a:endParaRPr lang="en-US" sz="1400" dirty="0"/>
          </a:p>
          <a:p>
            <a:pPr algn="ctr" indent="0" marL="0">
              <a:buNone/>
            </a:pPr>
            <a:r>
              <a:rPr lang="en-US" sz="1400" dirty="0">
                <a:solidFill>
                  <a:srgbClr val="99A3B6"/>
                </a:solidFill>
                <a:latin typeface="Calibri" pitchFamily="34" charset="0"/>
                <a:ea typeface="Calibri" pitchFamily="34" charset="-122"/>
                <a:cs typeface="Calibri" pitchFamily="34" charset="-120"/>
              </a:rPr>
              <a:t>nombrado</a:t>
            </a:r>
            <a:endParaRPr lang="en-US" sz="1400" dirty="0"/>
          </a:p>
        </p:txBody>
      </p:sp>
      <p:sp>
        <p:nvSpPr>
          <p:cNvPr id="14" name="Shape 12"/>
          <p:cNvSpPr/>
          <p:nvPr/>
        </p:nvSpPr>
        <p:spPr>
          <a:xfrm>
            <a:off x="9162288" y="2606040"/>
            <a:ext cx="2487168" cy="1874520"/>
          </a:xfrm>
          <a:prstGeom prst="roundRect">
            <a:avLst>
              <a:gd name="adj" fmla="val 4878"/>
            </a:avLst>
          </a:prstGeom>
          <a:solidFill>
            <a:srgbClr val="F2A93B"/>
          </a:solidFill>
          <a:ln w="12700">
            <a:solidFill>
              <a:srgbClr val="F2A93B"/>
            </a:solidFill>
            <a:prstDash val="solid"/>
          </a:ln>
        </p:spPr>
      </p:sp>
      <p:sp>
        <p:nvSpPr>
          <p:cNvPr id="15" name="Text 13"/>
          <p:cNvSpPr txBox="1"/>
          <p:nvPr/>
        </p:nvSpPr>
        <p:spPr>
          <a:xfrm>
            <a:off x="9253728" y="2788920"/>
            <a:ext cx="2304288" cy="777240"/>
          </a:xfrm>
          <a:prstGeom prst="rect">
            <a:avLst/>
          </a:prstGeom>
          <a:noFill/>
          <a:ln/>
        </p:spPr>
        <p:txBody>
          <a:bodyPr wrap="square" lIns="0" tIns="0" rIns="0" bIns="0" rtlCol="0" anchor="ctr"/>
          <a:lstStyle/>
          <a:p>
            <a:pPr algn="ctr" indent="0" marL="0">
              <a:buNone/>
            </a:pPr>
            <a:r>
              <a:rPr lang="en-US" sz="4000" b="1" dirty="0">
                <a:solidFill>
                  <a:srgbClr val="0E121A"/>
                </a:solidFill>
                <a:latin typeface="Cambria" pitchFamily="34" charset="0"/>
                <a:ea typeface="Cambria" pitchFamily="34" charset="-122"/>
                <a:cs typeface="Cambria" pitchFamily="34" charset="-120"/>
              </a:rPr>
              <a:t>0</a:t>
            </a:r>
            <a:endParaRPr lang="en-US" sz="4000" dirty="0"/>
          </a:p>
        </p:txBody>
      </p:sp>
      <p:sp>
        <p:nvSpPr>
          <p:cNvPr id="16" name="Text 14"/>
          <p:cNvSpPr txBox="1"/>
          <p:nvPr/>
        </p:nvSpPr>
        <p:spPr>
          <a:xfrm>
            <a:off x="9253728" y="3584448"/>
            <a:ext cx="2304288" cy="731520"/>
          </a:xfrm>
          <a:prstGeom prst="rect">
            <a:avLst/>
          </a:prstGeom>
          <a:noFill/>
          <a:ln/>
        </p:spPr>
        <p:txBody>
          <a:bodyPr wrap="square" lIns="0" tIns="0" rIns="0" bIns="0" rtlCol="0" anchor="t"/>
          <a:lstStyle/>
          <a:p>
            <a:pPr algn="ctr" indent="0" marL="0">
              <a:buNone/>
            </a:pPr>
            <a:r>
              <a:rPr lang="en-US" sz="1400" dirty="0">
                <a:solidFill>
                  <a:srgbClr val="4A3410"/>
                </a:solidFill>
                <a:latin typeface="Calibri" pitchFamily="34" charset="0"/>
                <a:ea typeface="Calibri" pitchFamily="34" charset="-122"/>
                <a:cs typeface="Calibri" pitchFamily="34" charset="-120"/>
              </a:rPr>
              <a:t>muertos</a:t>
            </a:r>
            <a:endParaRPr lang="en-US" sz="1400" dirty="0"/>
          </a:p>
          <a:p>
            <a:pPr algn="ctr" indent="0" marL="0">
              <a:buNone/>
            </a:pPr>
            <a:r>
              <a:rPr lang="en-US" sz="1400" dirty="0">
                <a:solidFill>
                  <a:srgbClr val="4A3410"/>
                </a:solidFill>
                <a:latin typeface="Calibri" pitchFamily="34" charset="0"/>
                <a:ea typeface="Calibri" pitchFamily="34" charset="-122"/>
                <a:cs typeface="Calibri" pitchFamily="34" charset="-120"/>
              </a:rPr>
              <a:t>de hambre</a:t>
            </a:r>
            <a:endParaRPr lang="en-US" sz="1400" dirty="0"/>
          </a:p>
        </p:txBody>
      </p:sp>
      <p:sp>
        <p:nvSpPr>
          <p:cNvPr id="17" name="Text 15"/>
          <p:cNvSpPr txBox="1"/>
          <p:nvPr/>
        </p:nvSpPr>
        <p:spPr>
          <a:xfrm>
            <a:off x="822960" y="4800600"/>
            <a:ext cx="10543032" cy="777240"/>
          </a:xfrm>
          <a:prstGeom prst="rect">
            <a:avLst/>
          </a:prstGeom>
          <a:noFill/>
          <a:ln/>
        </p:spPr>
        <p:txBody>
          <a:bodyPr wrap="square" lIns="0" tIns="0" rIns="0" bIns="0" rtlCol="0" anchor="ctr"/>
          <a:lstStyle/>
          <a:p>
            <a:pPr indent="0" marL="0">
              <a:buNone/>
            </a:pPr>
            <a:r>
              <a:rPr lang="en-US" sz="2300" b="1" dirty="0">
                <a:solidFill>
                  <a:srgbClr val="F2A93B"/>
                </a:solidFill>
                <a:latin typeface="Cambria" pitchFamily="34" charset="0"/>
                <a:ea typeface="Cambria" pitchFamily="34" charset="-122"/>
                <a:cs typeface="Cambria" pitchFamily="34" charset="-120"/>
              </a:rPr>
              <a:t>La previsión de un hombre justo alimentó a un continente.</a:t>
            </a:r>
            <a:endParaRPr lang="en-US" sz="2300" dirty="0"/>
          </a:p>
        </p:txBody>
      </p:sp>
      <p:sp>
        <p:nvSpPr>
          <p:cNvPr id="18" name="Text 16"/>
          <p:cNvSpPr txBox="1"/>
          <p:nvPr/>
        </p:nvSpPr>
        <p:spPr>
          <a:xfrm>
            <a:off x="822960" y="5715000"/>
            <a:ext cx="10543032" cy="457200"/>
          </a:xfrm>
          <a:prstGeom prst="rect">
            <a:avLst/>
          </a:prstGeom>
          <a:noFill/>
          <a:ln/>
        </p:spPr>
        <p:txBody>
          <a:bodyPr wrap="square" lIns="0" tIns="0" rIns="0" bIns="0" rtlCol="0" anchor="ctr"/>
          <a:lstStyle/>
          <a:p>
            <a:pPr indent="0" marL="0">
              <a:buNone/>
            </a:pPr>
            <a:r>
              <a:rPr lang="en-US" sz="1500" dirty="0">
                <a:solidFill>
                  <a:srgbClr val="99A3B6"/>
                </a:solidFill>
                <a:latin typeface="Calibri" pitchFamily="34" charset="0"/>
                <a:ea typeface="Calibri" pitchFamily="34" charset="-122"/>
                <a:cs typeface="Calibri" pitchFamily="34" charset="-120"/>
              </a:rPr>
              <a:t>Aviso › plan de 20 años › responsable › reserva › almacenes › distribución ordenada</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HECHOS 27</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Pablo en el naufragio</a:t>
            </a:r>
            <a:endParaRPr lang="en-US" sz="3800" dirty="0"/>
          </a:p>
        </p:txBody>
      </p:sp>
      <p:sp>
        <p:nvSpPr>
          <p:cNvPr id="4" name="Text 2"/>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2100" i="1" dirty="0">
                <a:solidFill>
                  <a:srgbClr val="F2A93B"/>
                </a:solidFill>
                <a:latin typeface="Cambria" pitchFamily="34" charset="0"/>
                <a:ea typeface="Cambria" pitchFamily="34" charset="-122"/>
                <a:cs typeface="Cambria" pitchFamily="34" charset="-120"/>
              </a:rPr>
              <a:t>El mejor manual de manejo de crisis de la Biblia</a:t>
            </a:r>
            <a:endParaRPr lang="en-US" sz="2100" dirty="0"/>
          </a:p>
        </p:txBody>
      </p:sp>
      <p:sp>
        <p:nvSpPr>
          <p:cNvPr id="5" name="Shape 3"/>
          <p:cNvSpPr/>
          <p:nvPr/>
        </p:nvSpPr>
        <p:spPr>
          <a:xfrm>
            <a:off x="822960" y="2514600"/>
            <a:ext cx="6766560" cy="566928"/>
          </a:xfrm>
          <a:prstGeom prst="roundRect">
            <a:avLst>
              <a:gd name="adj" fmla="val 16129"/>
            </a:avLst>
          </a:prstGeom>
          <a:solidFill>
            <a:srgbClr val="232D3F"/>
          </a:solidFill>
          <a:ln w="12700">
            <a:solidFill>
              <a:srgbClr val="232D3F"/>
            </a:solidFill>
            <a:prstDash val="solid"/>
          </a:ln>
        </p:spPr>
      </p:sp>
      <p:sp>
        <p:nvSpPr>
          <p:cNvPr id="6" name="Shape 4"/>
          <p:cNvSpPr/>
          <p:nvPr/>
        </p:nvSpPr>
        <p:spPr>
          <a:xfrm>
            <a:off x="987552" y="2606040"/>
            <a:ext cx="384048" cy="384048"/>
          </a:xfrm>
          <a:prstGeom prst="ellipse">
            <a:avLst/>
          </a:prstGeom>
          <a:solidFill>
            <a:srgbClr val="F2A93B"/>
          </a:solidFill>
          <a:ln w="12700">
            <a:solidFill>
              <a:srgbClr val="F2A93B"/>
            </a:solidFill>
            <a:prstDash val="solid"/>
          </a:ln>
        </p:spPr>
      </p:sp>
      <p:sp>
        <p:nvSpPr>
          <p:cNvPr id="7" name="Text 5"/>
          <p:cNvSpPr txBox="1"/>
          <p:nvPr/>
        </p:nvSpPr>
        <p:spPr>
          <a:xfrm>
            <a:off x="987552" y="260604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536192" y="251460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Advirtió antes de zarpar</a:t>
            </a:r>
            <a:endParaRPr lang="en-US" sz="1700" dirty="0"/>
          </a:p>
        </p:txBody>
      </p:sp>
      <p:sp>
        <p:nvSpPr>
          <p:cNvPr id="9" name="Text 7"/>
          <p:cNvSpPr txBox="1"/>
          <p:nvPr/>
        </p:nvSpPr>
        <p:spPr>
          <a:xfrm>
            <a:off x="6492240" y="251460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10</a:t>
            </a:r>
            <a:endParaRPr lang="en-US" sz="1300" dirty="0"/>
          </a:p>
        </p:txBody>
      </p:sp>
      <p:sp>
        <p:nvSpPr>
          <p:cNvPr id="10" name="Shape 8"/>
          <p:cNvSpPr/>
          <p:nvPr/>
        </p:nvSpPr>
        <p:spPr>
          <a:xfrm>
            <a:off x="822960" y="3154680"/>
            <a:ext cx="6766560" cy="566928"/>
          </a:xfrm>
          <a:prstGeom prst="roundRect">
            <a:avLst>
              <a:gd name="adj" fmla="val 16129"/>
            </a:avLst>
          </a:prstGeom>
          <a:solidFill>
            <a:srgbClr val="1C2534"/>
          </a:solidFill>
          <a:ln w="12700">
            <a:solidFill>
              <a:srgbClr val="1C2534"/>
            </a:solidFill>
            <a:prstDash val="solid"/>
          </a:ln>
        </p:spPr>
      </p:sp>
      <p:sp>
        <p:nvSpPr>
          <p:cNvPr id="11" name="Shape 9"/>
          <p:cNvSpPr/>
          <p:nvPr/>
        </p:nvSpPr>
        <p:spPr>
          <a:xfrm>
            <a:off x="987552" y="3246120"/>
            <a:ext cx="384048" cy="384048"/>
          </a:xfrm>
          <a:prstGeom prst="ellipse">
            <a:avLst/>
          </a:prstGeom>
          <a:solidFill>
            <a:srgbClr val="F2A93B"/>
          </a:solidFill>
          <a:ln w="12700">
            <a:solidFill>
              <a:srgbClr val="F2A93B"/>
            </a:solidFill>
            <a:prstDash val="solid"/>
          </a:ln>
        </p:spPr>
      </p:sp>
      <p:sp>
        <p:nvSpPr>
          <p:cNvPr id="12" name="Text 10"/>
          <p:cNvSpPr txBox="1"/>
          <p:nvPr/>
        </p:nvSpPr>
        <p:spPr>
          <a:xfrm>
            <a:off x="987552" y="324612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536192" y="315468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No dijo «se lo dije»: animó</a:t>
            </a:r>
            <a:endParaRPr lang="en-US" sz="1700" dirty="0"/>
          </a:p>
        </p:txBody>
      </p:sp>
      <p:sp>
        <p:nvSpPr>
          <p:cNvPr id="14" name="Text 12"/>
          <p:cNvSpPr txBox="1"/>
          <p:nvPr/>
        </p:nvSpPr>
        <p:spPr>
          <a:xfrm>
            <a:off x="6492240" y="315468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22</a:t>
            </a:r>
            <a:endParaRPr lang="en-US" sz="1300" dirty="0"/>
          </a:p>
        </p:txBody>
      </p:sp>
      <p:sp>
        <p:nvSpPr>
          <p:cNvPr id="15" name="Shape 13"/>
          <p:cNvSpPr/>
          <p:nvPr/>
        </p:nvSpPr>
        <p:spPr>
          <a:xfrm>
            <a:off x="822960" y="3794760"/>
            <a:ext cx="6766560" cy="566928"/>
          </a:xfrm>
          <a:prstGeom prst="roundRect">
            <a:avLst>
              <a:gd name="adj" fmla="val 16129"/>
            </a:avLst>
          </a:prstGeom>
          <a:solidFill>
            <a:srgbClr val="232D3F"/>
          </a:solidFill>
          <a:ln w="12700">
            <a:solidFill>
              <a:srgbClr val="232D3F"/>
            </a:solidFill>
            <a:prstDash val="solid"/>
          </a:ln>
        </p:spPr>
      </p:sp>
      <p:sp>
        <p:nvSpPr>
          <p:cNvPr id="16" name="Shape 14"/>
          <p:cNvSpPr/>
          <p:nvPr/>
        </p:nvSpPr>
        <p:spPr>
          <a:xfrm>
            <a:off x="987552" y="3886200"/>
            <a:ext cx="384048" cy="384048"/>
          </a:xfrm>
          <a:prstGeom prst="ellipse">
            <a:avLst/>
          </a:prstGeom>
          <a:solidFill>
            <a:srgbClr val="F2A93B"/>
          </a:solidFill>
          <a:ln w="12700">
            <a:solidFill>
              <a:srgbClr val="F2A93B"/>
            </a:solidFill>
            <a:prstDash val="solid"/>
          </a:ln>
        </p:spPr>
      </p:sp>
      <p:sp>
        <p:nvSpPr>
          <p:cNvPr id="17" name="Text 15"/>
          <p:cNvSpPr txBox="1"/>
          <p:nvPr/>
        </p:nvSpPr>
        <p:spPr>
          <a:xfrm>
            <a:off x="987552" y="388620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536192" y="379476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Retuvo a la tripulación</a:t>
            </a:r>
            <a:endParaRPr lang="en-US" sz="1700" dirty="0"/>
          </a:p>
        </p:txBody>
      </p:sp>
      <p:sp>
        <p:nvSpPr>
          <p:cNvPr id="19" name="Text 17"/>
          <p:cNvSpPr txBox="1"/>
          <p:nvPr/>
        </p:nvSpPr>
        <p:spPr>
          <a:xfrm>
            <a:off x="6492240" y="379476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31</a:t>
            </a:r>
            <a:endParaRPr lang="en-US" sz="1300" dirty="0"/>
          </a:p>
        </p:txBody>
      </p:sp>
      <p:sp>
        <p:nvSpPr>
          <p:cNvPr id="20" name="Shape 18"/>
          <p:cNvSpPr/>
          <p:nvPr/>
        </p:nvSpPr>
        <p:spPr>
          <a:xfrm>
            <a:off x="822960" y="4434840"/>
            <a:ext cx="6766560" cy="566928"/>
          </a:xfrm>
          <a:prstGeom prst="roundRect">
            <a:avLst>
              <a:gd name="adj" fmla="val 16129"/>
            </a:avLst>
          </a:prstGeom>
          <a:solidFill>
            <a:srgbClr val="1C2534"/>
          </a:solidFill>
          <a:ln w="12700">
            <a:solidFill>
              <a:srgbClr val="1C2534"/>
            </a:solidFill>
            <a:prstDash val="solid"/>
          </a:ln>
        </p:spPr>
      </p:sp>
      <p:sp>
        <p:nvSpPr>
          <p:cNvPr id="21" name="Shape 19"/>
          <p:cNvSpPr/>
          <p:nvPr/>
        </p:nvSpPr>
        <p:spPr>
          <a:xfrm>
            <a:off x="987552" y="4526280"/>
            <a:ext cx="384048" cy="384048"/>
          </a:xfrm>
          <a:prstGeom prst="ellipse">
            <a:avLst/>
          </a:prstGeom>
          <a:solidFill>
            <a:srgbClr val="F2A93B"/>
          </a:solidFill>
          <a:ln w="12700">
            <a:solidFill>
              <a:srgbClr val="F2A93B"/>
            </a:solidFill>
            <a:prstDash val="solid"/>
          </a:ln>
        </p:spPr>
      </p:sp>
      <p:sp>
        <p:nvSpPr>
          <p:cNvPr id="22" name="Text 20"/>
          <p:cNvSpPr txBox="1"/>
          <p:nvPr/>
        </p:nvSpPr>
        <p:spPr>
          <a:xfrm>
            <a:off x="987552" y="452628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1536192" y="443484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Los hizo comer</a:t>
            </a:r>
            <a:endParaRPr lang="en-US" sz="1700" dirty="0"/>
          </a:p>
        </p:txBody>
      </p:sp>
      <p:sp>
        <p:nvSpPr>
          <p:cNvPr id="24" name="Text 22"/>
          <p:cNvSpPr txBox="1"/>
          <p:nvPr/>
        </p:nvSpPr>
        <p:spPr>
          <a:xfrm>
            <a:off x="6492240" y="443484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34</a:t>
            </a:r>
            <a:endParaRPr lang="en-US" sz="1300" dirty="0"/>
          </a:p>
        </p:txBody>
      </p:sp>
      <p:sp>
        <p:nvSpPr>
          <p:cNvPr id="25" name="Shape 23"/>
          <p:cNvSpPr/>
          <p:nvPr/>
        </p:nvSpPr>
        <p:spPr>
          <a:xfrm>
            <a:off x="822960" y="5074920"/>
            <a:ext cx="6766560" cy="566928"/>
          </a:xfrm>
          <a:prstGeom prst="roundRect">
            <a:avLst>
              <a:gd name="adj" fmla="val 16129"/>
            </a:avLst>
          </a:prstGeom>
          <a:solidFill>
            <a:srgbClr val="232D3F"/>
          </a:solidFill>
          <a:ln w="12700">
            <a:solidFill>
              <a:srgbClr val="232D3F"/>
            </a:solidFill>
            <a:prstDash val="solid"/>
          </a:ln>
        </p:spPr>
      </p:sp>
      <p:sp>
        <p:nvSpPr>
          <p:cNvPr id="26" name="Shape 24"/>
          <p:cNvSpPr/>
          <p:nvPr/>
        </p:nvSpPr>
        <p:spPr>
          <a:xfrm>
            <a:off x="987552" y="5166360"/>
            <a:ext cx="384048" cy="384048"/>
          </a:xfrm>
          <a:prstGeom prst="ellipse">
            <a:avLst/>
          </a:prstGeom>
          <a:solidFill>
            <a:srgbClr val="F2A93B"/>
          </a:solidFill>
          <a:ln w="12700">
            <a:solidFill>
              <a:srgbClr val="F2A93B"/>
            </a:solidFill>
            <a:prstDash val="solid"/>
          </a:ln>
        </p:spPr>
      </p:sp>
      <p:sp>
        <p:nvSpPr>
          <p:cNvPr id="27" name="Text 25"/>
          <p:cNvSpPr txBox="1"/>
          <p:nvPr/>
        </p:nvSpPr>
        <p:spPr>
          <a:xfrm>
            <a:off x="987552" y="5166360"/>
            <a:ext cx="384048" cy="384048"/>
          </a:xfrm>
          <a:prstGeom prst="rect">
            <a:avLst/>
          </a:prstGeom>
          <a:noFill/>
          <a:ln/>
        </p:spPr>
        <p:txBody>
          <a:bodyPr wrap="square" lIns="0" tIns="0" rIns="0" bIns="0" rtlCol="0" anchor="ctr"/>
          <a:lstStyle/>
          <a:p>
            <a:pPr algn="ctr" indent="0" marL="0">
              <a:buNone/>
            </a:pPr>
            <a:r>
              <a:rPr lang="en-US" sz="1400" b="1" dirty="0">
                <a:solidFill>
                  <a:srgbClr val="0E121A"/>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1536192" y="5074920"/>
            <a:ext cx="4846320" cy="566928"/>
          </a:xfrm>
          <a:prstGeom prst="rect">
            <a:avLst/>
          </a:prstGeom>
          <a:noFill/>
          <a:ln/>
        </p:spPr>
        <p:txBody>
          <a:bodyPr wrap="square" lIns="0" tIns="0" rIns="0" bIns="0" rtlCol="0" anchor="ctr"/>
          <a:lstStyle/>
          <a:p>
            <a:pPr indent="0" marL="0">
              <a:buNone/>
            </a:pPr>
            <a:r>
              <a:rPr lang="en-US" sz="1700" dirty="0">
                <a:solidFill>
                  <a:srgbClr val="F6F2E9"/>
                </a:solidFill>
                <a:latin typeface="Calibri" pitchFamily="34" charset="0"/>
                <a:ea typeface="Calibri" pitchFamily="34" charset="-122"/>
                <a:cs typeface="Calibri" pitchFamily="34" charset="-120"/>
              </a:rPr>
              <a:t>Dio gracias delante de todos</a:t>
            </a:r>
            <a:endParaRPr lang="en-US" sz="1700" dirty="0"/>
          </a:p>
        </p:txBody>
      </p:sp>
      <p:sp>
        <p:nvSpPr>
          <p:cNvPr id="29" name="Text 27"/>
          <p:cNvSpPr txBox="1"/>
          <p:nvPr/>
        </p:nvSpPr>
        <p:spPr>
          <a:xfrm>
            <a:off x="6492240" y="5074920"/>
            <a:ext cx="914400" cy="566928"/>
          </a:xfrm>
          <a:prstGeom prst="rect">
            <a:avLst/>
          </a:prstGeom>
          <a:noFill/>
          <a:ln/>
        </p:spPr>
        <p:txBody>
          <a:bodyPr wrap="square" lIns="0" tIns="0" rIns="0" bIns="0" rtlCol="0" anchor="ctr"/>
          <a:lstStyle/>
          <a:p>
            <a:pPr algn="r" indent="0" marL="0">
              <a:buNone/>
            </a:pPr>
            <a:r>
              <a:rPr lang="en-US" sz="1300" b="1" dirty="0">
                <a:solidFill>
                  <a:srgbClr val="F2A93B"/>
                </a:solidFill>
                <a:latin typeface="Calibri" pitchFamily="34" charset="0"/>
                <a:ea typeface="Calibri" pitchFamily="34" charset="-122"/>
                <a:cs typeface="Calibri" pitchFamily="34" charset="-120"/>
              </a:rPr>
              <a:t>v. 35</a:t>
            </a:r>
            <a:endParaRPr lang="en-US" sz="1300" dirty="0"/>
          </a:p>
        </p:txBody>
      </p:sp>
      <p:sp>
        <p:nvSpPr>
          <p:cNvPr id="30" name="Shape 28"/>
          <p:cNvSpPr/>
          <p:nvPr/>
        </p:nvSpPr>
        <p:spPr>
          <a:xfrm>
            <a:off x="8001000" y="2514600"/>
            <a:ext cx="3364992" cy="2761488"/>
          </a:xfrm>
          <a:prstGeom prst="roundRect">
            <a:avLst>
              <a:gd name="adj" fmla="val 3311"/>
            </a:avLst>
          </a:prstGeom>
          <a:solidFill>
            <a:srgbClr val="F2A93B"/>
          </a:solidFill>
          <a:ln w="12700">
            <a:solidFill>
              <a:srgbClr val="F2A93B"/>
            </a:solidFill>
            <a:prstDash val="solid"/>
          </a:ln>
        </p:spPr>
      </p:sp>
      <p:sp>
        <p:nvSpPr>
          <p:cNvPr id="31" name="Text 29"/>
          <p:cNvSpPr txBox="1"/>
          <p:nvPr/>
        </p:nvSpPr>
        <p:spPr>
          <a:xfrm>
            <a:off x="8001000" y="2788920"/>
            <a:ext cx="3364992" cy="1097280"/>
          </a:xfrm>
          <a:prstGeom prst="rect">
            <a:avLst/>
          </a:prstGeom>
          <a:noFill/>
          <a:ln/>
        </p:spPr>
        <p:txBody>
          <a:bodyPr wrap="square" lIns="0" tIns="0" rIns="0" bIns="0" rtlCol="0" anchor="ctr"/>
          <a:lstStyle/>
          <a:p>
            <a:pPr algn="ctr" indent="0" marL="0">
              <a:buNone/>
            </a:pPr>
            <a:r>
              <a:rPr lang="en-US" sz="6800" b="1" dirty="0">
                <a:solidFill>
                  <a:srgbClr val="0E121A"/>
                </a:solidFill>
                <a:latin typeface="Cambria" pitchFamily="34" charset="0"/>
                <a:ea typeface="Cambria" pitchFamily="34" charset="-122"/>
                <a:cs typeface="Cambria" pitchFamily="34" charset="-120"/>
              </a:rPr>
              <a:t>276</a:t>
            </a:r>
            <a:endParaRPr lang="en-US" sz="6800" dirty="0"/>
          </a:p>
        </p:txBody>
      </p:sp>
      <p:sp>
        <p:nvSpPr>
          <p:cNvPr id="32" name="Text 30"/>
          <p:cNvSpPr txBox="1"/>
          <p:nvPr/>
        </p:nvSpPr>
        <p:spPr>
          <a:xfrm>
            <a:off x="8138160" y="3931920"/>
            <a:ext cx="3090672" cy="1188720"/>
          </a:xfrm>
          <a:prstGeom prst="rect">
            <a:avLst/>
          </a:prstGeom>
          <a:noFill/>
          <a:ln/>
        </p:spPr>
        <p:txBody>
          <a:bodyPr wrap="square" lIns="0" tIns="0" rIns="0" bIns="0" rtlCol="0" anchor="t"/>
          <a:lstStyle/>
          <a:p>
            <a:pPr algn="ctr" indent="0" marL="0">
              <a:lnSpc>
                <a:spcPct val="110000"/>
              </a:lnSpc>
              <a:buNone/>
            </a:pPr>
            <a:r>
              <a:rPr lang="en-US" sz="1700" b="1" dirty="0">
                <a:solidFill>
                  <a:srgbClr val="4A3410"/>
                </a:solidFill>
                <a:latin typeface="Calibri" pitchFamily="34" charset="0"/>
                <a:ea typeface="Calibri" pitchFamily="34" charset="-122"/>
                <a:cs typeface="Calibri" pitchFamily="34" charset="-120"/>
              </a:rPr>
              <a:t>personas a bordo</a:t>
            </a:r>
            <a:endParaRPr lang="en-US" sz="1700" dirty="0"/>
          </a:p>
          <a:p>
            <a:pPr algn="ctr" indent="0" marL="0">
              <a:lnSpc>
                <a:spcPct val="110000"/>
              </a:lnSpc>
              <a:buNone/>
            </a:pPr>
            <a:endParaRPr lang="en-US" sz="1700" dirty="0"/>
          </a:p>
          <a:p>
            <a:pPr algn="ctr" indent="0" marL="0">
              <a:lnSpc>
                <a:spcPct val="110000"/>
              </a:lnSpc>
              <a:buNone/>
            </a:pPr>
            <a:r>
              <a:rPr lang="en-US" sz="1700" b="1" dirty="0">
                <a:solidFill>
                  <a:srgbClr val="4A3410"/>
                </a:solidFill>
                <a:latin typeface="Calibri" pitchFamily="34" charset="0"/>
                <a:ea typeface="Calibri" pitchFamily="34" charset="-122"/>
                <a:cs typeface="Calibri" pitchFamily="34" charset="-120"/>
              </a:rPr>
              <a:t>Ni una perdida.</a:t>
            </a:r>
            <a:endParaRPr lang="en-US" sz="1700" dirty="0"/>
          </a:p>
        </p:txBody>
      </p:sp>
      <p:sp>
        <p:nvSpPr>
          <p:cNvPr id="33" name="Text 31"/>
          <p:cNvSpPr txBox="1"/>
          <p:nvPr/>
        </p:nvSpPr>
        <p:spPr>
          <a:xfrm>
            <a:off x="822960" y="5669280"/>
            <a:ext cx="10543032" cy="777240"/>
          </a:xfrm>
          <a:prstGeom prst="rect">
            <a:avLst/>
          </a:prstGeom>
          <a:noFill/>
          <a:ln/>
        </p:spPr>
        <p:txBody>
          <a:bodyPr wrap="square" lIns="0" tIns="0" rIns="0" bIns="0" rtlCol="0" anchor="ctr"/>
          <a:lstStyle/>
          <a:p>
            <a:pPr indent="0" marL="0">
              <a:buNone/>
            </a:pPr>
            <a:r>
              <a:rPr lang="en-US" sz="2100" b="1" dirty="0">
                <a:solidFill>
                  <a:srgbClr val="F2A93B"/>
                </a:solidFill>
                <a:latin typeface="Cambria" pitchFamily="34" charset="0"/>
                <a:ea typeface="Cambria" pitchFamily="34" charset="-122"/>
                <a:cs typeface="Cambria" pitchFamily="34" charset="-120"/>
              </a:rPr>
              <a:t>Un preso a bordo terminó dirigiendo el rescate.</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1D29"/>
        </a:solidFill>
      </p:bgPr>
    </p:bg>
    <p:spTree>
      <p:nvGrpSpPr>
        <p:cNvPr id="1" name=""/>
        <p:cNvGrpSpPr/>
        <p:nvPr/>
      </p:nvGrpSpPr>
      <p:grpSpPr>
        <a:xfrm>
          <a:off x="0" y="0"/>
          <a:ext cx="0" cy="0"/>
          <a:chOff x="0" y="0"/>
          <a:chExt cx="0" cy="0"/>
        </a:xfrm>
      </p:grpSpPr>
      <p:sp>
        <p:nvSpPr>
          <p:cNvPr id="2" name="Shape 0"/>
          <p:cNvSpPr/>
          <p:nvPr/>
        </p:nvSpPr>
        <p:spPr>
          <a:xfrm>
            <a:off x="10058400" y="-457200"/>
            <a:ext cx="2743200" cy="2743200"/>
          </a:xfrm>
          <a:prstGeom prst="ellipse">
            <a:avLst/>
          </a:prstGeom>
          <a:solidFill>
            <a:srgbClr val="161D29"/>
          </a:solidFill>
          <a:ln w="12700">
            <a:solidFill>
              <a:srgbClr val="2A3446"/>
            </a:solidFill>
            <a:prstDash val="solid"/>
          </a:ln>
        </p:spPr>
      </p:sp>
      <p:sp>
        <p:nvSpPr>
          <p:cNvPr id="3" name="Shape 1"/>
          <p:cNvSpPr/>
          <p:nvPr/>
        </p:nvSpPr>
        <p:spPr>
          <a:xfrm>
            <a:off x="10469880" y="-45720"/>
            <a:ext cx="1920240" cy="1920240"/>
          </a:xfrm>
          <a:prstGeom prst="ellipse">
            <a:avLst/>
          </a:prstGeom>
          <a:solidFill>
            <a:srgbClr val="161D29"/>
          </a:solidFill>
          <a:ln w="12700">
            <a:solidFill>
              <a:srgbClr val="2A3446"/>
            </a:solidFill>
            <a:prstDash val="solid"/>
          </a:ln>
        </p:spPr>
      </p:sp>
      <p:sp>
        <p:nvSpPr>
          <p:cNvPr id="4" name="Shape 2"/>
          <p:cNvSpPr/>
          <p:nvPr/>
        </p:nvSpPr>
        <p:spPr>
          <a:xfrm>
            <a:off x="10863072" y="347472"/>
            <a:ext cx="1133856" cy="1133856"/>
          </a:xfrm>
          <a:prstGeom prst="ellipse">
            <a:avLst/>
          </a:prstGeom>
          <a:solidFill>
            <a:srgbClr val="161D29"/>
          </a:solidFill>
          <a:ln w="12700">
            <a:solidFill>
              <a:srgbClr val="2A3446"/>
            </a:solidFill>
            <a:prstDash val="solid"/>
          </a:ln>
        </p:spPr>
      </p:sp>
      <p:sp>
        <p:nvSpPr>
          <p:cNvPr id="5" name="Text 3"/>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LA JOYA DEL CAPÍTULO</a:t>
            </a:r>
            <a:endParaRPr lang="en-US" sz="1200" dirty="0"/>
          </a:p>
        </p:txBody>
      </p:sp>
      <p:sp>
        <p:nvSpPr>
          <p:cNvPr id="6" name="Text 4"/>
          <p:cNvSpPr txBox="1"/>
          <p:nvPr/>
        </p:nvSpPr>
        <p:spPr>
          <a:xfrm>
            <a:off x="713232" y="914400"/>
            <a:ext cx="1463040" cy="1280160"/>
          </a:xfrm>
          <a:prstGeom prst="rect">
            <a:avLst/>
          </a:prstGeom>
          <a:noFill/>
          <a:ln/>
        </p:spPr>
        <p:txBody>
          <a:bodyPr wrap="square" lIns="0" tIns="0" rIns="0" bIns="0" rtlCol="0" anchor="t"/>
          <a:lstStyle/>
          <a:p>
            <a:pPr indent="0" marL="0">
              <a:buNone/>
            </a:pPr>
            <a:r>
              <a:rPr lang="en-US" sz="13000" b="1" dirty="0">
                <a:solidFill>
                  <a:srgbClr val="F2A93B"/>
                </a:solidFill>
                <a:latin typeface="Cambria" pitchFamily="34" charset="0"/>
                <a:ea typeface="Cambria" pitchFamily="34" charset="-122"/>
                <a:cs typeface="Cambria" pitchFamily="34" charset="-120"/>
              </a:rPr>
              <a:t>“</a:t>
            </a:r>
            <a:endParaRPr lang="en-US" sz="13000" dirty="0"/>
          </a:p>
        </p:txBody>
      </p:sp>
      <p:sp>
        <p:nvSpPr>
          <p:cNvPr id="7" name="Text 5"/>
          <p:cNvSpPr txBox="1"/>
          <p:nvPr/>
        </p:nvSpPr>
        <p:spPr>
          <a:xfrm>
            <a:off x="822960" y="1965960"/>
            <a:ext cx="9537192" cy="2011680"/>
          </a:xfrm>
          <a:prstGeom prst="rect">
            <a:avLst/>
          </a:prstGeom>
          <a:noFill/>
          <a:ln/>
        </p:spPr>
        <p:txBody>
          <a:bodyPr wrap="square" lIns="0" tIns="0" rIns="0" bIns="0" rtlCol="0" anchor="t"/>
          <a:lstStyle/>
          <a:p>
            <a:pPr indent="0" marL="0">
              <a:lnSpc>
                <a:spcPct val="120000"/>
              </a:lnSpc>
              <a:buNone/>
            </a:pPr>
            <a:r>
              <a:rPr lang="en-US" sz="3300" dirty="0">
                <a:solidFill>
                  <a:srgbClr val="F6F2E9"/>
                </a:solidFill>
                <a:latin typeface="Cambria" pitchFamily="34" charset="0"/>
                <a:ea typeface="Cambria" pitchFamily="34" charset="-122"/>
                <a:cs typeface="Cambria" pitchFamily="34" charset="-120"/>
              </a:rPr>
              <a:t>Si éstos </a:t>
            </a:r>
            <a:pPr indent="0" marL="0">
              <a:lnSpc>
                <a:spcPct val="120000"/>
              </a:lnSpc>
              <a:buNone/>
            </a:pPr>
            <a:r>
              <a:rPr lang="en-US" sz="3300" b="1" dirty="0">
                <a:solidFill>
                  <a:srgbClr val="F2A93B"/>
                </a:solidFill>
                <a:latin typeface="Cambria" pitchFamily="34" charset="0"/>
                <a:ea typeface="Cambria" pitchFamily="34" charset="-122"/>
                <a:cs typeface="Cambria" pitchFamily="34" charset="-120"/>
              </a:rPr>
              <a:t>no permanecen en la nave</a:t>
            </a:r>
            <a:pPr indent="0" marL="0">
              <a:lnSpc>
                <a:spcPct val="120000"/>
              </a:lnSpc>
              <a:buNone/>
            </a:pPr>
            <a:r>
              <a:rPr lang="en-US" sz="3300" dirty="0">
                <a:solidFill>
                  <a:srgbClr val="F6F2E9"/>
                </a:solidFill>
                <a:latin typeface="Cambria" pitchFamily="34" charset="0"/>
                <a:ea typeface="Cambria" pitchFamily="34" charset="-122"/>
                <a:cs typeface="Cambria" pitchFamily="34" charset="-120"/>
              </a:rPr>
              <a:t>, vosotros no podéis salvaros.</a:t>
            </a:r>
            <a:endParaRPr lang="en-US" sz="3300" dirty="0"/>
          </a:p>
        </p:txBody>
      </p:sp>
      <p:sp>
        <p:nvSpPr>
          <p:cNvPr id="8" name="Text 6"/>
          <p:cNvSpPr txBox="1"/>
          <p:nvPr/>
        </p:nvSpPr>
        <p:spPr>
          <a:xfrm>
            <a:off x="822960" y="4846320"/>
            <a:ext cx="10543032" cy="365760"/>
          </a:xfrm>
          <a:prstGeom prst="rect">
            <a:avLst/>
          </a:prstGeom>
          <a:noFill/>
          <a:ln/>
        </p:spPr>
        <p:txBody>
          <a:bodyPr wrap="square" lIns="0" tIns="0" rIns="0" bIns="0" rtlCol="0" anchor="ctr"/>
          <a:lstStyle/>
          <a:p>
            <a:pPr indent="0" marL="0">
              <a:buNone/>
            </a:pPr>
            <a:r>
              <a:rPr lang="en-US" sz="1600" b="1" spc="160" kern="0" dirty="0">
                <a:solidFill>
                  <a:srgbClr val="F2A93B"/>
                </a:solidFill>
                <a:latin typeface="Calibri" pitchFamily="34" charset="0"/>
                <a:ea typeface="Calibri" pitchFamily="34" charset="-122"/>
                <a:cs typeface="Calibri" pitchFamily="34" charset="-120"/>
              </a:rPr>
              <a:t>Hechos 27:31</a:t>
            </a:r>
            <a:endParaRPr lang="en-US" sz="1600" dirty="0"/>
          </a:p>
        </p:txBody>
      </p:sp>
      <p:sp>
        <p:nvSpPr>
          <p:cNvPr id="9" name="Text 7"/>
          <p:cNvSpPr txBox="1"/>
          <p:nvPr/>
        </p:nvSpPr>
        <p:spPr>
          <a:xfrm>
            <a:off x="822960" y="5440680"/>
            <a:ext cx="10543032" cy="777240"/>
          </a:xfrm>
          <a:prstGeom prst="rect">
            <a:avLst/>
          </a:prstGeom>
          <a:noFill/>
          <a:ln/>
        </p:spPr>
        <p:txBody>
          <a:bodyPr wrap="square" lIns="0" tIns="0" rIns="0" bIns="0" rtlCol="0" anchor="ctr"/>
          <a:lstStyle/>
          <a:p>
            <a:pPr indent="0" marL="0">
              <a:buNone/>
            </a:pPr>
            <a:r>
              <a:rPr lang="en-US" sz="2600" b="1" dirty="0">
                <a:solidFill>
                  <a:srgbClr val="F2A93B"/>
                </a:solidFill>
                <a:latin typeface="Cambria" pitchFamily="34" charset="0"/>
                <a:ea typeface="Cambria" pitchFamily="34" charset="-122"/>
                <a:cs typeface="Cambria" pitchFamily="34" charset="-120"/>
              </a:rPr>
              <a:t>La promesa de Dios no sustituye a la tripulación.</a:t>
            </a:r>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CIERRE</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Cuatro cosas para llevarse</a:t>
            </a:r>
            <a:endParaRPr lang="en-US" sz="3800" dirty="0"/>
          </a:p>
        </p:txBody>
      </p:sp>
      <p:sp>
        <p:nvSpPr>
          <p:cNvPr id="4" name="Shape 2"/>
          <p:cNvSpPr/>
          <p:nvPr/>
        </p:nvSpPr>
        <p:spPr>
          <a:xfrm>
            <a:off x="822960" y="2103120"/>
            <a:ext cx="5248656" cy="1600200"/>
          </a:xfrm>
          <a:prstGeom prst="roundRect">
            <a:avLst>
              <a:gd name="adj" fmla="val 5714"/>
            </a:avLst>
          </a:prstGeom>
          <a:solidFill>
            <a:srgbClr val="232D3F"/>
          </a:solidFill>
          <a:ln w="12700">
            <a:solidFill>
              <a:srgbClr val="232D3F"/>
            </a:solidFill>
            <a:prstDash val="solid"/>
          </a:ln>
        </p:spPr>
      </p:sp>
      <p:sp>
        <p:nvSpPr>
          <p:cNvPr id="5" name="Shape 3"/>
          <p:cNvSpPr/>
          <p:nvPr/>
        </p:nvSpPr>
        <p:spPr>
          <a:xfrm>
            <a:off x="1133856" y="2395728"/>
            <a:ext cx="548640" cy="548640"/>
          </a:xfrm>
          <a:prstGeom prst="ellipse">
            <a:avLst/>
          </a:prstGeom>
          <a:solidFill>
            <a:srgbClr val="F2A93B"/>
          </a:solidFill>
          <a:ln w="12700">
            <a:solidFill>
              <a:srgbClr val="F2A93B"/>
            </a:solidFill>
            <a:prstDash val="solid"/>
          </a:ln>
        </p:spPr>
      </p:sp>
      <p:sp>
        <p:nvSpPr>
          <p:cNvPr id="6" name="Text 4"/>
          <p:cNvSpPr txBox="1"/>
          <p:nvPr/>
        </p:nvSpPr>
        <p:spPr>
          <a:xfrm>
            <a:off x="1133856" y="2395728"/>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847088" y="2286000"/>
            <a:ext cx="3922776" cy="566928"/>
          </a:xfrm>
          <a:prstGeom prst="rect">
            <a:avLst/>
          </a:prstGeom>
          <a:noFill/>
          <a:ln/>
        </p:spPr>
        <p:txBody>
          <a:bodyPr wrap="square" lIns="0" tIns="0" rIns="0" bIns="0" rtlCol="0" anchor="t"/>
          <a:lstStyle/>
          <a:p>
            <a:pPr indent="0" marL="0">
              <a:buNone/>
            </a:pPr>
            <a:r>
              <a:rPr lang="en-US" sz="2100" b="1" dirty="0">
                <a:solidFill>
                  <a:srgbClr val="F2A93B"/>
                </a:solidFill>
                <a:latin typeface="Cambria" pitchFamily="34" charset="0"/>
                <a:ea typeface="Cambria" pitchFamily="34" charset="-122"/>
                <a:cs typeface="Cambria" pitchFamily="34" charset="-120"/>
              </a:rPr>
              <a:t>Dios avisa</a:t>
            </a:r>
            <a:endParaRPr lang="en-US" sz="2100" dirty="0"/>
          </a:p>
        </p:txBody>
      </p:sp>
      <p:sp>
        <p:nvSpPr>
          <p:cNvPr id="8" name="Text 6"/>
          <p:cNvSpPr txBox="1"/>
          <p:nvPr/>
        </p:nvSpPr>
        <p:spPr>
          <a:xfrm>
            <a:off x="1847088" y="2889504"/>
            <a:ext cx="3922776" cy="694944"/>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Antes de Noé, antes de José, antes del naufragio. El sistema de alerta temprana es idea suya.</a:t>
            </a:r>
            <a:endParaRPr lang="en-US" sz="1400" dirty="0"/>
          </a:p>
        </p:txBody>
      </p:sp>
      <p:sp>
        <p:nvSpPr>
          <p:cNvPr id="9" name="Shape 7"/>
          <p:cNvSpPr/>
          <p:nvPr/>
        </p:nvSpPr>
        <p:spPr>
          <a:xfrm>
            <a:off x="6391656" y="2103120"/>
            <a:ext cx="5248656" cy="1600200"/>
          </a:xfrm>
          <a:prstGeom prst="roundRect">
            <a:avLst>
              <a:gd name="adj" fmla="val 5714"/>
            </a:avLst>
          </a:prstGeom>
          <a:solidFill>
            <a:srgbClr val="232D3F"/>
          </a:solidFill>
          <a:ln w="12700">
            <a:solidFill>
              <a:srgbClr val="232D3F"/>
            </a:solidFill>
            <a:prstDash val="solid"/>
          </a:ln>
        </p:spPr>
      </p:sp>
      <p:sp>
        <p:nvSpPr>
          <p:cNvPr id="10" name="Shape 8"/>
          <p:cNvSpPr/>
          <p:nvPr/>
        </p:nvSpPr>
        <p:spPr>
          <a:xfrm>
            <a:off x="6702552" y="2395728"/>
            <a:ext cx="548640" cy="548640"/>
          </a:xfrm>
          <a:prstGeom prst="ellipse">
            <a:avLst/>
          </a:prstGeom>
          <a:solidFill>
            <a:srgbClr val="F2A93B"/>
          </a:solidFill>
          <a:ln w="12700">
            <a:solidFill>
              <a:srgbClr val="F2A93B"/>
            </a:solidFill>
            <a:prstDash val="solid"/>
          </a:ln>
        </p:spPr>
      </p:sp>
      <p:sp>
        <p:nvSpPr>
          <p:cNvPr id="11" name="Text 9"/>
          <p:cNvSpPr txBox="1"/>
          <p:nvPr/>
        </p:nvSpPr>
        <p:spPr>
          <a:xfrm>
            <a:off x="6702552" y="2395728"/>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7415784" y="2286000"/>
            <a:ext cx="3922776" cy="566928"/>
          </a:xfrm>
          <a:prstGeom prst="rect">
            <a:avLst/>
          </a:prstGeom>
          <a:noFill/>
          <a:ln/>
        </p:spPr>
        <p:txBody>
          <a:bodyPr wrap="square" lIns="0" tIns="0" rIns="0" bIns="0" rtlCol="0" anchor="t"/>
          <a:lstStyle/>
          <a:p>
            <a:pPr indent="0" marL="0">
              <a:buNone/>
            </a:pPr>
            <a:r>
              <a:rPr lang="en-US" sz="2100" b="1" dirty="0">
                <a:solidFill>
                  <a:srgbClr val="F2A93B"/>
                </a:solidFill>
                <a:latin typeface="Cambria" pitchFamily="34" charset="0"/>
                <a:ea typeface="Cambria" pitchFamily="34" charset="-122"/>
                <a:cs typeface="Cambria" pitchFamily="34" charset="-120"/>
              </a:rPr>
              <a:t>Prepararse es obediencia</a:t>
            </a:r>
            <a:endParaRPr lang="en-US" sz="2100" dirty="0"/>
          </a:p>
        </p:txBody>
      </p:sp>
      <p:sp>
        <p:nvSpPr>
          <p:cNvPr id="13" name="Text 11"/>
          <p:cNvSpPr txBox="1"/>
          <p:nvPr/>
        </p:nvSpPr>
        <p:spPr>
          <a:xfrm>
            <a:off x="7415784" y="2889504"/>
            <a:ext cx="3922776" cy="694944"/>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Oramos Y ponemos guarda. Nunca fue una disyuntiva.</a:t>
            </a:r>
            <a:endParaRPr lang="en-US" sz="1400" dirty="0"/>
          </a:p>
        </p:txBody>
      </p:sp>
      <p:sp>
        <p:nvSpPr>
          <p:cNvPr id="14" name="Shape 12"/>
          <p:cNvSpPr/>
          <p:nvPr/>
        </p:nvSpPr>
        <p:spPr>
          <a:xfrm>
            <a:off x="822960" y="3995928"/>
            <a:ext cx="5248656" cy="1600200"/>
          </a:xfrm>
          <a:prstGeom prst="roundRect">
            <a:avLst>
              <a:gd name="adj" fmla="val 5714"/>
            </a:avLst>
          </a:prstGeom>
          <a:solidFill>
            <a:srgbClr val="232D3F"/>
          </a:solidFill>
          <a:ln w="12700">
            <a:solidFill>
              <a:srgbClr val="232D3F"/>
            </a:solidFill>
            <a:prstDash val="solid"/>
          </a:ln>
        </p:spPr>
      </p:sp>
      <p:sp>
        <p:nvSpPr>
          <p:cNvPr id="15" name="Shape 13"/>
          <p:cNvSpPr/>
          <p:nvPr/>
        </p:nvSpPr>
        <p:spPr>
          <a:xfrm>
            <a:off x="1133856" y="4288536"/>
            <a:ext cx="548640" cy="548640"/>
          </a:xfrm>
          <a:prstGeom prst="ellipse">
            <a:avLst/>
          </a:prstGeom>
          <a:solidFill>
            <a:srgbClr val="F2A93B"/>
          </a:solidFill>
          <a:ln w="12700">
            <a:solidFill>
              <a:srgbClr val="F2A93B"/>
            </a:solidFill>
            <a:prstDash val="solid"/>
          </a:ln>
        </p:spPr>
      </p:sp>
      <p:sp>
        <p:nvSpPr>
          <p:cNvPr id="16" name="Text 14"/>
          <p:cNvSpPr txBox="1"/>
          <p:nvPr/>
        </p:nvSpPr>
        <p:spPr>
          <a:xfrm>
            <a:off x="1133856" y="4288536"/>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1847088" y="4178808"/>
            <a:ext cx="3922776" cy="566928"/>
          </a:xfrm>
          <a:prstGeom prst="rect">
            <a:avLst/>
          </a:prstGeom>
          <a:noFill/>
          <a:ln/>
        </p:spPr>
        <p:txBody>
          <a:bodyPr wrap="square" lIns="0" tIns="0" rIns="0" bIns="0" rtlCol="0" anchor="t"/>
          <a:lstStyle/>
          <a:p>
            <a:pPr indent="0" marL="0">
              <a:buNone/>
            </a:pPr>
            <a:r>
              <a:rPr lang="en-US" sz="2100" b="1" dirty="0">
                <a:solidFill>
                  <a:srgbClr val="F2A93B"/>
                </a:solidFill>
                <a:latin typeface="Cambria" pitchFamily="34" charset="0"/>
                <a:ea typeface="Cambria" pitchFamily="34" charset="-122"/>
                <a:cs typeface="Cambria" pitchFamily="34" charset="-120"/>
              </a:rPr>
              <a:t>La tragedia no es sentencia</a:t>
            </a:r>
            <a:endParaRPr lang="en-US" sz="2100" dirty="0"/>
          </a:p>
        </p:txBody>
      </p:sp>
      <p:sp>
        <p:nvSpPr>
          <p:cNvPr id="18" name="Text 16"/>
          <p:cNvSpPr txBox="1"/>
          <p:nvPr/>
        </p:nvSpPr>
        <p:spPr>
          <a:xfrm>
            <a:off x="1847088" y="4782312"/>
            <a:ext cx="3922776" cy="694944"/>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Jesús prohibió esa lectura en Lucas 13. Frente al que sufre vamos con las manos.</a:t>
            </a:r>
            <a:endParaRPr lang="en-US" sz="1400" dirty="0"/>
          </a:p>
        </p:txBody>
      </p:sp>
      <p:sp>
        <p:nvSpPr>
          <p:cNvPr id="19" name="Shape 17"/>
          <p:cNvSpPr/>
          <p:nvPr/>
        </p:nvSpPr>
        <p:spPr>
          <a:xfrm>
            <a:off x="6391656" y="3995928"/>
            <a:ext cx="5248656" cy="1600200"/>
          </a:xfrm>
          <a:prstGeom prst="roundRect">
            <a:avLst>
              <a:gd name="adj" fmla="val 5714"/>
            </a:avLst>
          </a:prstGeom>
          <a:solidFill>
            <a:srgbClr val="232D3F"/>
          </a:solidFill>
          <a:ln w="12700">
            <a:solidFill>
              <a:srgbClr val="232D3F"/>
            </a:solidFill>
            <a:prstDash val="solid"/>
          </a:ln>
        </p:spPr>
      </p:sp>
      <p:sp>
        <p:nvSpPr>
          <p:cNvPr id="20" name="Shape 18"/>
          <p:cNvSpPr/>
          <p:nvPr/>
        </p:nvSpPr>
        <p:spPr>
          <a:xfrm>
            <a:off x="6702552" y="4288536"/>
            <a:ext cx="548640" cy="548640"/>
          </a:xfrm>
          <a:prstGeom prst="ellipse">
            <a:avLst/>
          </a:prstGeom>
          <a:solidFill>
            <a:srgbClr val="F2A93B"/>
          </a:solidFill>
          <a:ln w="12700">
            <a:solidFill>
              <a:srgbClr val="F2A93B"/>
            </a:solidFill>
            <a:prstDash val="solid"/>
          </a:ln>
        </p:spPr>
      </p:sp>
      <p:sp>
        <p:nvSpPr>
          <p:cNvPr id="21" name="Text 19"/>
          <p:cNvSpPr txBox="1"/>
          <p:nvPr/>
        </p:nvSpPr>
        <p:spPr>
          <a:xfrm>
            <a:off x="6702552" y="4288536"/>
            <a:ext cx="548640" cy="548640"/>
          </a:xfrm>
          <a:prstGeom prst="rect">
            <a:avLst/>
          </a:prstGeom>
          <a:noFill/>
          <a:ln/>
        </p:spPr>
        <p:txBody>
          <a:bodyPr wrap="square" lIns="0" tIns="0" rIns="0" bIns="0" rtlCol="0" anchor="ctr"/>
          <a:lstStyle/>
          <a:p>
            <a:pPr algn="ctr" indent="0" marL="0">
              <a:buNone/>
            </a:pPr>
            <a:r>
              <a:rPr lang="en-US" sz="2000" b="1" dirty="0">
                <a:solidFill>
                  <a:srgbClr val="0E121A"/>
                </a:solidFill>
                <a:latin typeface="Calibri" pitchFamily="34" charset="0"/>
                <a:ea typeface="Calibri" pitchFamily="34" charset="-122"/>
                <a:cs typeface="Calibri" pitchFamily="34" charset="-120"/>
              </a:rPr>
              <a:t>4</a:t>
            </a:r>
            <a:endParaRPr lang="en-US" sz="2000" dirty="0"/>
          </a:p>
        </p:txBody>
      </p:sp>
      <p:sp>
        <p:nvSpPr>
          <p:cNvPr id="22" name="Text 20"/>
          <p:cNvSpPr txBox="1"/>
          <p:nvPr/>
        </p:nvSpPr>
        <p:spPr>
          <a:xfrm>
            <a:off x="7415784" y="4178808"/>
            <a:ext cx="3922776" cy="566928"/>
          </a:xfrm>
          <a:prstGeom prst="rect">
            <a:avLst/>
          </a:prstGeom>
          <a:noFill/>
          <a:ln/>
        </p:spPr>
        <p:txBody>
          <a:bodyPr wrap="square" lIns="0" tIns="0" rIns="0" bIns="0" rtlCol="0" anchor="t"/>
          <a:lstStyle/>
          <a:p>
            <a:pPr indent="0" marL="0">
              <a:buNone/>
            </a:pPr>
            <a:r>
              <a:rPr lang="en-US" sz="2100" b="1" dirty="0">
                <a:solidFill>
                  <a:srgbClr val="F2A93B"/>
                </a:solidFill>
                <a:latin typeface="Cambria" pitchFamily="34" charset="0"/>
                <a:ea typeface="Cambria" pitchFamily="34" charset="-122"/>
                <a:cs typeface="Cambria" pitchFamily="34" charset="-120"/>
              </a:rPr>
              <a:t>La iglesia socorre</a:t>
            </a:r>
            <a:endParaRPr lang="en-US" sz="2100" dirty="0"/>
          </a:p>
        </p:txBody>
      </p:sp>
      <p:sp>
        <p:nvSpPr>
          <p:cNvPr id="23" name="Text 21"/>
          <p:cNvSpPr txBox="1"/>
          <p:nvPr/>
        </p:nvSpPr>
        <p:spPr>
          <a:xfrm>
            <a:off x="7415784" y="4782312"/>
            <a:ext cx="3922776" cy="694944"/>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Y el que llega primero es el que ya estaba ahí.</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1D29"/>
        </a:solidFill>
      </p:bgPr>
    </p:bg>
    <p:spTree>
      <p:nvGrpSpPr>
        <p:cNvPr id="1" name=""/>
        <p:cNvGrpSpPr/>
        <p:nvPr/>
      </p:nvGrpSpPr>
      <p:grpSpPr>
        <a:xfrm>
          <a:off x="0" y="0"/>
          <a:ext cx="0" cy="0"/>
          <a:chOff x="0" y="0"/>
          <a:chExt cx="0" cy="0"/>
        </a:xfrm>
      </p:grpSpPr>
      <p:sp>
        <p:nvSpPr>
          <p:cNvPr id="2" name="Text 0"/>
          <p:cNvSpPr txBox="1"/>
          <p:nvPr/>
        </p:nvSpPr>
        <p:spPr>
          <a:xfrm>
            <a:off x="822960" y="457200"/>
            <a:ext cx="10543032" cy="274320"/>
          </a:xfrm>
          <a:prstGeom prst="rect">
            <a:avLst/>
          </a:prstGeom>
          <a:noFill/>
          <a:ln/>
        </p:spPr>
        <p:txBody>
          <a:bodyPr wrap="square" lIns="0" tIns="0" rIns="0" bIns="0" rtlCol="0" anchor="ctr"/>
          <a:lstStyle/>
          <a:p>
            <a:pPr indent="0" marL="0">
              <a:buNone/>
            </a:pPr>
            <a:r>
              <a:rPr lang="en-US" sz="1200" b="1" spc="260" kern="0" dirty="0">
                <a:solidFill>
                  <a:srgbClr val="F2A93B"/>
                </a:solidFill>
                <a:latin typeface="Calibri" pitchFamily="34" charset="0"/>
                <a:ea typeface="Calibri" pitchFamily="34" charset="-122"/>
                <a:cs typeface="Calibri" pitchFamily="34" charset="-120"/>
              </a:rPr>
              <a:t>EL LLAMADO</a:t>
            </a:r>
            <a:endParaRPr lang="en-US" sz="1200" dirty="0"/>
          </a:p>
        </p:txBody>
      </p:sp>
      <p:sp>
        <p:nvSpPr>
          <p:cNvPr id="3" name="Text 1"/>
          <p:cNvSpPr txBox="1"/>
          <p:nvPr/>
        </p:nvSpPr>
        <p:spPr>
          <a:xfrm>
            <a:off x="822960" y="841248"/>
            <a:ext cx="10543032" cy="1051560"/>
          </a:xfrm>
          <a:prstGeom prst="rect">
            <a:avLst/>
          </a:prstGeom>
          <a:noFill/>
          <a:ln/>
        </p:spPr>
        <p:txBody>
          <a:bodyPr wrap="square" lIns="0" tIns="0" rIns="0" bIns="0" rtlCol="0" anchor="t"/>
          <a:lstStyle/>
          <a:p>
            <a:pPr indent="0" marL="0">
              <a:lnSpc>
                <a:spcPct val="100000"/>
              </a:lnSpc>
              <a:buNone/>
            </a:pPr>
            <a:r>
              <a:rPr lang="en-US" sz="3800" b="1" dirty="0">
                <a:solidFill>
                  <a:srgbClr val="F6F2E9"/>
                </a:solidFill>
                <a:latin typeface="Cambria" pitchFamily="34" charset="0"/>
                <a:ea typeface="Cambria" pitchFamily="34" charset="-122"/>
                <a:cs typeface="Cambria" pitchFamily="34" charset="-120"/>
              </a:rPr>
              <a:t>No quiero aplausos. Quiero decisiones.</a:t>
            </a:r>
            <a:endParaRPr lang="en-US" sz="3800" dirty="0"/>
          </a:p>
        </p:txBody>
      </p:sp>
      <p:sp>
        <p:nvSpPr>
          <p:cNvPr id="4" name="Shape 2"/>
          <p:cNvSpPr/>
          <p:nvPr/>
        </p:nvSpPr>
        <p:spPr>
          <a:xfrm>
            <a:off x="822960" y="2286000"/>
            <a:ext cx="3364992" cy="3017520"/>
          </a:xfrm>
          <a:prstGeom prst="roundRect">
            <a:avLst>
              <a:gd name="adj" fmla="val 3030"/>
            </a:avLst>
          </a:prstGeom>
          <a:solidFill>
            <a:srgbClr val="232D3F"/>
          </a:solidFill>
          <a:ln w="12700">
            <a:solidFill>
              <a:srgbClr val="232D3F"/>
            </a:solidFill>
            <a:prstDash val="solid"/>
          </a:ln>
        </p:spPr>
      </p:sp>
      <p:sp>
        <p:nvSpPr>
          <p:cNvPr id="5" name="Shape 3"/>
          <p:cNvSpPr/>
          <p:nvPr/>
        </p:nvSpPr>
        <p:spPr>
          <a:xfrm>
            <a:off x="1143000" y="2578608"/>
            <a:ext cx="640080" cy="640080"/>
          </a:xfrm>
          <a:prstGeom prst="ellipse">
            <a:avLst/>
          </a:prstGeom>
          <a:solidFill>
            <a:srgbClr val="F2A93B"/>
          </a:solidFill>
          <a:ln w="12700">
            <a:solidFill>
              <a:srgbClr val="F2A93B"/>
            </a:solidFill>
            <a:prstDash val="solid"/>
          </a:ln>
        </p:spPr>
      </p:sp>
      <p:sp>
        <p:nvSpPr>
          <p:cNvPr id="6" name="Text 4"/>
          <p:cNvSpPr txBox="1"/>
          <p:nvPr/>
        </p:nvSpPr>
        <p:spPr>
          <a:xfrm>
            <a:off x="1143000" y="2578608"/>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143000" y="3383280"/>
            <a:ext cx="2724912" cy="713232"/>
          </a:xfrm>
          <a:prstGeom prst="rect">
            <a:avLst/>
          </a:prstGeom>
          <a:noFill/>
          <a:ln/>
        </p:spPr>
        <p:txBody>
          <a:bodyPr wrap="square" lIns="0" tIns="0" rIns="0" bIns="0" rtlCol="0" anchor="t"/>
          <a:lstStyle/>
          <a:p>
            <a:pPr indent="0" marL="0">
              <a:buNone/>
            </a:pPr>
            <a:r>
              <a:rPr lang="en-US" sz="2300" b="1" dirty="0">
                <a:solidFill>
                  <a:srgbClr val="F6F2E9"/>
                </a:solidFill>
                <a:latin typeface="Cambria" pitchFamily="34" charset="0"/>
                <a:ea typeface="Cambria" pitchFamily="34" charset="-122"/>
                <a:cs typeface="Cambria" pitchFamily="34" charset="-120"/>
              </a:rPr>
              <a:t>El plan de mi casa</a:t>
            </a:r>
            <a:endParaRPr lang="en-US" sz="2300" dirty="0"/>
          </a:p>
        </p:txBody>
      </p:sp>
      <p:sp>
        <p:nvSpPr>
          <p:cNvPr id="8" name="Text 6"/>
          <p:cNvSpPr txBox="1"/>
          <p:nvPr/>
        </p:nvSpPr>
        <p:spPr>
          <a:xfrm>
            <a:off x="1143000" y="4151376"/>
            <a:ext cx="2724912" cy="96012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Esta semana, en la mesa, con la familia. Escríbalo: no lo piense.</a:t>
            </a:r>
            <a:endParaRPr lang="en-US" sz="1400" dirty="0"/>
          </a:p>
        </p:txBody>
      </p:sp>
      <p:sp>
        <p:nvSpPr>
          <p:cNvPr id="9" name="Shape 7"/>
          <p:cNvSpPr/>
          <p:nvPr/>
        </p:nvSpPr>
        <p:spPr>
          <a:xfrm>
            <a:off x="4507992" y="2286000"/>
            <a:ext cx="3364992" cy="3017520"/>
          </a:xfrm>
          <a:prstGeom prst="roundRect">
            <a:avLst>
              <a:gd name="adj" fmla="val 3030"/>
            </a:avLst>
          </a:prstGeom>
          <a:solidFill>
            <a:srgbClr val="232D3F"/>
          </a:solidFill>
          <a:ln w="12700">
            <a:solidFill>
              <a:srgbClr val="232D3F"/>
            </a:solidFill>
            <a:prstDash val="solid"/>
          </a:ln>
        </p:spPr>
      </p:sp>
      <p:sp>
        <p:nvSpPr>
          <p:cNvPr id="10" name="Shape 8"/>
          <p:cNvSpPr/>
          <p:nvPr/>
        </p:nvSpPr>
        <p:spPr>
          <a:xfrm>
            <a:off x="4828032" y="2578608"/>
            <a:ext cx="640080" cy="640080"/>
          </a:xfrm>
          <a:prstGeom prst="ellipse">
            <a:avLst/>
          </a:prstGeom>
          <a:solidFill>
            <a:srgbClr val="F2A93B"/>
          </a:solidFill>
          <a:ln w="12700">
            <a:solidFill>
              <a:srgbClr val="F2A93B"/>
            </a:solidFill>
            <a:prstDash val="solid"/>
          </a:ln>
        </p:spPr>
      </p:sp>
      <p:sp>
        <p:nvSpPr>
          <p:cNvPr id="11" name="Text 9"/>
          <p:cNvSpPr txBox="1"/>
          <p:nvPr/>
        </p:nvSpPr>
        <p:spPr>
          <a:xfrm>
            <a:off x="4828032" y="2578608"/>
            <a:ext cx="640080" cy="640080"/>
          </a:xfrm>
          <a:prstGeom prst="rect">
            <a:avLst/>
          </a:prstGeom>
          <a:noFill/>
          <a:ln/>
        </p:spPr>
        <p:txBody>
          <a:bodyPr wrap="square" lIns="0" tIns="0" rIns="0" bIns="0" rtlCol="0" anchor="ctr"/>
          <a:lstStyle/>
          <a:p>
            <a:pPr algn="ctr" indent="0" marL="0">
              <a:buNone/>
            </a:pPr>
            <a:r>
              <a:rPr lang="en-US" sz="2400" b="1" dirty="0">
                <a:solidFill>
                  <a:srgbClr val="0E121A"/>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4828032" y="3383280"/>
            <a:ext cx="2724912" cy="713232"/>
          </a:xfrm>
          <a:prstGeom prst="rect">
            <a:avLst/>
          </a:prstGeom>
          <a:noFill/>
          <a:ln/>
        </p:spPr>
        <p:txBody>
          <a:bodyPr wrap="square" lIns="0" tIns="0" rIns="0" bIns="0" rtlCol="0" anchor="t"/>
          <a:lstStyle/>
          <a:p>
            <a:pPr indent="0" marL="0">
              <a:buNone/>
            </a:pPr>
            <a:r>
              <a:rPr lang="en-US" sz="2300" b="1" dirty="0">
                <a:solidFill>
                  <a:srgbClr val="F6F2E9"/>
                </a:solidFill>
                <a:latin typeface="Cambria" pitchFamily="34" charset="0"/>
                <a:ea typeface="Cambria" pitchFamily="34" charset="-122"/>
                <a:cs typeface="Cambria" pitchFamily="34" charset="-120"/>
              </a:rPr>
              <a:t>Capacitarme</a:t>
            </a:r>
            <a:endParaRPr lang="en-US" sz="2300" dirty="0"/>
          </a:p>
        </p:txBody>
      </p:sp>
      <p:sp>
        <p:nvSpPr>
          <p:cNvPr id="13" name="Text 11"/>
          <p:cNvSpPr txBox="1"/>
          <p:nvPr/>
        </p:nvSpPr>
        <p:spPr>
          <a:xfrm>
            <a:off x="4828032" y="4151376"/>
            <a:ext cx="2724912" cy="960120"/>
          </a:xfrm>
          <a:prstGeom prst="rect">
            <a:avLst/>
          </a:prstGeom>
          <a:noFill/>
          <a:ln/>
        </p:spPr>
        <p:txBody>
          <a:bodyPr wrap="square" lIns="0" tIns="0" rIns="0" bIns="0" rtlCol="0" anchor="t"/>
          <a:lstStyle/>
          <a:p>
            <a:pPr indent="0" marL="0">
              <a:buNone/>
            </a:pPr>
            <a:r>
              <a:rPr lang="en-US" sz="1400" dirty="0">
                <a:solidFill>
                  <a:srgbClr val="99A3B6"/>
                </a:solidFill>
                <a:latin typeface="Calibri" pitchFamily="34" charset="0"/>
                <a:ea typeface="Calibri" pitchFamily="34" charset="-122"/>
                <a:cs typeface="Calibri" pitchFamily="34" charset="-120"/>
              </a:rPr>
              <a:t>Anoto mi nombre para el curso de primeros auxilios y para la brigada.</a:t>
            </a:r>
            <a:endParaRPr lang="en-US" sz="1400" dirty="0"/>
          </a:p>
        </p:txBody>
      </p:sp>
      <p:sp>
        <p:nvSpPr>
          <p:cNvPr id="14" name="Shape 12"/>
          <p:cNvSpPr/>
          <p:nvPr/>
        </p:nvSpPr>
        <p:spPr>
          <a:xfrm>
            <a:off x="8193024" y="2286000"/>
            <a:ext cx="3364992" cy="3017520"/>
          </a:xfrm>
          <a:prstGeom prst="roundRect">
            <a:avLst>
              <a:gd name="adj" fmla="val 3030"/>
            </a:avLst>
          </a:prstGeom>
          <a:solidFill>
            <a:srgbClr val="F2A93B"/>
          </a:solidFill>
          <a:ln w="12700">
            <a:solidFill>
              <a:srgbClr val="F2A93B"/>
            </a:solidFill>
            <a:prstDash val="solid"/>
          </a:ln>
        </p:spPr>
      </p:sp>
      <p:sp>
        <p:nvSpPr>
          <p:cNvPr id="15" name="Shape 13"/>
          <p:cNvSpPr/>
          <p:nvPr/>
        </p:nvSpPr>
        <p:spPr>
          <a:xfrm>
            <a:off x="8513064" y="2578608"/>
            <a:ext cx="640080" cy="640080"/>
          </a:xfrm>
          <a:prstGeom prst="ellipse">
            <a:avLst/>
          </a:prstGeom>
          <a:solidFill>
            <a:srgbClr val="0E121A"/>
          </a:solidFill>
          <a:ln w="12700">
            <a:solidFill>
              <a:srgbClr val="0E121A"/>
            </a:solidFill>
            <a:prstDash val="solid"/>
          </a:ln>
        </p:spPr>
      </p:sp>
      <p:sp>
        <p:nvSpPr>
          <p:cNvPr id="16" name="Text 14"/>
          <p:cNvSpPr txBox="1"/>
          <p:nvPr/>
        </p:nvSpPr>
        <p:spPr>
          <a:xfrm>
            <a:off x="8513064" y="2578608"/>
            <a:ext cx="640080" cy="640080"/>
          </a:xfrm>
          <a:prstGeom prst="rect">
            <a:avLst/>
          </a:prstGeom>
          <a:noFill/>
          <a:ln/>
        </p:spPr>
        <p:txBody>
          <a:bodyPr wrap="square" lIns="0" tIns="0" rIns="0" bIns="0" rtlCol="0" anchor="ctr"/>
          <a:lstStyle/>
          <a:p>
            <a:pPr algn="ctr" indent="0" marL="0">
              <a:buNone/>
            </a:pPr>
            <a:r>
              <a:rPr lang="en-US" sz="2400" b="1" dirty="0">
                <a:solidFill>
                  <a:srgbClr val="F2A93B"/>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8513064" y="3383280"/>
            <a:ext cx="2724912" cy="713232"/>
          </a:xfrm>
          <a:prstGeom prst="rect">
            <a:avLst/>
          </a:prstGeom>
          <a:noFill/>
          <a:ln/>
        </p:spPr>
        <p:txBody>
          <a:bodyPr wrap="square" lIns="0" tIns="0" rIns="0" bIns="0" rtlCol="0" anchor="t"/>
          <a:lstStyle/>
          <a:p>
            <a:pPr indent="0" marL="0">
              <a:buNone/>
            </a:pPr>
            <a:r>
              <a:rPr lang="en-US" sz="2300" b="1" dirty="0">
                <a:solidFill>
                  <a:srgbClr val="0E121A"/>
                </a:solidFill>
                <a:latin typeface="Cambria" pitchFamily="34" charset="0"/>
                <a:ea typeface="Cambria" pitchFamily="34" charset="-122"/>
                <a:cs typeface="Cambria" pitchFamily="34" charset="-120"/>
              </a:rPr>
              <a:t>Mi vecino</a:t>
            </a:r>
            <a:endParaRPr lang="en-US" sz="2300" dirty="0"/>
          </a:p>
        </p:txBody>
      </p:sp>
      <p:sp>
        <p:nvSpPr>
          <p:cNvPr id="18" name="Text 16"/>
          <p:cNvSpPr txBox="1"/>
          <p:nvPr/>
        </p:nvSpPr>
        <p:spPr>
          <a:xfrm>
            <a:off x="8513064" y="4151376"/>
            <a:ext cx="2724912" cy="960120"/>
          </a:xfrm>
          <a:prstGeom prst="rect">
            <a:avLst/>
          </a:prstGeom>
          <a:noFill/>
          <a:ln/>
        </p:spPr>
        <p:txBody>
          <a:bodyPr wrap="square" lIns="0" tIns="0" rIns="0" bIns="0" rtlCol="0" anchor="t"/>
          <a:lstStyle/>
          <a:p>
            <a:pPr indent="0" marL="0">
              <a:buNone/>
            </a:pPr>
            <a:r>
              <a:rPr lang="en-US" sz="1400" dirty="0">
                <a:solidFill>
                  <a:srgbClr val="4A3410"/>
                </a:solidFill>
                <a:latin typeface="Calibri" pitchFamily="34" charset="0"/>
                <a:ea typeface="Calibri" pitchFamily="34" charset="-122"/>
                <a:cs typeface="Calibri" pitchFamily="34" charset="-120"/>
              </a:rPr>
              <a:t>La persona de mi cuadra que no podría salir sola. Póngale nombre.</a:t>
            </a:r>
            <a:endParaRPr lang="en-US" sz="1400" dirty="0"/>
          </a:p>
        </p:txBody>
      </p:sp>
      <p:sp>
        <p:nvSpPr>
          <p:cNvPr id="19" name="Text 17"/>
          <p:cNvSpPr txBox="1"/>
          <p:nvPr/>
        </p:nvSpPr>
        <p:spPr>
          <a:xfrm>
            <a:off x="822960" y="5577840"/>
            <a:ext cx="10543032" cy="777240"/>
          </a:xfrm>
          <a:prstGeom prst="rect">
            <a:avLst/>
          </a:prstGeom>
          <a:noFill/>
          <a:ln/>
        </p:spPr>
        <p:txBody>
          <a:bodyPr wrap="square" lIns="0" tIns="0" rIns="0" bIns="0" rtlCol="0" anchor="ctr"/>
          <a:lstStyle/>
          <a:p>
            <a:pPr indent="0" marL="0">
              <a:buNone/>
            </a:pPr>
            <a:r>
              <a:rPr lang="en-US" sz="2300" b="1" dirty="0">
                <a:solidFill>
                  <a:srgbClr val="F2A93B"/>
                </a:solidFill>
                <a:latin typeface="Cambria" pitchFamily="34" charset="0"/>
                <a:ea typeface="Cambria" pitchFamily="34" charset="-122"/>
                <a:cs typeface="Cambria" pitchFamily="34" charset="-120"/>
              </a:rPr>
              <a:t>Eso es amar al prójimo con un plan.</a:t>
            </a:r>
            <a:endParaRPr lang="en-US" sz="2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21A"/>
        </a:solidFill>
      </p:bgPr>
    </p:bg>
    <p:spTree>
      <p:nvGrpSpPr>
        <p:cNvPr id="1" name=""/>
        <p:cNvGrpSpPr/>
        <p:nvPr/>
      </p:nvGrpSpPr>
      <p:grpSpPr>
        <a:xfrm>
          <a:off x="0" y="0"/>
          <a:ext cx="0" cy="0"/>
          <a:chOff x="0" y="0"/>
          <a:chExt cx="0" cy="0"/>
        </a:xfrm>
      </p:grpSpPr>
      <p:sp>
        <p:nvSpPr>
          <p:cNvPr id="2" name="Shape 0"/>
          <p:cNvSpPr/>
          <p:nvPr/>
        </p:nvSpPr>
        <p:spPr>
          <a:xfrm>
            <a:off x="2249424" y="-548640"/>
            <a:ext cx="7680960" cy="7680960"/>
          </a:xfrm>
          <a:prstGeom prst="ellipse">
            <a:avLst/>
          </a:prstGeom>
          <a:solidFill>
            <a:srgbClr val="0E121A"/>
          </a:solidFill>
          <a:ln w="15875">
            <a:solidFill>
              <a:srgbClr val="2A3446"/>
            </a:solidFill>
            <a:prstDash val="solid"/>
          </a:ln>
        </p:spPr>
      </p:sp>
      <p:sp>
        <p:nvSpPr>
          <p:cNvPr id="3" name="Shape 1"/>
          <p:cNvSpPr/>
          <p:nvPr/>
        </p:nvSpPr>
        <p:spPr>
          <a:xfrm>
            <a:off x="3163824" y="365760"/>
            <a:ext cx="5852160" cy="5852160"/>
          </a:xfrm>
          <a:prstGeom prst="ellipse">
            <a:avLst/>
          </a:prstGeom>
          <a:solidFill>
            <a:srgbClr val="0E121A"/>
          </a:solidFill>
          <a:ln w="15875">
            <a:solidFill>
              <a:srgbClr val="2A3446"/>
            </a:solidFill>
            <a:prstDash val="solid"/>
          </a:ln>
        </p:spPr>
      </p:sp>
      <p:sp>
        <p:nvSpPr>
          <p:cNvPr id="4" name="Shape 2"/>
          <p:cNvSpPr/>
          <p:nvPr/>
        </p:nvSpPr>
        <p:spPr>
          <a:xfrm>
            <a:off x="3986784" y="1188720"/>
            <a:ext cx="4206240" cy="4206240"/>
          </a:xfrm>
          <a:prstGeom prst="ellipse">
            <a:avLst/>
          </a:prstGeom>
          <a:solidFill>
            <a:srgbClr val="0E121A"/>
          </a:solidFill>
          <a:ln w="15875">
            <a:solidFill>
              <a:srgbClr val="2A3446"/>
            </a:solidFill>
            <a:prstDash val="solid"/>
          </a:ln>
        </p:spPr>
      </p:sp>
      <p:sp>
        <p:nvSpPr>
          <p:cNvPr id="5" name="Shape 3"/>
          <p:cNvSpPr/>
          <p:nvPr/>
        </p:nvSpPr>
        <p:spPr>
          <a:xfrm>
            <a:off x="4764024" y="1965960"/>
            <a:ext cx="2651760" cy="2651760"/>
          </a:xfrm>
          <a:prstGeom prst="ellipse">
            <a:avLst/>
          </a:prstGeom>
          <a:solidFill>
            <a:srgbClr val="0E121A"/>
          </a:solidFill>
          <a:ln w="15875">
            <a:solidFill>
              <a:srgbClr val="2A3446"/>
            </a:solidFill>
            <a:prstDash val="solid"/>
          </a:ln>
        </p:spPr>
      </p:sp>
      <p:sp>
        <p:nvSpPr>
          <p:cNvPr id="6" name="Shape 4"/>
          <p:cNvSpPr/>
          <p:nvPr/>
        </p:nvSpPr>
        <p:spPr>
          <a:xfrm>
            <a:off x="5449824" y="2651760"/>
            <a:ext cx="1280160" cy="1280160"/>
          </a:xfrm>
          <a:prstGeom prst="ellipse">
            <a:avLst/>
          </a:prstGeom>
          <a:solidFill>
            <a:srgbClr val="0E121A"/>
          </a:solidFill>
          <a:ln w="15875">
            <a:solidFill>
              <a:srgbClr val="2A3446"/>
            </a:solidFill>
            <a:prstDash val="solid"/>
          </a:ln>
        </p:spPr>
      </p:sp>
      <p:sp>
        <p:nvSpPr>
          <p:cNvPr id="7" name="Shape 5"/>
          <p:cNvSpPr/>
          <p:nvPr/>
        </p:nvSpPr>
        <p:spPr>
          <a:xfrm>
            <a:off x="5724144" y="2926080"/>
            <a:ext cx="731520" cy="731520"/>
          </a:xfrm>
          <a:prstGeom prst="ellipse">
            <a:avLst/>
          </a:prstGeom>
          <a:solidFill>
            <a:srgbClr val="F2A93B"/>
          </a:solidFill>
          <a:ln w="12700">
            <a:solidFill>
              <a:srgbClr val="F2A93B"/>
            </a:solidFill>
            <a:prstDash val="solid"/>
          </a:ln>
        </p:spPr>
      </p:sp>
      <p:sp>
        <p:nvSpPr>
          <p:cNvPr id="8" name="Text 6"/>
          <p:cNvSpPr txBox="1"/>
          <p:nvPr/>
        </p:nvSpPr>
        <p:spPr>
          <a:xfrm>
            <a:off x="1188720" y="1463040"/>
            <a:ext cx="9811512" cy="822960"/>
          </a:xfrm>
          <a:prstGeom prst="rect">
            <a:avLst/>
          </a:prstGeom>
          <a:noFill/>
          <a:ln/>
        </p:spPr>
        <p:txBody>
          <a:bodyPr wrap="square" lIns="0" tIns="0" rIns="0" bIns="0" rtlCol="0" anchor="ctr"/>
          <a:lstStyle/>
          <a:p>
            <a:pPr algn="ctr" indent="0" marL="0">
              <a:buNone/>
            </a:pPr>
            <a:r>
              <a:rPr lang="en-US" sz="3400" dirty="0">
                <a:solidFill>
                  <a:srgbClr val="99A3B6"/>
                </a:solidFill>
                <a:latin typeface="Cambria" pitchFamily="34" charset="0"/>
                <a:ea typeface="Cambria" pitchFamily="34" charset="-122"/>
                <a:cs typeface="Cambria" pitchFamily="34" charset="-120"/>
              </a:rPr>
              <a:t>Hoy usted vio.</a:t>
            </a:r>
            <a:endParaRPr lang="en-US" sz="3400" dirty="0"/>
          </a:p>
        </p:txBody>
      </p:sp>
      <p:sp>
        <p:nvSpPr>
          <p:cNvPr id="9" name="Text 7"/>
          <p:cNvSpPr txBox="1"/>
          <p:nvPr/>
        </p:nvSpPr>
        <p:spPr>
          <a:xfrm>
            <a:off x="1188720" y="3977640"/>
            <a:ext cx="9811512" cy="1645920"/>
          </a:xfrm>
          <a:prstGeom prst="rect">
            <a:avLst/>
          </a:prstGeom>
          <a:noFill/>
          <a:ln/>
        </p:spPr>
        <p:txBody>
          <a:bodyPr wrap="square" lIns="0" tIns="0" rIns="0" bIns="0" rtlCol="0" anchor="ctr"/>
          <a:lstStyle/>
          <a:p>
            <a:pPr algn="ctr" indent="0" marL="0">
              <a:lnSpc>
                <a:spcPct val="110000"/>
              </a:lnSpc>
              <a:buNone/>
            </a:pPr>
            <a:r>
              <a:rPr lang="en-US" sz="4400" b="1" dirty="0">
                <a:solidFill>
                  <a:srgbClr val="F2A93B"/>
                </a:solidFill>
                <a:latin typeface="Cambria" pitchFamily="34" charset="0"/>
                <a:ea typeface="Cambria" pitchFamily="34" charset="-122"/>
                <a:cs typeface="Cambria" pitchFamily="34" charset="-120"/>
              </a:rPr>
              <a:t>Ahora toque la trompeta</a:t>
            </a:r>
            <a:endParaRPr lang="en-US" sz="4400" dirty="0"/>
          </a:p>
          <a:p>
            <a:pPr algn="ctr" indent="0" marL="0">
              <a:lnSpc>
                <a:spcPct val="110000"/>
              </a:lnSpc>
              <a:buNone/>
            </a:pPr>
            <a:r>
              <a:rPr lang="en-US" sz="4400" b="1" dirty="0">
                <a:solidFill>
                  <a:srgbClr val="F2A93B"/>
                </a:solidFill>
                <a:latin typeface="Cambria" pitchFamily="34" charset="0"/>
                <a:ea typeface="Cambria" pitchFamily="34" charset="-122"/>
                <a:cs typeface="Cambria" pitchFamily="34" charset="-120"/>
              </a:rPr>
              <a:t>en su casa.</a:t>
            </a:r>
            <a:endParaRPr lang="en-US" sz="4400" dirty="0"/>
          </a:p>
        </p:txBody>
      </p:sp>
      <p:sp>
        <p:nvSpPr>
          <p:cNvPr id="10" name="Text 8"/>
          <p:cNvSpPr txBox="1"/>
          <p:nvPr/>
        </p:nvSpPr>
        <p:spPr>
          <a:xfrm>
            <a:off x="1188720" y="5806440"/>
            <a:ext cx="9811512" cy="365760"/>
          </a:xfrm>
          <a:prstGeom prst="rect">
            <a:avLst/>
          </a:prstGeom>
          <a:noFill/>
          <a:ln/>
        </p:spPr>
        <p:txBody>
          <a:bodyPr wrap="square" lIns="0" tIns="0" rIns="0" bIns="0" rtlCol="0" anchor="ctr"/>
          <a:lstStyle/>
          <a:p>
            <a:pPr algn="ctr" indent="0" marL="0">
              <a:buNone/>
            </a:pPr>
            <a:r>
              <a:rPr lang="en-US" sz="1400" b="1" spc="300" kern="0" dirty="0">
                <a:solidFill>
                  <a:srgbClr val="6E7889"/>
                </a:solidFill>
                <a:latin typeface="Calibri" pitchFamily="34" charset="0"/>
                <a:ea typeface="Calibri" pitchFamily="34" charset="-122"/>
                <a:cs typeface="Calibri" pitchFamily="34" charset="-120"/>
              </a:rPr>
              <a:t>EZEQUIEL 33:6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Organismos de Socorro y la Biblia — versión de 45 minutos</dc:title>
  <dc:subject>Conferencia sobre preparacion ante emergencias desde la Biblia</dc:subject>
  <dc:creator>Carlos Contreras</dc:creator>
  <cp:lastModifiedBy>Carlos Contreras</cp:lastModifiedBy>
  <cp:revision>1</cp:revision>
  <dcterms:created xsi:type="dcterms:W3CDTF">2026-10-03T17:08:18Z</dcterms:created>
  <dcterms:modified xsi:type="dcterms:W3CDTF">2026-10-03T17:08:18Z</dcterms:modified>
</cp:coreProperties>
</file>