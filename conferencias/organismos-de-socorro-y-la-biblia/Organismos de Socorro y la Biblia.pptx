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salude todavia. Entre en frio con la pregunta de la diapositiva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Deje el silencio. No lo llene. La incomodidad es el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Hagalo de verdad. Espere. Habra manos apuntando a lugares distintos y manos que no se levantan.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Dios invento el sistema de alerta temprana y lo puso en manos de su pueblo.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esta frase no se mueva en 90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versiculo resuelve el falso dilema entre orar y prepararse.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Prometa que nadie sale igual: todos salen con un plan escrito.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Dinamica de 60 segundos: todos de pie, a la cuenta de tres. Cuente diez segundos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Corregir el mito del triangulo de la vida es importante: circula mucho en redes.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quedo atrapado: no gritar sin necesidad, golpear una tuberia a intervalos y cubrirse la boca.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 mas de una persona de la casa sepa donde se cierran el gas y la electricidad.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unico desastre mayor que da dias de aviso. Su mortalidad es, en su mayoria, evitable.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Decidalo hoy, no con el viento encima. Evacuar tarde es la decision que 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Mucha gente muere por salir cuando todo se calmo. No salga hasta que la autoridad lo diga.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Treinta centimetros de agua en movimiento derriban a un adulto; sesenta arrastran un vehiculo.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Caribe ha tenido maremotos destructivos con perdida de vidas en nuestras propias costas.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pie, no en vehiculo: el tapon de vehiculos ha matado a mas gente que la 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mujer de Lot: el que se detiene o vuelve atras en una evacuacion, perece.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Dios le esta dando a Israel un codigo de construccion: baranda obligatoria en la azotea.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detector de humo es el aparato con mejor relacion costo-vida que existe en una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extintor comun dura entre 10 y 20 segundos. Usted tiene un solo intento.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queda atrapado: selle rendijas, hagase visible desde la ventana, llame indicando ubicacion exacta.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llamar: que paso, donde exactamente, cuantos lesionados, que riesgos hay, quien es usted.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quiero que salga sintiendose entrenado. Quiero que salga inscribiendose en un entrenamiento.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Dios no es un Dios de sorpresas crueles.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texto perfecto para explicar por que una alerta bien emitida sigue costando vidas.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boletin de meteorologia, la alerta de Defensa Civil y la sirena del bombero cumplen una funcion que la Biblia considera sagrada.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Despues del desastre, que queda en pie en el barrio? El templo. Quien tiene la lista de los ancianos solos? Nosotros.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Alista el caballo. Confia en Jehova. Las dos cosas, en la misma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nivel 7 es el llamado mas concreto: que en cada celula haya al menos una persona certificada.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Hagalo esta semana, en la mesa, con los muchachos. Corto, claro, y que todos lo sepan.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hay dolor real en el auditorio. Hable despacio. No especule sobre profecia.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Jesus rechaza expresamente la ecuacion "les paso porque eran peores". Job 42:7 dice lo mismo de los amigos de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punto pastoral del bloque. Digalo despacio.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arca fue "en que su casa se salvase": la preparacion del creyente cubre a los suyos.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modelo biblico del plan nacional de gestion de riesgo y del fondo de contingencia.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Nehemias 4:20 es el punto de encuentro: "donde oyereis el sonido de la trompeta, reunios alli".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Tenia a la vez palabra de Dios y cabeza fria. Esa combinacion es la que hace falta en la cubierta.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Dios habia prometido que todos se salvarian, y aun asi hacia falta que los hombres capacitados se quedaran en su puesto.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una operacion de ayuda humanitaria con destino verificado y rendicion de cuentas. 2 Corintios 8:20-21.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frases, no mas. Despues pase directo al llamado.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Pida que levanten la mano para la lista de la brigada. Que salgan nombres anotados de verdad.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 oracion sugerida en el guion.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69480" y="-1188720"/>
            <a:ext cx="6217920" cy="621792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E3A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-411480"/>
            <a:ext cx="4663440" cy="46634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E3A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274320"/>
            <a:ext cx="3291840" cy="32918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E3A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914400"/>
            <a:ext cx="2011680" cy="20116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E3A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0" y="1417320"/>
            <a:ext cx="1005840" cy="10058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E3A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04120" y="1645920"/>
            <a:ext cx="548640" cy="54864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3716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28800"/>
            <a:ext cx="7863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ORGANISMOS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SOCORRO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LA BIBLIA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09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Dios dice antes de que suene la alarma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40" kern="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Contreras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846320"/>
            <a:ext cx="4754880" cy="475488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103120" y="5486400"/>
            <a:ext cx="3474720" cy="347472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463040" y="6126480"/>
            <a:ext cx="2194560" cy="219456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103601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¿Sabe usted qué haría</a:t>
            </a:r>
            <a:endParaRPr lang="en-US" sz="4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los próximos 10 segundos?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800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lo que siente. Lo que haría.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7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114800"/>
            <a:ext cx="4023360" cy="4023360"/>
          </a:xfrm>
          <a:prstGeom prst="ellipse">
            <a:avLst/>
          </a:prstGeom>
          <a:solidFill>
            <a:srgbClr val="E877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663440"/>
            <a:ext cx="2926080" cy="2926080"/>
          </a:xfrm>
          <a:prstGeom prst="ellipse">
            <a:avLst/>
          </a:prstGeom>
          <a:solidFill>
            <a:srgbClr val="E877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32720" y="5212080"/>
            <a:ext cx="1828800" cy="1828800"/>
          </a:xfrm>
          <a:prstGeom prst="ellipse">
            <a:avLst/>
          </a:prstGeom>
          <a:solidFill>
            <a:srgbClr val="E877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SEÑALE LA SALIDA</a:t>
            </a:r>
            <a:endParaRPr lang="en-US" sz="52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CERCANA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6634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Ahora. Sin levantarse.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457200"/>
            <a:ext cx="2743200" cy="274320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-45720"/>
            <a:ext cx="1920240" cy="1920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3072" y="347472"/>
            <a:ext cx="1133856" cy="1133856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ANCLA DE LA CONFERENCIA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9144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953719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Pero si el atalaya viere venir la espada </a:t>
            </a:r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no tocare la trompeta</a:t>
            </a:r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y el pueblo no se apercibiere, y viniendo la espada, hiriere de él a alguno… demandaré su sangre de mano del atalaya.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46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Ezequiel 33:6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atalaya no detiene la espada. Ve a tiempo y avisa a tiempo.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737360"/>
            <a:ext cx="4206240" cy="4206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-1188720"/>
            <a:ext cx="3108960" cy="310896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-594360"/>
            <a:ext cx="1920240" cy="1920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TESIS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105430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99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PREPARARSE NO ES
DESCONFIAR DE DIOS.
</a:t>
            </a:r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PREPARARSE ES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OBEDECER A DIOS.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NEHEMÍAS 4:9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Oramos a nuestro Dios,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0" y="1417320"/>
            <a:ext cx="1005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7132320" y="1828800"/>
            <a:ext cx="4233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pusimos guarda contra ellos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día y de noche.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4434840"/>
            <a:ext cx="10543032" cy="1463040"/>
          </a:xfrm>
          <a:prstGeom prst="roundRect">
            <a:avLst>
              <a:gd name="adj" fmla="val 6250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4434840"/>
            <a:ext cx="9628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conjunción es «Y», no «o». Nehemías no escogió entre orar y montar guardia: hizo las dos cosas la misma noche.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371600"/>
            <a:ext cx="3657600" cy="365760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-868680"/>
            <a:ext cx="2651760" cy="265176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-365760"/>
            <a:ext cx="1645920" cy="164592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vamos a hacer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10312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de seguridad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245973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Terremoto, ciclón, maremoto, incendio y accidentes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2990088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2944368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habla Dios ante las emergencias?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3300984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Antes, durante y después del desastre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3831336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31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785616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prepara un cristiano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414223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niveles, del espíritu al vecino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4672584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6725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36192" y="4626864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Biblia y los fenómenos naturales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498348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verdades que dan suelo firme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22960" y="5513832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513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36192" y="5468112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bíblicos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536192" y="5824728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Noé, José, Nehemías, Pablo y Antioquía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3017520"/>
            <a:ext cx="4754880" cy="4754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3611880"/>
            <a:ext cx="3566160" cy="35661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4160520"/>
            <a:ext cx="2468880" cy="2468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0" y="4663440"/>
            <a:ext cx="1463040" cy="14630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Medidas de seguridad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Terremotos · Ciclones · Maremotos · Incendios · Accidentes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 · DURANTE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tres palabras que salvan vida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3364992" cy="2880360"/>
          </a:xfrm>
          <a:prstGeom prst="roundRect">
            <a:avLst>
              <a:gd name="adj" fmla="val 317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03704" y="2606040"/>
            <a:ext cx="603504" cy="603504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03704" y="26060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429000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87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AGÁCHESE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023360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piso, antes de que el sismo lo tumbe.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07992" y="2240280"/>
            <a:ext cx="3364992" cy="2880360"/>
          </a:xfrm>
          <a:prstGeom prst="roundRect">
            <a:avLst>
              <a:gd name="adj" fmla="val 317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88736" y="2606040"/>
            <a:ext cx="603504" cy="603504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88736" y="26060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3429000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87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CÚBRASE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4023360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Cabeza y cuello. Bajo una mesa firme.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93024" y="2240280"/>
            <a:ext cx="3364992" cy="2880360"/>
          </a:xfrm>
          <a:prstGeom prst="roundRect">
            <a:avLst>
              <a:gd name="adj" fmla="val 317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73768" y="2606040"/>
            <a:ext cx="603504" cy="603504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73768" y="26060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330184" y="3429000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87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AGÁRRESE</a:t>
            </a:r>
            <a:endParaRPr lang="en-US" sz="2500" dirty="0"/>
          </a:p>
        </p:txBody>
      </p:sp>
      <p:sp>
        <p:nvSpPr>
          <p:cNvPr id="18" name="Text 16"/>
          <p:cNvSpPr txBox="1"/>
          <p:nvPr/>
        </p:nvSpPr>
        <p:spPr>
          <a:xfrm>
            <a:off x="8513064" y="4023360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mesa, y muévase con ella.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949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7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Practique los 10 segundos ahora mismo.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 · ERRORES FRECUENTES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se hace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248656" cy="1417320"/>
          </a:xfrm>
          <a:prstGeom prst="roundRect">
            <a:avLst>
              <a:gd name="adj" fmla="val 6452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3856" y="2542032"/>
            <a:ext cx="530352" cy="530352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33856" y="2542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28600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corra mientras tiembla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816352"/>
            <a:ext cx="3968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todas las lesiones vienen de caídas y objetos que caen.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91656" y="2103120"/>
            <a:ext cx="5248656" cy="1417320"/>
          </a:xfrm>
          <a:prstGeom prst="roundRect">
            <a:avLst>
              <a:gd name="adj" fmla="val 6452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02552" y="2542032"/>
            <a:ext cx="530352" cy="530352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2552" y="2542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397496" y="228600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 el marco de la puerta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97496" y="2816352"/>
            <a:ext cx="3968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construcción moderna no es más fuerte que el resto.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794760"/>
            <a:ext cx="5248656" cy="1417320"/>
          </a:xfrm>
          <a:prstGeom prst="roundRect">
            <a:avLst>
              <a:gd name="adj" fmla="val 6452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3856" y="4233672"/>
            <a:ext cx="530352" cy="530352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33856" y="42336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397764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el ascensor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4507992"/>
            <a:ext cx="3968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durante, ni después.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91656" y="3794760"/>
            <a:ext cx="5248656" cy="1417320"/>
          </a:xfrm>
          <a:prstGeom prst="roundRect">
            <a:avLst>
              <a:gd name="adj" fmla="val 6452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02552" y="4233672"/>
            <a:ext cx="530352" cy="530352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02552" y="42336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397496" y="397764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 «triángulo de la vida»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97496" y="4507992"/>
            <a:ext cx="3968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organismos de socorro no lo recomiendan.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7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 emergencia usted cae a la altura de su entrenamiento.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572000"/>
            <a:ext cx="3474720" cy="347472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5074920"/>
            <a:ext cx="2468880" cy="246888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5577840"/>
            <a:ext cx="1463040" cy="14630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 · DESPUÉS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minutos que siguen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420624" cy="420624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14884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Espere réplicas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250545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venir. Aléjese de paredes agrietadas y techos dañados.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108960"/>
            <a:ext cx="420624" cy="420624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306324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antes que fuego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341985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encienda fósforos, velas ni interruptores hasta descartar fuga.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023360"/>
            <a:ext cx="420624" cy="420624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97764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Calzado cerrado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433425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piso queda lleno de vidrio. Por eso los zapatos van bajo la cama.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4937760"/>
            <a:ext cx="420624" cy="420624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937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36192" y="489204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Mensajes, no llamadas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524865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se satura. El texto pasa cuando la llamada no.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 · PREVENCIÓN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cosas que puede hacer hoy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5248656" cy="2834640"/>
          </a:xfrm>
          <a:prstGeom prst="roundRect">
            <a:avLst>
              <a:gd name="adj" fmla="val 322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2651760"/>
            <a:ext cx="640080" cy="640080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474720"/>
            <a:ext cx="4425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Ancle los muebles altos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315968"/>
            <a:ext cx="44256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Estantes, armarios, televisor, calentador. Y nada pesado sobre las camas.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91656" y="2286000"/>
            <a:ext cx="5248656" cy="2834640"/>
          </a:xfrm>
          <a:prstGeom prst="roundRect">
            <a:avLst>
              <a:gd name="adj" fmla="val 322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03136" y="2651760"/>
            <a:ext cx="640080" cy="640080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03136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03136" y="3474720"/>
            <a:ext cx="4425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Zapatos y linterna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la cama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803136" y="4315968"/>
            <a:ext cx="44256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medida más barata y más subestimada que existe.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77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sismo no avisa: todo lo que hará en él lo decidió antes.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457200"/>
            <a:ext cx="2743200" cy="274320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-45720"/>
            <a:ext cx="1920240" cy="1920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3072" y="347472"/>
            <a:ext cx="1133856" cy="1133856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5A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CICLÓN · FUNDAMENTO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9144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5AA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953719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1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avisado ve el mal </a:t>
            </a:r>
            <a:pPr indent="0" marL="0">
              <a:lnSpc>
                <a:spcPct val="120000"/>
              </a:lnSpc>
              <a:buNone/>
            </a:pPr>
            <a:r>
              <a:rPr lang="en-US" sz="3100" b="1" dirty="0">
                <a:solidFill>
                  <a:srgbClr val="5AA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se esconde</a:t>
            </a:r>
            <a:pPr indent="0" marL="0">
              <a:lnSpc>
                <a:spcPct val="120000"/>
              </a:lnSpc>
              <a:buNone/>
            </a:pPr>
            <a:r>
              <a:rPr lang="en-US" sz="31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mas los simples pasan y reciben el daño.</a:t>
            </a:r>
            <a:endParaRPr lang="en-US" sz="3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46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60" kern="0" dirty="0">
                <a:solidFill>
                  <a:srgbClr val="5A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Proverbios 22:3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A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huracán avisa con días. Ver no basta: hay que esconderse.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5A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CICLÓN · ANTES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pregunta que se contesta en la calma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43032" cy="960120"/>
          </a:xfrm>
          <a:prstGeom prst="roundRect">
            <a:avLst>
              <a:gd name="adj" fmla="val 9524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10312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A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¿Mi casa es de PERMANENCIA o de EVACUACIÓN?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22960" y="3483864"/>
            <a:ext cx="201168" cy="201168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07008" y="3401568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almacenada y envases llenos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91656" y="3483864"/>
            <a:ext cx="201168" cy="201168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75704" y="3401568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crónicos para dos semanas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4142232"/>
            <a:ext cx="201168" cy="201168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07008" y="4059936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en bolsa plástica sellada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391656" y="4142232"/>
            <a:ext cx="201168" cy="201168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75704" y="4059936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 en billetes pequeños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4800600"/>
            <a:ext cx="201168" cy="201168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07008" y="4718304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de baterías y banco de energía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91656" y="4800600"/>
            <a:ext cx="201168" cy="201168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75704" y="4718304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Techo, zinc y árboles revisados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321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A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le toca evacuar, evacúese temprano. Evacuar tarde es la decisión que mata.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AA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3824" y="502920"/>
            <a:ext cx="5852160" cy="5852160"/>
          </a:xfrm>
          <a:prstGeom prst="ellipse">
            <a:avLst/>
          </a:prstGeom>
          <a:solidFill>
            <a:srgbClr val="5AA0D0"/>
          </a:solidFill>
          <a:ln w="19050">
            <a:solidFill>
              <a:srgbClr val="0E3A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95344" y="1234440"/>
            <a:ext cx="4389120" cy="4389120"/>
          </a:xfrm>
          <a:prstGeom prst="ellipse">
            <a:avLst/>
          </a:prstGeom>
          <a:solidFill>
            <a:srgbClr val="5AA0D0"/>
          </a:solidFill>
          <a:ln w="19050">
            <a:solidFill>
              <a:srgbClr val="0E3A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81144" y="1920240"/>
            <a:ext cx="3017520" cy="3017520"/>
          </a:xfrm>
          <a:prstGeom prst="ellipse">
            <a:avLst/>
          </a:prstGeom>
          <a:solidFill>
            <a:srgbClr val="5AA0D0"/>
          </a:solidFill>
          <a:ln w="19050">
            <a:solidFill>
              <a:srgbClr val="0E3A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1224" y="2560320"/>
            <a:ext cx="1737360" cy="1737360"/>
          </a:xfrm>
          <a:prstGeom prst="ellipse">
            <a:avLst/>
          </a:prstGeom>
          <a:solidFill>
            <a:srgbClr val="5AA0D0"/>
          </a:solidFill>
          <a:ln w="19050">
            <a:solidFill>
              <a:srgbClr val="0E3A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2704" y="2971800"/>
            <a:ext cx="914400" cy="914400"/>
          </a:xfrm>
          <a:prstGeom prst="ellipse">
            <a:avLst/>
          </a:prstGeom>
          <a:solidFill>
            <a:srgbClr val="0E3A57"/>
          </a:solidFill>
          <a:ln w="12700">
            <a:solidFill>
              <a:srgbClr val="0E3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1460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CALMA NO ES EL FINAL.</a:t>
            </a:r>
            <a:endParaRPr lang="en-US" sz="46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SALGA.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57200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3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ojo del huracán dura minutos. Después el viento vuelve del lado contrario.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5A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CICLÓN · DESPUÉS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fase que más muertes causa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43032" cy="1143000"/>
          </a:xfrm>
          <a:prstGeom prst="roundRect">
            <a:avLst>
              <a:gd name="adj" fmla="val 8000"/>
            </a:avLst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14884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CRUCE AGUA CORRIENDO — NI A PIE NI EN VEHÍCULO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420624" cy="420624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03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365760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Cables caídos: siempre energizados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401421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cuidado con los charcos donde haya cables.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572000"/>
            <a:ext cx="420624" cy="420624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452628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hervida o tratada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488289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segunda ola del desastre es sanitaria.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5440680"/>
            <a:ext cx="420624" cy="420624"/>
          </a:xfrm>
          <a:prstGeom prst="ellipse">
            <a:avLst/>
          </a:prstGeom>
          <a:solidFill>
            <a:srgbClr val="5AA0D0"/>
          </a:solidFill>
          <a:ln w="12700">
            <a:solidFill>
              <a:srgbClr val="5AA0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440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536192" y="539496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eléctrica siempre afuera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575157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monóxido de carbono no huele y mata familias dormidas.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3FB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MAREMOTO · ALERTA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señales naturales. Cualquiera basta.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3364992" cy="2926080"/>
          </a:xfrm>
          <a:prstGeom prst="roundRect">
            <a:avLst>
              <a:gd name="adj" fmla="val 312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560320"/>
            <a:ext cx="548640" cy="548640"/>
          </a:xfrm>
          <a:prstGeom prst="ellipse">
            <a:avLst/>
          </a:prstGeom>
          <a:solidFill>
            <a:srgbClr val="3FB08E"/>
          </a:solidFill>
          <a:ln w="12700">
            <a:solidFill>
              <a:srgbClr val="3FB0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310128"/>
            <a:ext cx="2724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Sismo fuerte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023360"/>
            <a:ext cx="2724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fuerte que cuesta mantenerse de pie, o largo aunque sea suave, estando en la costa.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07992" y="2240280"/>
            <a:ext cx="3364992" cy="2926080"/>
          </a:xfrm>
          <a:prstGeom prst="roundRect">
            <a:avLst>
              <a:gd name="adj" fmla="val 312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28032" y="2560320"/>
            <a:ext cx="548640" cy="548640"/>
          </a:xfrm>
          <a:prstGeom prst="ellipse">
            <a:avLst/>
          </a:prstGeom>
          <a:solidFill>
            <a:srgbClr val="3FB08E"/>
          </a:solidFill>
          <a:ln w="12700">
            <a:solidFill>
              <a:srgbClr val="3FB0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3310128"/>
            <a:ext cx="2724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mar se comporta raro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4023360"/>
            <a:ext cx="2724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retira y deja el fondo al descubierto, o sube de golpe fuera de la marea.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93024" y="2240280"/>
            <a:ext cx="3364992" cy="2926080"/>
          </a:xfrm>
          <a:prstGeom prst="roundRect">
            <a:avLst>
              <a:gd name="adj" fmla="val 312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13064" y="2560320"/>
            <a:ext cx="548640" cy="548640"/>
          </a:xfrm>
          <a:prstGeom prst="ellipse">
            <a:avLst/>
          </a:prstGeom>
          <a:solidFill>
            <a:srgbClr val="3FB08E"/>
          </a:solidFill>
          <a:ln w="12700">
            <a:solidFill>
              <a:srgbClr val="3FB08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13064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513064" y="3310128"/>
            <a:ext cx="2724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rugido desde el mar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513064" y="4023360"/>
            <a:ext cx="2724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estruendo continuo, parecido a un tren o a un avión.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0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maremoto local llega en minutos. No hay tiempo para un boletín.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FB0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97680"/>
            <a:ext cx="4754880" cy="4754880"/>
          </a:xfrm>
          <a:prstGeom prst="ellipse">
            <a:avLst/>
          </a:prstGeom>
          <a:solidFill>
            <a:srgbClr val="3FB08E"/>
          </a:solidFill>
          <a:ln w="16510">
            <a:solidFill>
              <a:srgbClr val="0C3A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3FB08E"/>
          </a:solidFill>
          <a:ln w="16510">
            <a:solidFill>
              <a:srgbClr val="0C3A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5577840"/>
            <a:ext cx="2194560" cy="2194560"/>
          </a:xfrm>
          <a:prstGeom prst="ellipse">
            <a:avLst/>
          </a:prstGeom>
          <a:solidFill>
            <a:srgbClr val="3FB08E"/>
          </a:solidFill>
          <a:ln w="16510">
            <a:solidFill>
              <a:srgbClr val="0C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3601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0C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ESPERE EL AVISO OFICIAL.</a:t>
            </a:r>
            <a:endParaRPr lang="en-US" sz="42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0C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SISMO ES EL AVISO.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170432" y="4160520"/>
            <a:ext cx="2487168" cy="868680"/>
          </a:xfrm>
          <a:prstGeom prst="roundRect">
            <a:avLst>
              <a:gd name="adj" fmla="val 8421"/>
            </a:avLst>
          </a:prstGeom>
          <a:solidFill>
            <a:srgbClr val="0C3A2E"/>
          </a:solidFill>
          <a:ln w="12700">
            <a:solidFill>
              <a:srgbClr val="0C3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70432" y="4160520"/>
            <a:ext cx="2487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931920" y="4160520"/>
            <a:ext cx="2487168" cy="868680"/>
          </a:xfrm>
          <a:prstGeom prst="roundRect">
            <a:avLst>
              <a:gd name="adj" fmla="val 8421"/>
            </a:avLst>
          </a:prstGeom>
          <a:solidFill>
            <a:srgbClr val="0C3A2E"/>
          </a:solidFill>
          <a:ln w="12700">
            <a:solidFill>
              <a:srgbClr val="0C3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4160520"/>
            <a:ext cx="2487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ALÉJESE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693408" y="4160520"/>
            <a:ext cx="2487168" cy="868680"/>
          </a:xfrm>
          <a:prstGeom prst="roundRect">
            <a:avLst>
              <a:gd name="adj" fmla="val 8421"/>
            </a:avLst>
          </a:prstGeom>
          <a:solidFill>
            <a:srgbClr val="0C3A2E"/>
          </a:solidFill>
          <a:ln w="12700">
            <a:solidFill>
              <a:srgbClr val="0C3A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4160520"/>
            <a:ext cx="2487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454896" y="4160520"/>
            <a:ext cx="2487168" cy="868680"/>
          </a:xfrm>
          <a:prstGeom prst="roundRect">
            <a:avLst>
              <a:gd name="adj" fmla="val 8421"/>
            </a:avLst>
          </a:prstGeom>
          <a:solidFill>
            <a:srgbClr val="0C3A2E"/>
          </a:solidFill>
          <a:ln w="12700">
            <a:solidFill>
              <a:srgbClr val="0C3A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54896" y="4160520"/>
            <a:ext cx="24871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REGRESE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534924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ola no es la mayor. El peligro dura horas.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457200"/>
            <a:ext cx="2743200" cy="274320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-45720"/>
            <a:ext cx="1920240" cy="1920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3072" y="347472"/>
            <a:ext cx="1133856" cy="1133856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3FB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MAREMOTO · FUNDAMENTO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9144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3FB0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95371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Escapa por tu vida; 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3FB0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mires tras ti</a:t>
            </a:r>
            <a:pPr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ni pares en toda esta llanura; 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3FB0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escapa al monte</a:t>
            </a:r>
            <a:pPr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no sea que perezcas.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46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60" kern="0" dirty="0">
                <a:solidFill>
                  <a:srgbClr val="3FB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19:17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FB0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Sube. No recojas. No mires atrás. Es el protocolo de evacuación, en Génesis 19.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457200"/>
            <a:ext cx="2743200" cy="274320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-45720"/>
            <a:ext cx="1920240" cy="1920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3072" y="347472"/>
            <a:ext cx="1133856" cy="1133856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· FUNDAMENTO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9144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953719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9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Cuando edifiques casa nueva, harás pretil a tu azotea, </a:t>
            </a:r>
            <a:pPr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no eches culpa de sangre sobre tu casa</a:t>
            </a:r>
            <a:pPr indent="0" marL="0">
              <a:lnSpc>
                <a:spcPct val="120000"/>
              </a:lnSpc>
              <a:buNone/>
            </a:pPr>
            <a:r>
              <a:rPr lang="en-US" sz="29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si de ella cayere alguno.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46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60" kern="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Deuteronomio 22:8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negligencia en seguridad, en la Biblia, tiene categoría moral.</a:t>
            </a:r>
            <a:endParaRPr lang="en-US" sz="2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 · PREVENCIÓN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Donde de verdad empieza el fuego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36192" y="205740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Electricidad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241401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Tomacorrientes sobrecargados, extensiones encadenadas, cables bajo alfombras.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889504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2843784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Aceite: nunca agua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536192" y="320040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Apague la hornilla y tape el sartén. El agua sobre aceite ardiendo explota.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675888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3630168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536192" y="3986784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huele a gas: no encienda luz, no use el celular. Cierre, ventile y salga.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462272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4416552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Velas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536192" y="4773168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sin vigilancia, nunca al dormirse. En apágon, prefiera linterna.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248656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248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5202936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 humo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1536192" y="555955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Pruébelo cada mes, cambie la batería cada año. Nunca lo desactive: reubíquelo.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 · EXTINTOR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acciones, un solo intento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2487168" cy="2514600"/>
          </a:xfrm>
          <a:prstGeom prst="roundRect">
            <a:avLst>
              <a:gd name="adj" fmla="val 367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92224" y="2542032"/>
            <a:ext cx="548640" cy="548640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2224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18688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76732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pasador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seguridad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02736" y="2240280"/>
            <a:ext cx="2487168" cy="2514600"/>
          </a:xfrm>
          <a:prstGeom prst="roundRect">
            <a:avLst>
              <a:gd name="adj" fmla="val 367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542032"/>
            <a:ext cx="548640" cy="548640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4176" y="3218688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APUNTE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39896" y="376732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BASE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llama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82512" y="2240280"/>
            <a:ext cx="2487168" cy="2514600"/>
          </a:xfrm>
          <a:prstGeom prst="roundRect">
            <a:avLst>
              <a:gd name="adj" fmla="val 367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51776" y="2542032"/>
            <a:ext cx="548640" cy="548640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51776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3218688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APRIETE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76732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palanca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descarga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62288" y="2240280"/>
            <a:ext cx="2487168" cy="2514600"/>
          </a:xfrm>
          <a:prstGeom prst="roundRect">
            <a:avLst>
              <a:gd name="adj" fmla="val 367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31552" y="2542032"/>
            <a:ext cx="548640" cy="548640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31552" y="25420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53728" y="3218688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299448" y="3767328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lado a lado,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avanzando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2960" y="5010912"/>
            <a:ext cx="10543032" cy="1005840"/>
          </a:xfrm>
          <a:prstGeom prst="roundRect">
            <a:avLst>
              <a:gd name="adj" fmla="val 9091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34440" y="5010912"/>
            <a:ext cx="9720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para fuego pequeño y contenido, con la salida a su espalda. Si hay humo denso o duda: salga y llame.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 · EVACUACIÓN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Salir vivo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36192" y="205740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humo: agáchese y gatee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241401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aire respirable y frío está cerca del piso.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971800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292608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las puertas con el dorso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536192" y="328269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queman, no las abra: busque otra ruta. Cierre al salir.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840480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379476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el ascensor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536192" y="415137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encuentro afuera, conteo de personas.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709160"/>
            <a:ext cx="420624" cy="420624"/>
          </a:xfrm>
          <a:prstGeom prst="ellipse">
            <a:avLst/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9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466344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vuelve a entrar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536192" y="502005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nada. Ni por documentos, ni por mascotas, ni por recuerdos.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532120"/>
            <a:ext cx="10543032" cy="868680"/>
          </a:xfrm>
          <a:prstGeom prst="roundRect">
            <a:avLst>
              <a:gd name="adj" fmla="val 10526"/>
            </a:avLst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5321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SU ROPA SE ENCIENDE:  DETÉNGASE · TÍRESE · RUEDE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ACCIDENTES · PRIMEROS AUXILIOS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primero, siempre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364992" cy="2788920"/>
          </a:xfrm>
          <a:prstGeom prst="roundRect">
            <a:avLst>
              <a:gd name="adj" fmla="val 327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85416" y="2606040"/>
            <a:ext cx="640080" cy="640080"/>
          </a:xfrm>
          <a:prstGeom prst="ellipse">
            <a:avLst/>
          </a:prstGeom>
          <a:solidFill>
            <a:srgbClr val="AEB6C4"/>
          </a:solidFill>
          <a:ln w="12700">
            <a:solidFill>
              <a:srgbClr val="AEB6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429000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PROTEGER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005072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seguridad primero. Un socorrista herido es un paciente más.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07992" y="2286000"/>
            <a:ext cx="3364992" cy="2788920"/>
          </a:xfrm>
          <a:prstGeom prst="roundRect">
            <a:avLst>
              <a:gd name="adj" fmla="val 327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70448" y="2606040"/>
            <a:ext cx="640080" cy="640080"/>
          </a:xfrm>
          <a:prstGeom prst="ellipse">
            <a:avLst/>
          </a:prstGeom>
          <a:solidFill>
            <a:srgbClr val="AEB6C4"/>
          </a:solidFill>
          <a:ln w="12700">
            <a:solidFill>
              <a:srgbClr val="AEB6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70448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3429000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AVISAR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4005072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 a una persona concreta para que llame. No pida al aire.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93024" y="2286000"/>
            <a:ext cx="3364992" cy="2788920"/>
          </a:xfrm>
          <a:prstGeom prst="roundRect">
            <a:avLst>
              <a:gd name="adj" fmla="val 327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55480" y="2606040"/>
            <a:ext cx="640080" cy="640080"/>
          </a:xfrm>
          <a:prstGeom prst="ellipse">
            <a:avLst/>
          </a:prstGeom>
          <a:solidFill>
            <a:srgbClr val="AEB6C4"/>
          </a:solidFill>
          <a:ln w="12700">
            <a:solidFill>
              <a:srgbClr val="AEB6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5548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330184" y="3429000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SOCORRER</a:t>
            </a:r>
            <a:endParaRPr lang="en-US" sz="2500" dirty="0"/>
          </a:p>
        </p:txBody>
      </p:sp>
      <p:sp>
        <p:nvSpPr>
          <p:cNvPr id="18" name="Text 16"/>
          <p:cNvSpPr txBox="1"/>
          <p:nvPr/>
        </p:nvSpPr>
        <p:spPr>
          <a:xfrm>
            <a:off x="8513064" y="4005072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Atienda lo que mata más rápido: vía aérea y hemorragia.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4924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EB6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mueva al lesionado salvo peligro inminente de muerte.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AE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ACCIDENTES · LO ESENCIAL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cosas que todo cristiano debería saber hacer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5248656" cy="1261872"/>
          </a:xfrm>
          <a:prstGeom prst="roundRect">
            <a:avLst>
              <a:gd name="adj" fmla="val 724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3856" y="2560320"/>
            <a:ext cx="530352" cy="530352"/>
          </a:xfrm>
          <a:prstGeom prst="ellipse">
            <a:avLst/>
          </a:prstGeom>
          <a:solidFill>
            <a:srgbClr val="AEB6C4"/>
          </a:solidFill>
          <a:ln w="12700">
            <a:solidFill>
              <a:srgbClr val="AEB6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33856" y="25603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377440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Hemorragia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779776"/>
            <a:ext cx="3968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Presión directa, firme y sostenida. No suelte para revisar.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91656" y="2194560"/>
            <a:ext cx="5248656" cy="1261872"/>
          </a:xfrm>
          <a:prstGeom prst="roundRect">
            <a:avLst>
              <a:gd name="adj" fmla="val 724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02552" y="2560320"/>
            <a:ext cx="530352" cy="530352"/>
          </a:xfrm>
          <a:prstGeom prst="ellipse">
            <a:avLst/>
          </a:prstGeom>
          <a:solidFill>
            <a:srgbClr val="AEB6C4"/>
          </a:solidFill>
          <a:ln w="12700">
            <a:solidFill>
              <a:srgbClr val="AEB6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2552" y="25603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97496" y="2377440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Atragantamiento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97496" y="2779776"/>
            <a:ext cx="3968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tose con fuerza, no interfiera. Si no puede, compresiones abdominales.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5248656" cy="1261872"/>
          </a:xfrm>
          <a:prstGeom prst="roundRect">
            <a:avLst>
              <a:gd name="adj" fmla="val 724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3856" y="4114800"/>
            <a:ext cx="530352" cy="530352"/>
          </a:xfrm>
          <a:prstGeom prst="ellipse">
            <a:avLst/>
          </a:prstGeom>
          <a:solidFill>
            <a:srgbClr val="AEB6C4"/>
          </a:solidFill>
          <a:ln w="12700">
            <a:solidFill>
              <a:srgbClr val="AEB6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33856" y="4114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3931920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 cardíaco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4334256"/>
            <a:ext cx="3968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Compresiones fuertes y rápidas en el centro del pecho, sin parar.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91656" y="3749040"/>
            <a:ext cx="5248656" cy="1261872"/>
          </a:xfrm>
          <a:prstGeom prst="roundRect">
            <a:avLst>
              <a:gd name="adj" fmla="val 724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02552" y="4114800"/>
            <a:ext cx="530352" cy="530352"/>
          </a:xfrm>
          <a:prstGeom prst="ellipse">
            <a:avLst/>
          </a:prstGeom>
          <a:solidFill>
            <a:srgbClr val="AEB6C4"/>
          </a:solidFill>
          <a:ln w="12700">
            <a:solidFill>
              <a:srgbClr val="AEB6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02552" y="4114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397496" y="3931920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Quemaduras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97496" y="4334256"/>
            <a:ext cx="3968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a temperatura ambiente, 20 minutos. Ni hielo, ni pasta, ni aceite.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2960" y="5349240"/>
            <a:ext cx="10543032" cy="914400"/>
          </a:xfrm>
          <a:prstGeom prst="roundRect">
            <a:avLst>
              <a:gd name="adj" fmla="val 10000"/>
            </a:avLst>
          </a:prstGeom>
          <a:solidFill>
            <a:srgbClr val="E05555"/>
          </a:solidFill>
          <a:ln w="12700">
            <a:solidFill>
              <a:srgbClr val="E0555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34924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charla NO certifica a nadie. Capacítese con la Cruz Roja, los Bomberos o Defensa Civil.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3017520"/>
            <a:ext cx="4754880" cy="4754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3611880"/>
            <a:ext cx="3566160" cy="35661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4160520"/>
            <a:ext cx="2468880" cy="2468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0" y="4663440"/>
            <a:ext cx="1463040" cy="14630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habla Dios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 las emergencias?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· por medio de · en medio de · después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BÍBLICO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del desastre, Dios habla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364992" cy="1051560"/>
          </a:xfrm>
          <a:prstGeom prst="roundRect">
            <a:avLst>
              <a:gd name="adj" fmla="val 869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24942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Noé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67004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diluvio, generaciones antes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07992" y="2103120"/>
            <a:ext cx="3364992" cy="1051560"/>
          </a:xfrm>
          <a:prstGeom prst="roundRect">
            <a:avLst>
              <a:gd name="adj" fmla="val 869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224942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Egipto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267004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granizo, con hora anunciada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93024" y="2103120"/>
            <a:ext cx="3364992" cy="1051560"/>
          </a:xfrm>
          <a:prstGeom prst="roundRect">
            <a:avLst>
              <a:gd name="adj" fmla="val 869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13064" y="224942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513064" y="267004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Sodoma, con plazo para salir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3364992" cy="1051560"/>
          </a:xfrm>
          <a:prstGeom prst="roundRect">
            <a:avLst>
              <a:gd name="adj" fmla="val 869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357530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José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99592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hambre, con siete años de margen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07992" y="3429000"/>
            <a:ext cx="3364992" cy="1051560"/>
          </a:xfrm>
          <a:prstGeom prst="roundRect">
            <a:avLst>
              <a:gd name="adj" fmla="val 869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28032" y="357530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Agabo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828032" y="399592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hambruna sobre el mundo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3024" y="3429000"/>
            <a:ext cx="3364992" cy="1051560"/>
          </a:xfrm>
          <a:prstGeom prst="roundRect">
            <a:avLst>
              <a:gd name="adj" fmla="val 8696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13064" y="3575304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Pablo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513064" y="3995928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naufragio, antes de zarpar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93776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AVISA.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nunca fue el silencio de Dios: fue la sordera del hombre.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ÉXODO 9:20-21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Misma alerta. Dos respuestas.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248656" cy="2606040"/>
          </a:xfrm>
          <a:prstGeom prst="roundRect">
            <a:avLst>
              <a:gd name="adj" fmla="val 350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377440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3FB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QUE TEMIÓ LA PALABRA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880360"/>
            <a:ext cx="44256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«hizo huir sus criados y su ganado a casa»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4114800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salvó.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91656" y="2148840"/>
            <a:ext cx="5248656" cy="2606040"/>
          </a:xfrm>
          <a:prstGeom prst="roundRect">
            <a:avLst>
              <a:gd name="adj" fmla="val 350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03136" y="2377440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QUE NO LA PUSO EN SU CORAZÓN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03136" y="2880360"/>
            <a:ext cx="44256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«dejó sus criados y sus ganados en el campo»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6803136" y="4114800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perdió todo.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12064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la gestión de riesgo, en dos versículos. El problema no es la alerta: es la respuesta.</a:t>
            </a:r>
            <a:endParaRPr lang="en-US" sz="2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4572000"/>
            <a:ext cx="3474720" cy="347472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5074920"/>
            <a:ext cx="2468880" cy="246888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577840"/>
            <a:ext cx="1463040" cy="14630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OFICIO DE AVISAR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habla por medio de gente que avisa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10312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atalaya — Ezequiel 33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245973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Puesto en la muralla para ver antes que nadie.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044952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2999232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trompetas de plata — Números 10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3355848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señales acordado: un toque convoca, otro da alarma.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3941064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895344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encuentro — Nehemías 4:20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425196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«Donde oyereis el sonido de la trompeta, reuníos allí con nosotros».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4837176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837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36192" y="4791456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reacción esperada — Amós 3:6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514807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tocará la trompeta en la ciudad, y no se alborotará el pueblo?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7150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atalaya no siempre lleva púlpito. A veces lleva casco.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11:29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uno conforme a lo que tenía, determinaron enviar </a:t>
            </a:r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socorro</a:t>
            </a:r>
            <a:pPr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los hermanos.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788920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2788920"/>
            <a:ext cx="1837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278892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136392" y="2788920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2788920"/>
            <a:ext cx="1837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193792" y="278892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49824" y="2788920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59552" y="2788920"/>
            <a:ext cx="1837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según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507224" y="278892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763256" y="2788920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72984" y="2788920"/>
            <a:ext cx="1837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820656" y="278892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076688" y="2788920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186416" y="2788920"/>
            <a:ext cx="1837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por manos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526280"/>
            <a:ext cx="10543032" cy="1600200"/>
          </a:xfrm>
          <a:prstGeom prst="roundRect">
            <a:avLst>
              <a:gd name="adj" fmla="val 5714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526280"/>
            <a:ext cx="105430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IGLESIA ES UN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ORGANISMO DE SOCORRO.</a:t>
            </a:r>
            <a:endParaRPr lang="en-US" sz="3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PREPARA UN CRISTIANO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errores y un camino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423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Fatalismo espiritual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926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«Si Dios me guarda,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me preparo?»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Jesús lo llamó tentar a Dios.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4:7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99832" y="21945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119872" y="2423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55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Pánico acumulador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119872" y="2926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todo el día,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casa llena de provisiones,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estómago apretado.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 es miedo con logística.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709160"/>
            <a:ext cx="10543032" cy="1600200"/>
          </a:xfrm>
          <a:prstGeom prst="roundRect">
            <a:avLst>
              <a:gd name="adj" fmla="val 5714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709160"/>
            <a:ext cx="105430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PRUDENCIA SERENA
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4A3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caballo se alista para el día de la batalla; mas Jehová es el que da la victoria»  ·  Proverbios 21:31</a:t>
            </a:r>
            <a:endParaRPr lang="en-US" sz="3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niveles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2423160" cy="1371600"/>
          </a:xfrm>
          <a:prstGeom prst="roundRect">
            <a:avLst>
              <a:gd name="adj" fmla="val 666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50008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437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Espiritual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3639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casa sobre la roca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29584" y="2148840"/>
            <a:ext cx="2423160" cy="1371600"/>
          </a:xfrm>
          <a:prstGeom prst="roundRect">
            <a:avLst>
              <a:gd name="adj" fmla="val 666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58184" y="2350008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8184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58184" y="28437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313639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sin intoxicación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6208" y="2148840"/>
            <a:ext cx="2423160" cy="1371600"/>
          </a:xfrm>
          <a:prstGeom prst="roundRect">
            <a:avLst>
              <a:gd name="adj" fmla="val 666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4808" y="2350008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4808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28437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Cuerpo y casa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313639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Mochila, botiquín, anclajes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42832" y="2148840"/>
            <a:ext cx="2423160" cy="1371600"/>
          </a:xfrm>
          <a:prstGeom prst="roundRect">
            <a:avLst>
              <a:gd name="adj" fmla="val 666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1432" y="2350008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8437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313639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escrito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3813048"/>
            <a:ext cx="2423160" cy="1371600"/>
          </a:xfrm>
          <a:prstGeom prst="roundRect">
            <a:avLst>
              <a:gd name="adj" fmla="val 666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" y="4014216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1560" y="4014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450799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Económica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48006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quinta parte de José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29584" y="3813048"/>
            <a:ext cx="2423160" cy="1371600"/>
          </a:xfrm>
          <a:prstGeom prst="roundRect">
            <a:avLst>
              <a:gd name="adj" fmla="val 666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58184" y="4014216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58184" y="4014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758184" y="450799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Comunitaria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3758184" y="48006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iglesia y el vecino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36208" y="3813048"/>
            <a:ext cx="2423160" cy="1371600"/>
          </a:xfrm>
          <a:prstGeom prst="roundRect">
            <a:avLst>
              <a:gd name="adj" fmla="val 6667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64808" y="4014216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4014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50799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servicio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464808" y="48006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Capacitarse para socorrer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día del desastre, el que llega primero es el que ya estaba ahí.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LA FAMILIA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preguntas que hay que poder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responder sin pensar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10543032" cy="658368"/>
          </a:xfrm>
          <a:prstGeom prst="roundRect">
            <a:avLst>
              <a:gd name="adj" fmla="val 1388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642616"/>
            <a:ext cx="402336" cy="40233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514600"/>
            <a:ext cx="9354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nuestro punto de encuentro?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3246120"/>
            <a:ext cx="10543032" cy="658368"/>
          </a:xfrm>
          <a:prstGeom prst="roundRect">
            <a:avLst>
              <a:gd name="adj" fmla="val 13889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4128" y="3374136"/>
            <a:ext cx="402336" cy="40233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4128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46120"/>
            <a:ext cx="9354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el segundo, fuera del barrio?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22960" y="3977640"/>
            <a:ext cx="10543032" cy="658368"/>
          </a:xfrm>
          <a:prstGeom prst="roundRect">
            <a:avLst>
              <a:gd name="adj" fmla="val 1388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4128" y="4105656"/>
            <a:ext cx="402336" cy="40233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4128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3977640"/>
            <a:ext cx="9354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es el contacto fuera de la ciudad?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22960" y="4709160"/>
            <a:ext cx="10543032" cy="658368"/>
          </a:xfrm>
          <a:prstGeom prst="roundRect">
            <a:avLst>
              <a:gd name="adj" fmla="val 13889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" y="4837176"/>
            <a:ext cx="402336" cy="40233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4709160"/>
            <a:ext cx="9354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recoge a los niños? ¿La escuela lo sabe?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22960" y="5440680"/>
            <a:ext cx="10543032" cy="658368"/>
          </a:xfrm>
          <a:prstGeom prst="roundRect">
            <a:avLst>
              <a:gd name="adj" fmla="val 1388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4128" y="5568696"/>
            <a:ext cx="402336" cy="40233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" y="55686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645920" y="5440680"/>
            <a:ext cx="9354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responde por el familiar vulnerable?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9893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plan que solo existe en su cabeza no es un plan: es una intención.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3017520"/>
            <a:ext cx="4754880" cy="4754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3611880"/>
            <a:ext cx="3566160" cy="35661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4160520"/>
            <a:ext cx="2468880" cy="2468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0" y="4663440"/>
            <a:ext cx="1463040" cy="14630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enseña la Biblia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 los fenómenos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naturaleza?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verdades para no quedarse sin suelo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verdades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5248656" cy="1143000"/>
          </a:xfrm>
          <a:prstGeom prst="roundRect">
            <a:avLst>
              <a:gd name="adj" fmla="val 8000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404872"/>
            <a:ext cx="457200" cy="45720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00784" y="2203704"/>
            <a:ext cx="4105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Dios le puso límites al mar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2752344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38:11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91656" y="2057400"/>
            <a:ext cx="5248656" cy="1143000"/>
          </a:xfrm>
          <a:prstGeom prst="roundRect">
            <a:avLst>
              <a:gd name="adj" fmla="val 8000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5976" y="2404872"/>
            <a:ext cx="457200" cy="45720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65976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203704"/>
            <a:ext cx="4105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creación gime con dolores de parto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2752344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Romanos 8:22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401568"/>
            <a:ext cx="5248656" cy="1143000"/>
          </a:xfrm>
          <a:prstGeom prst="roundRect">
            <a:avLst>
              <a:gd name="adj" fmla="val 8000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3749040"/>
            <a:ext cx="457200" cy="45720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700784" y="3547872"/>
            <a:ext cx="4105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un orden natural que Dios sostiene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4096512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8:22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91656" y="3401568"/>
            <a:ext cx="5248656" cy="1143000"/>
          </a:xfrm>
          <a:prstGeom prst="roundRect">
            <a:avLst>
              <a:gd name="adj" fmla="val 8000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5976" y="3749040"/>
            <a:ext cx="457200" cy="45720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0E121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65976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547872"/>
            <a:ext cx="4105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Biblia prohíbe culpar a la víctima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4096512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3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13:1-5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2960" y="4745736"/>
            <a:ext cx="5248656" cy="1143000"/>
          </a:xfrm>
          <a:prstGeom prst="roundRect">
            <a:avLst>
              <a:gd name="adj" fmla="val 8000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5093208"/>
            <a:ext cx="457200" cy="45720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700784" y="4892040"/>
            <a:ext cx="4105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Dios habla, pero no se reduce al fenómeno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700784" y="5440680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Reyes 19:11-12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391656" y="4745736"/>
            <a:ext cx="5248656" cy="1143000"/>
          </a:xfrm>
          <a:prstGeom prst="roundRect">
            <a:avLst>
              <a:gd name="adj" fmla="val 8000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65976" y="5093208"/>
            <a:ext cx="457200" cy="45720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65976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269480" y="4892040"/>
            <a:ext cx="4105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 no termina en catástrofe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269480" y="5440680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Apocalipsis 21:4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9893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cuarta es la más importante de todas.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457200"/>
            <a:ext cx="2743200" cy="274320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-45720"/>
            <a:ext cx="1920240" cy="1920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3072" y="347472"/>
            <a:ext cx="1133856" cy="1133856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JESÚS, CON UNA TRAGEDIA SOBRE LA MESA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9144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953719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Aquellos dieciocho sobre los cuales cayó la torre en Siloé, y los mató, ¿pensáis que eran más culpables que todos los hombres que habitan en Jerusalén?  </a:t>
            </a:r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digo: No.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46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13:4-5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tragedia ajena no es material de diagnóstico. Es llamado propio.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737360"/>
            <a:ext cx="4389120" cy="438912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34440" y="-1143000"/>
            <a:ext cx="3200400" cy="320040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640080" y="-548640"/>
            <a:ext cx="2011680" cy="201168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4206240"/>
            <a:ext cx="4389120" cy="438912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5560" y="4800600"/>
            <a:ext cx="3200400" cy="320040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0" y="5394960"/>
            <a:ext cx="2011680" cy="201168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1691640"/>
            <a:ext cx="9811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6E78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salga a explicar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6E78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Dios lo mandó.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66160"/>
            <a:ext cx="98115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Salga con agua,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comida y con brazos.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5577840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teología del que sufre se hace cargando colchones, no dando explicaciones.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3017520"/>
            <a:ext cx="4754880" cy="4754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3611880"/>
            <a:ext cx="3566160" cy="35661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4160520"/>
            <a:ext cx="2468880" cy="246888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0" y="4663440"/>
            <a:ext cx="1463040" cy="14630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Ejemplos bíblicos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Biblia no nos dio una teoría del desastre: nos dio rostros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6-9 · HEBREOS 11:7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Noé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que se preparó cuando no había una nube en el cielo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651760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260604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 advertido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296265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aviso llegó antes de que hubiera cualquier evidencia visible.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611880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36192" y="356616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cosas aún no se veían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392277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Martilló durante años bajo cielo despejado, mientras se reían.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72000"/>
            <a:ext cx="420624" cy="42062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36192" y="4526280"/>
            <a:ext cx="9829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Preparó el arca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536192" y="4882896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medidas exactas, material especificado y provisiones. La fe se midió en codos.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Prevención es trabajar hoy por un riesgo que hoy no se ve.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41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José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que convirtió un aviso en política pública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87168" cy="1874520"/>
          </a:xfrm>
          <a:prstGeom prst="roundRect">
            <a:avLst>
              <a:gd name="adj" fmla="val 4878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78892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+ 7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84448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previstos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02736" y="2606040"/>
            <a:ext cx="2487168" cy="1874520"/>
          </a:xfrm>
          <a:prstGeom prst="roundRect">
            <a:avLst>
              <a:gd name="adj" fmla="val 4878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94176" y="278892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94176" y="3584448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reserva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82512" y="2606040"/>
            <a:ext cx="2487168" cy="1874520"/>
          </a:xfrm>
          <a:prstGeom prst="roundRect">
            <a:avLst>
              <a:gd name="adj" fmla="val 4878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73952" y="278892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473952" y="3584448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62288" y="2606040"/>
            <a:ext cx="2487168" cy="1874520"/>
          </a:xfrm>
          <a:prstGeom prst="roundRect">
            <a:avLst>
              <a:gd name="adj" fmla="val 4878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53728" y="278892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3584448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3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muertos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A3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hambre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006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previsión de un hombre justo alimentó a un continente.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7150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› plan de 20 años › responsable › reserva › almacenes › distribución ordenada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NEHEMÍAS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Nehemías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Orar y poner guarda — un protocolo de emergencia completo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87168" cy="2103120"/>
          </a:xfrm>
          <a:prstGeom prst="roundRect">
            <a:avLst>
              <a:gd name="adj" fmla="val 4348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10512" y="2834640"/>
            <a:ext cx="512064" cy="51206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10512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493008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Vigilancia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931920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 de día y de noche, con relevo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02736" y="2606040"/>
            <a:ext cx="2487168" cy="2103120"/>
          </a:xfrm>
          <a:prstGeom prst="roundRect">
            <a:avLst>
              <a:gd name="adj" fmla="val 4348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34640"/>
            <a:ext cx="512064" cy="51206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3493008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3931920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trompetista al lado del líder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82512" y="2606040"/>
            <a:ext cx="2487168" cy="2103120"/>
          </a:xfrm>
          <a:prstGeom prst="roundRect">
            <a:avLst>
              <a:gd name="adj" fmla="val 4348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0064" y="2834640"/>
            <a:ext cx="512064" cy="51206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70064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493008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65392" y="3931920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reunión acordado de antemano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62288" y="2606040"/>
            <a:ext cx="2487168" cy="2103120"/>
          </a:xfrm>
          <a:prstGeom prst="roundRect">
            <a:avLst>
              <a:gd name="adj" fmla="val 4348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49840" y="2834640"/>
            <a:ext cx="512064" cy="51206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49840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72016" y="3493008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3931920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mano en la obra, la otra en el arma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0292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Siglo quinto antes de Cristo. Ya tenían punto de encuentro.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27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Pablo en el naufragio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mejor manual de manejo de crisis de la Biblia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606040"/>
            <a:ext cx="384048" cy="384048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25146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Advirtió antes de zarpar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5146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10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154680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3246120"/>
            <a:ext cx="384048" cy="384048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31546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dijo «se lo dije»: animó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1546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22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794760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7552" y="3886200"/>
            <a:ext cx="384048" cy="384048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379476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Retuvo a la tripulación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7947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31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4434840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C2534"/>
          </a:solidFill>
          <a:ln w="12700">
            <a:solidFill>
              <a:srgbClr val="1C253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552" y="4526280"/>
            <a:ext cx="384048" cy="384048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552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536192" y="4434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hizo comer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443484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34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2960" y="5074920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87552" y="5166360"/>
            <a:ext cx="384048" cy="384048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7552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536192" y="50749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 gracias delante de todos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50749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35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001000" y="2514600"/>
            <a:ext cx="3364992" cy="2761488"/>
          </a:xfrm>
          <a:prstGeom prst="roundRect">
            <a:avLst>
              <a:gd name="adj" fmla="val 3311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01000" y="278892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276</a:t>
            </a:r>
            <a:endParaRPr lang="en-US" sz="68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3931920"/>
            <a:ext cx="3090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4A3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a bordo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4A3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una perdida.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56692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preso a bordo terminó dirigiendo el rescate.</a:t>
            </a:r>
            <a:endParaRPr lang="en-US" sz="2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457200"/>
            <a:ext cx="2743200" cy="274320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69880" y="-45720"/>
            <a:ext cx="1920240" cy="1920240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3072" y="347472"/>
            <a:ext cx="1133856" cy="1133856"/>
          </a:xfrm>
          <a:prstGeom prst="ellipse">
            <a:avLst/>
          </a:prstGeom>
          <a:solidFill>
            <a:srgbClr val="161D29"/>
          </a:solidFill>
          <a:ln w="12700">
            <a:solidFill>
              <a:srgbClr val="2A34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JOYA DEL CAPÍTULO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9144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95371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éstos </a:t>
            </a:r>
            <a:pPr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permanecen en la nave</a:t>
            </a:r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vosotros no podéis salvaros.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46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27:31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4406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promesa de Dios no sustituye a la tripulación.</a:t>
            </a:r>
            <a:endParaRPr lang="en-US" sz="2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11:27-30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iglesia de Antioquía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primer operativo de socorro cristiano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87168" cy="2011680"/>
          </a:xfrm>
          <a:prstGeom prst="roundRect">
            <a:avLst>
              <a:gd name="adj" fmla="val 454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889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10128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Agabo anuncia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gran hambre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10128" y="2606040"/>
            <a:ext cx="292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602736" y="2606040"/>
            <a:ext cx="2487168" cy="2011680"/>
          </a:xfrm>
          <a:prstGeom prst="roundRect">
            <a:avLst>
              <a:gd name="adj" fmla="val 454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9896" y="27889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Decisión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785616" y="3310128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socorro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89904" y="2606040"/>
            <a:ext cx="292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382512" y="2606040"/>
            <a:ext cx="2487168" cy="2011680"/>
          </a:xfrm>
          <a:prstGeom prst="roundRect">
            <a:avLst>
              <a:gd name="adj" fmla="val 454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9672" y="27889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Aporte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3310128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conforme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 que tenía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2606040"/>
            <a:ext cx="292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62288" y="2606040"/>
            <a:ext cx="2487168" cy="2011680"/>
          </a:xfrm>
          <a:prstGeom prst="roundRect">
            <a:avLst>
              <a:gd name="adj" fmla="val 4545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9448" y="27889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Envío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345168" y="3310128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manos responsables: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Bernabé y Saulo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9834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Cuando esta iglesia organiza un centro de acopio, no está copiando a las ONG: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 copiando a Antioquía.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cosas para llevarse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248656" cy="1600200"/>
          </a:xfrm>
          <a:prstGeom prst="roundRect">
            <a:avLst>
              <a:gd name="adj" fmla="val 5714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3856" y="2395728"/>
            <a:ext cx="548640" cy="54864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33856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2286000"/>
            <a:ext cx="3922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avisa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847088" y="2889504"/>
            <a:ext cx="392277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Noé, antes de José, antes del naufragio. El sistema de alerta temprana es idea suya.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91656" y="2103120"/>
            <a:ext cx="5248656" cy="1600200"/>
          </a:xfrm>
          <a:prstGeom prst="roundRect">
            <a:avLst>
              <a:gd name="adj" fmla="val 5714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02552" y="2395728"/>
            <a:ext cx="548640" cy="54864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2552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15784" y="2286000"/>
            <a:ext cx="3922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Prepararse es obediencia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415784" y="2889504"/>
            <a:ext cx="392277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Oramos Y ponemos guarda. Nunca fue una disyuntiva.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995928"/>
            <a:ext cx="5248656" cy="1600200"/>
          </a:xfrm>
          <a:prstGeom prst="roundRect">
            <a:avLst>
              <a:gd name="adj" fmla="val 5714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3856" y="4288536"/>
            <a:ext cx="548640" cy="54864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33856" y="42885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847088" y="4178808"/>
            <a:ext cx="3922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tragedia no es sentencia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847088" y="4782312"/>
            <a:ext cx="392277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Jesús prohibió esa lectura en Lucas 13. Frente al que sufre vamos con las manos.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91656" y="3995928"/>
            <a:ext cx="5248656" cy="1600200"/>
          </a:xfrm>
          <a:prstGeom prst="roundRect">
            <a:avLst>
              <a:gd name="adj" fmla="val 5714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02552" y="4288536"/>
            <a:ext cx="548640" cy="54864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02552" y="42885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15784" y="4178808"/>
            <a:ext cx="3922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iglesia socorre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7415784" y="4782312"/>
            <a:ext cx="392277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que llega primero es el que ya estaba ahí.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6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LLAMADO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41248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quiero aplausos. Quiero decisiones.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364992" cy="3017520"/>
          </a:xfrm>
          <a:prstGeom prst="roundRect">
            <a:avLst>
              <a:gd name="adj" fmla="val 3030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578608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5786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383280"/>
            <a:ext cx="2724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plan de mi casa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151376"/>
            <a:ext cx="2724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semana, en la mesa, con la familia. Escríbalo: no lo piense.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07992" y="2286000"/>
            <a:ext cx="3364992" cy="3017520"/>
          </a:xfrm>
          <a:prstGeom prst="roundRect">
            <a:avLst>
              <a:gd name="adj" fmla="val 3030"/>
            </a:avLst>
          </a:prstGeom>
          <a:solidFill>
            <a:srgbClr val="232D3F"/>
          </a:solidFill>
          <a:ln w="12700">
            <a:solidFill>
              <a:srgbClr val="232D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28032" y="2578608"/>
            <a:ext cx="640080" cy="6400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25786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3383280"/>
            <a:ext cx="2724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F6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Capacitarme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4151376"/>
            <a:ext cx="2724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9A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Anoto mi nombre para el curso de primeros auxilios y para la brigada.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93024" y="2286000"/>
            <a:ext cx="3364992" cy="3017520"/>
          </a:xfrm>
          <a:prstGeom prst="roundRect">
            <a:avLst>
              <a:gd name="adj" fmla="val 3030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13064" y="2578608"/>
            <a:ext cx="640080" cy="640080"/>
          </a:xfrm>
          <a:prstGeom prst="ellipse">
            <a:avLst/>
          </a:prstGeom>
          <a:solidFill>
            <a:srgbClr val="0E121A"/>
          </a:solidFill>
          <a:ln w="12700">
            <a:solidFill>
              <a:srgbClr val="0E12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13064" y="25786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513064" y="3383280"/>
            <a:ext cx="2724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E1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 vecino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8513064" y="4151376"/>
            <a:ext cx="2724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de mi cuadra que no podría salir sola. Póngale nombre.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57784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Eso es amar al prójimo con un plan.</a:t>
            </a:r>
            <a:endParaRPr lang="en-US" sz="2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E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49424" y="-548640"/>
            <a:ext cx="7680960" cy="76809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A34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163824" y="365760"/>
            <a:ext cx="5852160" cy="58521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A34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86784" y="1188720"/>
            <a:ext cx="4206240" cy="420624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A34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64024" y="1965960"/>
            <a:ext cx="2651760" cy="26517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A34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49824" y="2651760"/>
            <a:ext cx="1280160" cy="1280160"/>
          </a:xfrm>
          <a:prstGeom prst="ellipse">
            <a:avLst/>
          </a:prstGeom>
          <a:solidFill>
            <a:srgbClr val="0E121A"/>
          </a:solidFill>
          <a:ln w="15875">
            <a:solidFill>
              <a:srgbClr val="2A34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24144" y="2926080"/>
            <a:ext cx="731520" cy="7315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1463040"/>
            <a:ext cx="9811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99A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 usted vio.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977640"/>
            <a:ext cx="9811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Ahora toque la trompeta</a:t>
            </a:r>
            <a:endParaRPr lang="en-US" sz="4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su casa.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5806440"/>
            <a:ext cx="9811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6E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EZEQUIEL 33:6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Organismos de Socorro y la Biblia</dc:title>
  <dc:subject>Conferencia sobre preparacion ante emergencias desde la Biblia</dc:subject>
  <dc:creator>Carlos Contreras</dc:creator>
  <cp:lastModifiedBy>Carlos Contreras</cp:lastModifiedBy>
  <cp:revision>1</cp:revision>
  <dcterms:created xsi:type="dcterms:W3CDTF">2026-09-30T18:58:37Z</dcterms:created>
  <dcterms:modified xsi:type="dcterms:W3CDTF">2026-09-30T18:58:37Z</dcterms:modified>
</cp:coreProperties>
</file>